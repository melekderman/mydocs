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1" r:id="rId1"/>
  </p:sldMasterIdLst>
  <p:notesMasterIdLst>
    <p:notesMasterId r:id="rId8"/>
  </p:notesMasterIdLst>
  <p:sldIdLst>
    <p:sldId id="256" r:id="rId2"/>
    <p:sldId id="261" r:id="rId3"/>
    <p:sldId id="257" r:id="rId4"/>
    <p:sldId id="258" r:id="rId5"/>
    <p:sldId id="260" r:id="rId6"/>
    <p:sldId id="259" r:id="rId7"/>
  </p:sldIdLst>
  <p:sldSz cx="43891200" cy="329184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49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5A6833-B0A2-4DAF-B5A0-A9F6E0EC5A80}" v="15" dt="2021-08-17T15:27:57.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4660"/>
  </p:normalViewPr>
  <p:slideViewPr>
    <p:cSldViewPr snapToGrid="0">
      <p:cViewPr varScale="1">
        <p:scale>
          <a:sx n="25" d="100"/>
          <a:sy n="25" d="100"/>
        </p:scale>
        <p:origin x="2488" y="24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310C7-E4FE-4348-8AF6-EBC89AEBEC90}" type="datetimeFigureOut">
              <a:rPr lang="en-US" smtClean="0"/>
              <a:t>11/28/25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AC0664-05C6-40EC-9276-76E9EE442E01}" type="slidenum">
              <a:rPr lang="en-US" smtClean="0"/>
              <a:t>‹#›</a:t>
            </a:fld>
            <a:endParaRPr lang="en-US"/>
          </a:p>
        </p:txBody>
      </p:sp>
    </p:spTree>
    <p:extLst>
      <p:ext uri="{BB962C8B-B14F-4D97-AF65-F5344CB8AC3E}">
        <p14:creationId xmlns:p14="http://schemas.microsoft.com/office/powerpoint/2010/main" val="2192905850"/>
      </p:ext>
    </p:extLst>
  </p:cSld>
  <p:clrMap bg1="lt1" tx1="dk1" bg2="lt2" tx2="dk2" accent1="accent1" accent2="accent2" accent3="accent3" accent4="accent4" accent5="accent5" accent6="accent6" hlink="hlink" folHlink="folHlink"/>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778A2-FB36-46F2-B168-A33C39653CA4}"/>
              </a:ext>
            </a:extLst>
          </p:cNvPr>
          <p:cNvSpPr>
            <a:spLocks noGrp="1"/>
          </p:cNvSpPr>
          <p:nvPr>
            <p:ph type="ctrTitle"/>
          </p:nvPr>
        </p:nvSpPr>
        <p:spPr>
          <a:xfrm>
            <a:off x="5486400" y="5387342"/>
            <a:ext cx="32918400" cy="11460480"/>
          </a:xfrm>
        </p:spPr>
        <p:txBody>
          <a:bodyPr anchor="b"/>
          <a:lstStyle>
            <a:lvl1pPr algn="ctr">
              <a:defRPr sz="21600"/>
            </a:lvl1pPr>
          </a:lstStyle>
          <a:p>
            <a:r>
              <a:rPr lang="en-US"/>
              <a:t>Click to edit Master title style</a:t>
            </a:r>
          </a:p>
        </p:txBody>
      </p:sp>
      <p:sp>
        <p:nvSpPr>
          <p:cNvPr id="3" name="Subtitle 2">
            <a:extLst>
              <a:ext uri="{FF2B5EF4-FFF2-40B4-BE49-F238E27FC236}">
                <a16:creationId xmlns:a16="http://schemas.microsoft.com/office/drawing/2014/main" id="{00C9E545-A6BD-4536-BBFE-65E9FE740015}"/>
              </a:ext>
            </a:extLst>
          </p:cNvPr>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a:extLst>
              <a:ext uri="{FF2B5EF4-FFF2-40B4-BE49-F238E27FC236}">
                <a16:creationId xmlns:a16="http://schemas.microsoft.com/office/drawing/2014/main" id="{BF1CBCF6-BC01-487F-A7EE-68521A99FB07}"/>
              </a:ext>
            </a:extLst>
          </p:cNvPr>
          <p:cNvSpPr>
            <a:spLocks noGrp="1"/>
          </p:cNvSpPr>
          <p:nvPr>
            <p:ph type="dt" sz="half" idx="10"/>
          </p:nvPr>
        </p:nvSpPr>
        <p:spPr/>
        <p:txBody>
          <a:bodyPr/>
          <a:lstStyle/>
          <a:p>
            <a:fld id="{356740BE-BC0E-4FB5-894C-C4E0324AFEAE}" type="datetimeFigureOut">
              <a:rPr lang="en-US" smtClean="0"/>
              <a:t>11/28/25</a:t>
            </a:fld>
            <a:endParaRPr lang="en-US"/>
          </a:p>
        </p:txBody>
      </p:sp>
      <p:sp>
        <p:nvSpPr>
          <p:cNvPr id="5" name="Footer Placeholder 4">
            <a:extLst>
              <a:ext uri="{FF2B5EF4-FFF2-40B4-BE49-F238E27FC236}">
                <a16:creationId xmlns:a16="http://schemas.microsoft.com/office/drawing/2014/main" id="{C64CCDEB-F58D-49B6-BB82-2E0DD4D0B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196CB-6216-429D-BB7C-14107F75A75D}"/>
              </a:ext>
            </a:extLst>
          </p:cNvPr>
          <p:cNvSpPr>
            <a:spLocks noGrp="1"/>
          </p:cNvSpPr>
          <p:nvPr>
            <p:ph type="sldNum" sz="quarter" idx="12"/>
          </p:nvPr>
        </p:nvSpPr>
        <p:spPr/>
        <p:txBody>
          <a:bodyPr/>
          <a:lstStyle/>
          <a:p>
            <a:fld id="{BCC90D85-55E9-4DA2-86DD-DDBA5459F6A6}" type="slidenum">
              <a:rPr lang="en-US" smtClean="0"/>
              <a:t>‹#›</a:t>
            </a:fld>
            <a:endParaRPr lang="en-US"/>
          </a:p>
        </p:txBody>
      </p:sp>
    </p:spTree>
    <p:extLst>
      <p:ext uri="{BB962C8B-B14F-4D97-AF65-F5344CB8AC3E}">
        <p14:creationId xmlns:p14="http://schemas.microsoft.com/office/powerpoint/2010/main" val="75623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A4FBF-BCAE-478D-967E-F0E642ADD2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8B7D56-9E7F-47D3-905A-E5B7ADF18E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E304E3-9008-4CC5-AA2C-72AB1AF85CB7}"/>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5" name="Footer Placeholder 4">
            <a:extLst>
              <a:ext uri="{FF2B5EF4-FFF2-40B4-BE49-F238E27FC236}">
                <a16:creationId xmlns:a16="http://schemas.microsoft.com/office/drawing/2014/main" id="{2B3F3D14-0422-4F76-81E5-1056C1C36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19AA8-179D-4C2E-B5EC-50A1FA49B5B7}"/>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1546086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A19A1-7C50-429F-9DB9-DD723957CD3B}"/>
              </a:ext>
            </a:extLst>
          </p:cNvPr>
          <p:cNvSpPr>
            <a:spLocks noGrp="1"/>
          </p:cNvSpPr>
          <p:nvPr>
            <p:ph type="title"/>
          </p:nvPr>
        </p:nvSpPr>
        <p:spPr>
          <a:xfrm>
            <a:off x="2994660" y="8206745"/>
            <a:ext cx="37856160" cy="13693138"/>
          </a:xfrm>
        </p:spPr>
        <p:txBody>
          <a:bodyPr anchor="b"/>
          <a:lstStyle>
            <a:lvl1pPr>
              <a:defRPr sz="21600"/>
            </a:lvl1pPr>
          </a:lstStyle>
          <a:p>
            <a:r>
              <a:rPr lang="en-US"/>
              <a:t>Click to edit Master title style</a:t>
            </a:r>
          </a:p>
        </p:txBody>
      </p:sp>
      <p:sp>
        <p:nvSpPr>
          <p:cNvPr id="3" name="Text Placeholder 2">
            <a:extLst>
              <a:ext uri="{FF2B5EF4-FFF2-40B4-BE49-F238E27FC236}">
                <a16:creationId xmlns:a16="http://schemas.microsoft.com/office/drawing/2014/main" id="{0774648F-2122-47EF-BAF2-18AAFCE1A062}"/>
              </a:ext>
            </a:extLst>
          </p:cNvPr>
          <p:cNvSpPr>
            <a:spLocks noGrp="1"/>
          </p:cNvSpPr>
          <p:nvPr>
            <p:ph type="body" idx="1"/>
          </p:nvPr>
        </p:nvSpPr>
        <p:spPr>
          <a:xfrm>
            <a:off x="2994660" y="22029425"/>
            <a:ext cx="37856160" cy="7200898"/>
          </a:xfrm>
        </p:spPr>
        <p:txBody>
          <a:bodyPr/>
          <a:lstStyle>
            <a:lvl1pPr marL="0" indent="0">
              <a:buNone/>
              <a:defRPr sz="8640">
                <a:solidFill>
                  <a:schemeClr val="tx1">
                    <a:tint val="75000"/>
                  </a:schemeClr>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124F63-4EE2-4463-83F3-57FD469BB2EA}"/>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5" name="Footer Placeholder 4">
            <a:extLst>
              <a:ext uri="{FF2B5EF4-FFF2-40B4-BE49-F238E27FC236}">
                <a16:creationId xmlns:a16="http://schemas.microsoft.com/office/drawing/2014/main" id="{1794A98E-AD8D-4257-AC1B-FCD22E4B6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D028F-DF11-4FD0-9D50-FE5B719223FA}"/>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112656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E7765-6FFE-4810-AB4E-56B432997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477BCC-8A67-456A-A373-331C4562C3EC}"/>
              </a:ext>
            </a:extLst>
          </p:cNvPr>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FC02EC-067F-4E0A-928B-9A97E635321D}"/>
              </a:ext>
            </a:extLst>
          </p:cNvPr>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FE08C6-25E0-4D94-9F13-FFE7F0AF9C0D}"/>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6" name="Footer Placeholder 5">
            <a:extLst>
              <a:ext uri="{FF2B5EF4-FFF2-40B4-BE49-F238E27FC236}">
                <a16:creationId xmlns:a16="http://schemas.microsoft.com/office/drawing/2014/main" id="{D8700C59-0DA3-4DAB-AF66-434A040B29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06A51B-E7C4-4464-AD3B-4467D35EB4BA}"/>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374489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72EF0-A0E3-4DA8-B99B-151039E29F62}"/>
              </a:ext>
            </a:extLst>
          </p:cNvPr>
          <p:cNvSpPr>
            <a:spLocks noGrp="1"/>
          </p:cNvSpPr>
          <p:nvPr>
            <p:ph type="title"/>
          </p:nvPr>
        </p:nvSpPr>
        <p:spPr>
          <a:xfrm>
            <a:off x="3023237" y="1752603"/>
            <a:ext cx="37856160" cy="6362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3A2D56-21E2-4D55-9E06-8011DC52AD87}"/>
              </a:ext>
            </a:extLst>
          </p:cNvPr>
          <p:cNvSpPr>
            <a:spLocks noGrp="1"/>
          </p:cNvSpPr>
          <p:nvPr>
            <p:ph type="body" idx="1"/>
          </p:nvPr>
        </p:nvSpPr>
        <p:spPr>
          <a:xfrm>
            <a:off x="3023240" y="8069582"/>
            <a:ext cx="18568033"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a:extLst>
              <a:ext uri="{FF2B5EF4-FFF2-40B4-BE49-F238E27FC236}">
                <a16:creationId xmlns:a16="http://schemas.microsoft.com/office/drawing/2014/main" id="{96612F9D-CD89-463A-A831-7B4ACDBC790F}"/>
              </a:ext>
            </a:extLst>
          </p:cNvPr>
          <p:cNvSpPr>
            <a:spLocks noGrp="1"/>
          </p:cNvSpPr>
          <p:nvPr>
            <p:ph sz="half" idx="2"/>
          </p:nvPr>
        </p:nvSpPr>
        <p:spPr>
          <a:xfrm>
            <a:off x="3023240" y="12024360"/>
            <a:ext cx="18568033"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7E1674-EFAE-4EE2-AE62-FD306E9500F8}"/>
              </a:ext>
            </a:extLst>
          </p:cNvPr>
          <p:cNvSpPr>
            <a:spLocks noGrp="1"/>
          </p:cNvSpPr>
          <p:nvPr>
            <p:ph type="body" sz="quarter" idx="3"/>
          </p:nvPr>
        </p:nvSpPr>
        <p:spPr>
          <a:xfrm>
            <a:off x="22219920" y="8069582"/>
            <a:ext cx="18659477"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a:extLst>
              <a:ext uri="{FF2B5EF4-FFF2-40B4-BE49-F238E27FC236}">
                <a16:creationId xmlns:a16="http://schemas.microsoft.com/office/drawing/2014/main" id="{147763B5-301C-4185-9808-0D3D3992042E}"/>
              </a:ext>
            </a:extLst>
          </p:cNvPr>
          <p:cNvSpPr>
            <a:spLocks noGrp="1"/>
          </p:cNvSpPr>
          <p:nvPr>
            <p:ph sz="quarter" idx="4"/>
          </p:nvPr>
        </p:nvSpPr>
        <p:spPr>
          <a:xfrm>
            <a:off x="22219920"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86C884-AA5B-4D09-BF13-D67E2E238E08}"/>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8" name="Footer Placeholder 7">
            <a:extLst>
              <a:ext uri="{FF2B5EF4-FFF2-40B4-BE49-F238E27FC236}">
                <a16:creationId xmlns:a16="http://schemas.microsoft.com/office/drawing/2014/main" id="{9EBC1ECF-0B12-4CEF-B7B3-EB2DE7AC4A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E35BE-B3A7-4B62-B01D-EDF0824B2097}"/>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2722023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8BE6C-1DB2-4EC6-B886-7FF95BEF76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5B8889-AB34-4809-BAD5-3BDDA87221B5}"/>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4" name="Footer Placeholder 3">
            <a:extLst>
              <a:ext uri="{FF2B5EF4-FFF2-40B4-BE49-F238E27FC236}">
                <a16:creationId xmlns:a16="http://schemas.microsoft.com/office/drawing/2014/main" id="{9CA4E717-9C75-4855-AA63-81C4E04566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2D2D69-F56E-4A99-B5D4-EDCEBF5D172E}"/>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3517751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F30FB4-1E7F-4A12-8327-A1F215D4349E}"/>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3" name="Footer Placeholder 2">
            <a:extLst>
              <a:ext uri="{FF2B5EF4-FFF2-40B4-BE49-F238E27FC236}">
                <a16:creationId xmlns:a16="http://schemas.microsoft.com/office/drawing/2014/main" id="{89BC6DE9-8C65-4C01-87C3-2D674D8825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3D3B12-D3CB-49FF-B01E-25DD57A8CF0F}"/>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1079804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EFD34-D127-4FBA-99E7-7D8A6CB5771E}"/>
              </a:ext>
            </a:extLst>
          </p:cNvPr>
          <p:cNvSpPr>
            <a:spLocks noGrp="1"/>
          </p:cNvSpPr>
          <p:nvPr>
            <p:ph type="title"/>
          </p:nvPr>
        </p:nvSpPr>
        <p:spPr>
          <a:xfrm>
            <a:off x="3023240" y="2194560"/>
            <a:ext cx="14156053" cy="7680960"/>
          </a:xfrm>
        </p:spPr>
        <p:txBody>
          <a:bodyPr anchor="b"/>
          <a:lstStyle>
            <a:lvl1pPr>
              <a:defRPr sz="11520"/>
            </a:lvl1pPr>
          </a:lstStyle>
          <a:p>
            <a:r>
              <a:rPr lang="en-US"/>
              <a:t>Click to edit Master title style</a:t>
            </a:r>
          </a:p>
        </p:txBody>
      </p:sp>
      <p:sp>
        <p:nvSpPr>
          <p:cNvPr id="3" name="Content Placeholder 2">
            <a:extLst>
              <a:ext uri="{FF2B5EF4-FFF2-40B4-BE49-F238E27FC236}">
                <a16:creationId xmlns:a16="http://schemas.microsoft.com/office/drawing/2014/main" id="{20302C30-9A90-4C42-BFA5-C795CFFC929E}"/>
              </a:ext>
            </a:extLst>
          </p:cNvPr>
          <p:cNvSpPr>
            <a:spLocks noGrp="1"/>
          </p:cNvSpPr>
          <p:nvPr>
            <p:ph idx="1"/>
          </p:nvPr>
        </p:nvSpPr>
        <p:spPr>
          <a:xfrm>
            <a:off x="18659477" y="4739642"/>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4C5159-CCF0-4AB8-A171-782F174CAA7F}"/>
              </a:ext>
            </a:extLst>
          </p:cNvPr>
          <p:cNvSpPr>
            <a:spLocks noGrp="1"/>
          </p:cNvSpPr>
          <p:nvPr>
            <p:ph type="body" sz="half" idx="2"/>
          </p:nvPr>
        </p:nvSpPr>
        <p:spPr>
          <a:xfrm>
            <a:off x="3023240"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9A70FD29-2BF7-4822-AD88-2F7AD5E7B973}"/>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6" name="Footer Placeholder 5">
            <a:extLst>
              <a:ext uri="{FF2B5EF4-FFF2-40B4-BE49-F238E27FC236}">
                <a16:creationId xmlns:a16="http://schemas.microsoft.com/office/drawing/2014/main" id="{ACB16F91-C1A6-4CA3-94E4-CD67370926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32364-CFF5-4C0D-A361-2D097C2255DF}"/>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127816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EF29-BCF2-4D9F-B276-A9C7E9270BE0}"/>
              </a:ext>
            </a:extLst>
          </p:cNvPr>
          <p:cNvSpPr>
            <a:spLocks noGrp="1"/>
          </p:cNvSpPr>
          <p:nvPr>
            <p:ph type="title"/>
          </p:nvPr>
        </p:nvSpPr>
        <p:spPr>
          <a:xfrm>
            <a:off x="3023240" y="2194560"/>
            <a:ext cx="14156053" cy="7680960"/>
          </a:xfrm>
        </p:spPr>
        <p:txBody>
          <a:bodyPr anchor="b"/>
          <a:lstStyle>
            <a:lvl1pPr>
              <a:defRPr sz="11520"/>
            </a:lvl1pPr>
          </a:lstStyle>
          <a:p>
            <a:r>
              <a:rPr lang="en-US"/>
              <a:t>Click to edit Master title style</a:t>
            </a:r>
          </a:p>
        </p:txBody>
      </p:sp>
      <p:sp>
        <p:nvSpPr>
          <p:cNvPr id="3" name="Picture Placeholder 2">
            <a:extLst>
              <a:ext uri="{FF2B5EF4-FFF2-40B4-BE49-F238E27FC236}">
                <a16:creationId xmlns:a16="http://schemas.microsoft.com/office/drawing/2014/main" id="{8E1E121F-E447-4685-8029-722CCDD4E17E}"/>
              </a:ext>
            </a:extLst>
          </p:cNvPr>
          <p:cNvSpPr>
            <a:spLocks noGrp="1"/>
          </p:cNvSpPr>
          <p:nvPr>
            <p:ph type="pic" idx="1"/>
          </p:nvPr>
        </p:nvSpPr>
        <p:spPr>
          <a:xfrm>
            <a:off x="18659477" y="4739642"/>
            <a:ext cx="22219920" cy="23393400"/>
          </a:xfrm>
        </p:spPr>
        <p:txBody>
          <a:bodyPr/>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p>
        </p:txBody>
      </p:sp>
      <p:sp>
        <p:nvSpPr>
          <p:cNvPr id="4" name="Text Placeholder 3">
            <a:extLst>
              <a:ext uri="{FF2B5EF4-FFF2-40B4-BE49-F238E27FC236}">
                <a16:creationId xmlns:a16="http://schemas.microsoft.com/office/drawing/2014/main" id="{5053ACDE-BAAD-4993-B2AC-43ADDDDA16EE}"/>
              </a:ext>
            </a:extLst>
          </p:cNvPr>
          <p:cNvSpPr>
            <a:spLocks noGrp="1"/>
          </p:cNvSpPr>
          <p:nvPr>
            <p:ph type="body" sz="half" idx="2"/>
          </p:nvPr>
        </p:nvSpPr>
        <p:spPr>
          <a:xfrm>
            <a:off x="3023240"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C14A32BD-B3A2-4526-B382-666392871B20}"/>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6" name="Footer Placeholder 5">
            <a:extLst>
              <a:ext uri="{FF2B5EF4-FFF2-40B4-BE49-F238E27FC236}">
                <a16:creationId xmlns:a16="http://schemas.microsoft.com/office/drawing/2014/main" id="{893AAEAF-8BEB-47C7-9A95-5578BE9E80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9A4B30-C929-4D81-B390-937A61D3D5F8}"/>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407480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E2FE-462A-4664-942F-E6BB6017D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3F2713-8500-433C-8915-8B07010EFA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DE38C-9AC1-496C-9FDE-1F523EE10EA7}"/>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5" name="Footer Placeholder 4">
            <a:extLst>
              <a:ext uri="{FF2B5EF4-FFF2-40B4-BE49-F238E27FC236}">
                <a16:creationId xmlns:a16="http://schemas.microsoft.com/office/drawing/2014/main" id="{B963A817-D915-444F-9629-66EBAD8AC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2A91EF-13BD-4AC8-951B-04535D8A3173}"/>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3688229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82B605-A1EF-45AE-AD72-7EA99B2100C0}"/>
              </a:ext>
            </a:extLst>
          </p:cNvPr>
          <p:cNvSpPr>
            <a:spLocks noGrp="1"/>
          </p:cNvSpPr>
          <p:nvPr>
            <p:ph type="title" orient="vert"/>
          </p:nvPr>
        </p:nvSpPr>
        <p:spPr>
          <a:xfrm>
            <a:off x="31409640" y="1752600"/>
            <a:ext cx="9464040" cy="278968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8F9624-D514-4277-9BD6-111B4D900FC7}"/>
              </a:ext>
            </a:extLst>
          </p:cNvPr>
          <p:cNvSpPr>
            <a:spLocks noGrp="1"/>
          </p:cNvSpPr>
          <p:nvPr>
            <p:ph type="body" orient="vert" idx="1"/>
          </p:nvPr>
        </p:nvSpPr>
        <p:spPr>
          <a:xfrm>
            <a:off x="3017520"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DB8BE9-6770-4DF2-95BE-AA3A4D172727}"/>
              </a:ext>
            </a:extLst>
          </p:cNvPr>
          <p:cNvSpPr>
            <a:spLocks noGrp="1"/>
          </p:cNvSpPr>
          <p:nvPr>
            <p:ph type="dt" sz="half" idx="10"/>
          </p:nvPr>
        </p:nvSpPr>
        <p:spPr/>
        <p:txBody>
          <a:bodyPr/>
          <a:lstStyle/>
          <a:p>
            <a:fld id="{F5B1C5A4-86DB-46C3-BC64-928720E73B88}" type="datetimeFigureOut">
              <a:rPr lang="en-US" smtClean="0"/>
              <a:t>11/28/25</a:t>
            </a:fld>
            <a:endParaRPr lang="en-US"/>
          </a:p>
        </p:txBody>
      </p:sp>
      <p:sp>
        <p:nvSpPr>
          <p:cNvPr id="5" name="Footer Placeholder 4">
            <a:extLst>
              <a:ext uri="{FF2B5EF4-FFF2-40B4-BE49-F238E27FC236}">
                <a16:creationId xmlns:a16="http://schemas.microsoft.com/office/drawing/2014/main" id="{07C5FF98-4195-4998-9AE6-447375B7B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F4626C-CD92-4895-BA1A-74879BB5D3CB}"/>
              </a:ext>
            </a:extLst>
          </p:cNvPr>
          <p:cNvSpPr>
            <a:spLocks noGrp="1"/>
          </p:cNvSpPr>
          <p:nvPr>
            <p:ph type="sldNum" sz="quarter" idx="12"/>
          </p:nvPr>
        </p:nvSpPr>
        <p:spPr/>
        <p:txBody>
          <a:bodyPr/>
          <a:lstStyle/>
          <a:p>
            <a:fld id="{EDE2EC83-4BD1-4ADC-8C81-839E5598222E}" type="slidenum">
              <a:rPr lang="en-US" smtClean="0"/>
              <a:t>‹#›</a:t>
            </a:fld>
            <a:endParaRPr lang="en-US"/>
          </a:p>
        </p:txBody>
      </p:sp>
    </p:spTree>
    <p:extLst>
      <p:ext uri="{BB962C8B-B14F-4D97-AF65-F5344CB8AC3E}">
        <p14:creationId xmlns:p14="http://schemas.microsoft.com/office/powerpoint/2010/main" val="2178066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2AB29-4763-446A-AA03-D1241954FDAA}"/>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700B5C-27DD-4D40-B0F1-A64C6F1D0469}"/>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9470E9-06F8-42FE-8EF6-F52173CE1EC1}"/>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F5B1C5A4-86DB-46C3-BC64-928720E73B88}" type="datetimeFigureOut">
              <a:rPr lang="en-US" smtClean="0"/>
              <a:t>11/28/25</a:t>
            </a:fld>
            <a:endParaRPr lang="en-US"/>
          </a:p>
        </p:txBody>
      </p:sp>
      <p:sp>
        <p:nvSpPr>
          <p:cNvPr id="5" name="Footer Placeholder 4">
            <a:extLst>
              <a:ext uri="{FF2B5EF4-FFF2-40B4-BE49-F238E27FC236}">
                <a16:creationId xmlns:a16="http://schemas.microsoft.com/office/drawing/2014/main" id="{A905AABF-4A2F-47B4-97B4-3F1286B9DE89}"/>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DB8A2D-A9FC-47F9-9511-F55D6BE9216B}"/>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EDE2EC83-4BD1-4ADC-8C81-839E5598222E}" type="slidenum">
              <a:rPr lang="en-US" smtClean="0"/>
              <a:t>‹#›</a:t>
            </a:fld>
            <a:endParaRPr lang="en-US"/>
          </a:p>
        </p:txBody>
      </p:sp>
    </p:spTree>
    <p:extLst>
      <p:ext uri="{BB962C8B-B14F-4D97-AF65-F5344CB8AC3E}">
        <p14:creationId xmlns:p14="http://schemas.microsoft.com/office/powerpoint/2010/main" val="3684432442"/>
      </p:ext>
    </p:extLst>
  </p:cSld>
  <p:clrMap bg1="lt1" tx1="dk1" bg2="lt2" tx2="dk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3" Type="http://schemas.openxmlformats.org/officeDocument/2006/relationships/image" Target="../media/image63.png"/><Relationship Id="rId18" Type="http://schemas.openxmlformats.org/officeDocument/2006/relationships/image" Target="../media/image68.png"/><Relationship Id="rId26" Type="http://schemas.openxmlformats.org/officeDocument/2006/relationships/image" Target="../media/image72.png"/><Relationship Id="rId39" Type="http://schemas.openxmlformats.org/officeDocument/2006/relationships/image" Target="../media/image81.png"/><Relationship Id="rId21" Type="http://schemas.openxmlformats.org/officeDocument/2006/relationships/image" Target="../media/image17.png"/><Relationship Id="rId34" Type="http://schemas.openxmlformats.org/officeDocument/2006/relationships/image" Target="../media/image76.png"/><Relationship Id="rId42" Type="http://schemas.openxmlformats.org/officeDocument/2006/relationships/image" Target="../media/image25.png"/><Relationship Id="rId47" Type="http://schemas.openxmlformats.org/officeDocument/2006/relationships/image" Target="../media/image85.png"/><Relationship Id="rId50" Type="http://schemas.openxmlformats.org/officeDocument/2006/relationships/image" Target="../media/image88.png"/><Relationship Id="rId55" Type="http://schemas.openxmlformats.org/officeDocument/2006/relationships/image" Target="../media/image30.png"/><Relationship Id="rId7" Type="http://schemas.openxmlformats.org/officeDocument/2006/relationships/image" Target="../media/image11.png"/><Relationship Id="rId2" Type="http://schemas.openxmlformats.org/officeDocument/2006/relationships/image" Target="../media/image59.png"/><Relationship Id="rId16" Type="http://schemas.openxmlformats.org/officeDocument/2006/relationships/image" Target="../media/image66.png"/><Relationship Id="rId29" Type="http://schemas.openxmlformats.org/officeDocument/2006/relationships/image" Target="../media/image19.png"/><Relationship Id="rId11" Type="http://schemas.openxmlformats.org/officeDocument/2006/relationships/image" Target="../media/image61.png"/><Relationship Id="rId24" Type="http://schemas.openxmlformats.org/officeDocument/2006/relationships/image" Target="../media/image70.png"/><Relationship Id="rId32" Type="http://schemas.openxmlformats.org/officeDocument/2006/relationships/image" Target="../media/image21.png"/><Relationship Id="rId37" Type="http://schemas.openxmlformats.org/officeDocument/2006/relationships/image" Target="../media/image79.png"/><Relationship Id="rId40" Type="http://schemas.openxmlformats.org/officeDocument/2006/relationships/image" Target="../media/image23.png"/><Relationship Id="rId45" Type="http://schemas.openxmlformats.org/officeDocument/2006/relationships/image" Target="../media/image83.png"/><Relationship Id="rId53" Type="http://schemas.openxmlformats.org/officeDocument/2006/relationships/image" Target="../media/image29.png"/><Relationship Id="rId58" Type="http://schemas.openxmlformats.org/officeDocument/2006/relationships/image" Target="../media/image92.png"/><Relationship Id="rId5" Type="http://schemas.openxmlformats.org/officeDocument/2006/relationships/image" Target="../media/image8.svg"/><Relationship Id="rId61" Type="http://schemas.openxmlformats.org/officeDocument/2006/relationships/image" Target="../media/image95.png"/><Relationship Id="rId19" Type="http://schemas.openxmlformats.org/officeDocument/2006/relationships/image" Target="../media/image15.png"/><Relationship Id="rId14" Type="http://schemas.openxmlformats.org/officeDocument/2006/relationships/image" Target="../media/image64.png"/><Relationship Id="rId22" Type="http://schemas.openxmlformats.org/officeDocument/2006/relationships/image" Target="../media/image18.png"/><Relationship Id="rId27" Type="http://schemas.openxmlformats.org/officeDocument/2006/relationships/image" Target="../media/image73.png"/><Relationship Id="rId30" Type="http://schemas.openxmlformats.org/officeDocument/2006/relationships/image" Target="../media/image75.png"/><Relationship Id="rId35" Type="http://schemas.openxmlformats.org/officeDocument/2006/relationships/image" Target="../media/image77.png"/><Relationship Id="rId43" Type="http://schemas.openxmlformats.org/officeDocument/2006/relationships/image" Target="../media/image26.png"/><Relationship Id="rId48" Type="http://schemas.openxmlformats.org/officeDocument/2006/relationships/image" Target="../media/image86.png"/><Relationship Id="rId56" Type="http://schemas.openxmlformats.org/officeDocument/2006/relationships/image" Target="../media/image90.png"/><Relationship Id="rId8" Type="http://schemas.openxmlformats.org/officeDocument/2006/relationships/image" Target="../media/image12.png"/><Relationship Id="rId51" Type="http://schemas.openxmlformats.org/officeDocument/2006/relationships/image" Target="../media/image27.png"/><Relationship Id="rId3" Type="http://schemas.openxmlformats.org/officeDocument/2006/relationships/image" Target="../media/image10.jpg"/><Relationship Id="rId12" Type="http://schemas.openxmlformats.org/officeDocument/2006/relationships/image" Target="../media/image62.png"/><Relationship Id="rId17" Type="http://schemas.openxmlformats.org/officeDocument/2006/relationships/image" Target="../media/image67.png"/><Relationship Id="rId25" Type="http://schemas.openxmlformats.org/officeDocument/2006/relationships/image" Target="../media/image71.png"/><Relationship Id="rId33" Type="http://schemas.openxmlformats.org/officeDocument/2006/relationships/image" Target="../media/image22.png"/><Relationship Id="rId38" Type="http://schemas.openxmlformats.org/officeDocument/2006/relationships/image" Target="../media/image80.png"/><Relationship Id="rId46" Type="http://schemas.openxmlformats.org/officeDocument/2006/relationships/image" Target="../media/image84.png"/><Relationship Id="rId59" Type="http://schemas.openxmlformats.org/officeDocument/2006/relationships/image" Target="../media/image93.png"/><Relationship Id="rId20" Type="http://schemas.openxmlformats.org/officeDocument/2006/relationships/image" Target="../media/image16.png"/><Relationship Id="rId41" Type="http://schemas.openxmlformats.org/officeDocument/2006/relationships/image" Target="../media/image24.png"/><Relationship Id="rId54" Type="http://schemas.openxmlformats.org/officeDocument/2006/relationships/image" Target="../media/image89.png"/><Relationship Id="rId1" Type="http://schemas.openxmlformats.org/officeDocument/2006/relationships/slideLayout" Target="../slideLayouts/slideLayout1.xml"/><Relationship Id="rId6" Type="http://schemas.openxmlformats.org/officeDocument/2006/relationships/image" Target="../media/image60.png"/><Relationship Id="rId15" Type="http://schemas.openxmlformats.org/officeDocument/2006/relationships/image" Target="../media/image65.png"/><Relationship Id="rId23" Type="http://schemas.openxmlformats.org/officeDocument/2006/relationships/image" Target="../media/image69.png"/><Relationship Id="rId28" Type="http://schemas.openxmlformats.org/officeDocument/2006/relationships/image" Target="../media/image74.png"/><Relationship Id="rId36" Type="http://schemas.openxmlformats.org/officeDocument/2006/relationships/image" Target="../media/image78.png"/><Relationship Id="rId49" Type="http://schemas.openxmlformats.org/officeDocument/2006/relationships/image" Target="../media/image87.png"/><Relationship Id="rId57" Type="http://schemas.openxmlformats.org/officeDocument/2006/relationships/image" Target="../media/image91.png"/><Relationship Id="rId10"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image" Target="../media/image82.png"/><Relationship Id="rId52" Type="http://schemas.openxmlformats.org/officeDocument/2006/relationships/image" Target="../media/image28.png"/><Relationship Id="rId60" Type="http://schemas.openxmlformats.org/officeDocument/2006/relationships/image" Target="../media/image94.png"/><Relationship Id="rId4" Type="http://schemas.openxmlformats.org/officeDocument/2006/relationships/image" Target="../media/image7.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5.png"/><Relationship Id="rId18" Type="http://schemas.openxmlformats.org/officeDocument/2006/relationships/image" Target="../media/image96.png"/><Relationship Id="rId3" Type="http://schemas.openxmlformats.org/officeDocument/2006/relationships/image" Target="../media/image21.png"/><Relationship Id="rId21" Type="http://schemas.openxmlformats.org/officeDocument/2006/relationships/image" Target="../media/image99.png"/><Relationship Id="rId7" Type="http://schemas.openxmlformats.org/officeDocument/2006/relationships/image" Target="../media/image24.png"/><Relationship Id="rId12" Type="http://schemas.openxmlformats.org/officeDocument/2006/relationships/image" Target="../media/image18.png"/><Relationship Id="rId17" Type="http://schemas.openxmlformats.org/officeDocument/2006/relationships/image" Target="../media/image28.png"/><Relationship Id="rId2" Type="http://schemas.openxmlformats.org/officeDocument/2006/relationships/image" Target="../media/image20.png"/><Relationship Id="rId16" Type="http://schemas.openxmlformats.org/officeDocument/2006/relationships/image" Target="../media/image27.png"/><Relationship Id="rId20"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17.png"/><Relationship Id="rId5" Type="http://schemas.openxmlformats.org/officeDocument/2006/relationships/image" Target="../media/image19.png"/><Relationship Id="rId15" Type="http://schemas.openxmlformats.org/officeDocument/2006/relationships/image" Target="../media/image30.png"/><Relationship Id="rId10" Type="http://schemas.openxmlformats.org/officeDocument/2006/relationships/image" Target="../media/image16.png"/><Relationship Id="rId19" Type="http://schemas.openxmlformats.org/officeDocument/2006/relationships/image" Target="../media/image97.png"/><Relationship Id="rId4" Type="http://schemas.openxmlformats.org/officeDocument/2006/relationships/image" Target="../media/image22.png"/><Relationship Id="rId9" Type="http://schemas.openxmlformats.org/officeDocument/2006/relationships/image" Target="../media/image26.png"/><Relationship Id="rId14" Type="http://schemas.openxmlformats.org/officeDocument/2006/relationships/image" Target="../media/image29.png"/></Relationships>
</file>

<file path=ppt/slides/_rels/slide4.xml.rels><?xml version="1.0" encoding="UTF-8" standalone="yes"?>
<Relationships xmlns="http://schemas.openxmlformats.org/package/2006/relationships"><Relationship Id="rId13" Type="http://schemas.openxmlformats.org/officeDocument/2006/relationships/image" Target="../media/image107.png"/><Relationship Id="rId18" Type="http://schemas.openxmlformats.org/officeDocument/2006/relationships/image" Target="../media/image23.png"/><Relationship Id="rId26" Type="http://schemas.openxmlformats.org/officeDocument/2006/relationships/image" Target="../media/image116.png"/><Relationship Id="rId39" Type="http://schemas.openxmlformats.org/officeDocument/2006/relationships/image" Target="../media/image125.png"/><Relationship Id="rId21" Type="http://schemas.openxmlformats.org/officeDocument/2006/relationships/image" Target="../media/image26.png"/><Relationship Id="rId34" Type="http://schemas.openxmlformats.org/officeDocument/2006/relationships/image" Target="../media/image120.png"/><Relationship Id="rId42" Type="http://schemas.openxmlformats.org/officeDocument/2006/relationships/image" Target="../media/image13.png"/><Relationship Id="rId47" Type="http://schemas.openxmlformats.org/officeDocument/2006/relationships/image" Target="../media/image129.png"/><Relationship Id="rId50" Type="http://schemas.openxmlformats.org/officeDocument/2006/relationships/image" Target="../media/image28.png"/><Relationship Id="rId55" Type="http://schemas.openxmlformats.org/officeDocument/2006/relationships/image" Target="../media/image133.png"/><Relationship Id="rId7" Type="http://schemas.openxmlformats.org/officeDocument/2006/relationships/image" Target="../media/image19.png"/><Relationship Id="rId2" Type="http://schemas.openxmlformats.org/officeDocument/2006/relationships/image" Target="../media/image100.png"/><Relationship Id="rId16" Type="http://schemas.openxmlformats.org/officeDocument/2006/relationships/image" Target="../media/image110.png"/><Relationship Id="rId29" Type="http://schemas.openxmlformats.org/officeDocument/2006/relationships/image" Target="../media/image119.png"/><Relationship Id="rId11" Type="http://schemas.openxmlformats.org/officeDocument/2006/relationships/image" Target="../media/image22.png"/><Relationship Id="rId24" Type="http://schemas.openxmlformats.org/officeDocument/2006/relationships/image" Target="../media/image114.png"/><Relationship Id="rId32" Type="http://schemas.openxmlformats.org/officeDocument/2006/relationships/image" Target="../media/image17.png"/><Relationship Id="rId37" Type="http://schemas.openxmlformats.org/officeDocument/2006/relationships/image" Target="../media/image123.png"/><Relationship Id="rId40" Type="http://schemas.openxmlformats.org/officeDocument/2006/relationships/image" Target="../media/image11.png"/><Relationship Id="rId45" Type="http://schemas.openxmlformats.org/officeDocument/2006/relationships/image" Target="../media/image127.png"/><Relationship Id="rId53" Type="http://schemas.openxmlformats.org/officeDocument/2006/relationships/image" Target="../media/image131.png"/><Relationship Id="rId5" Type="http://schemas.openxmlformats.org/officeDocument/2006/relationships/image" Target="../media/image103.png"/><Relationship Id="rId10" Type="http://schemas.openxmlformats.org/officeDocument/2006/relationships/image" Target="../media/image21.png"/><Relationship Id="rId19" Type="http://schemas.openxmlformats.org/officeDocument/2006/relationships/image" Target="../media/image24.png"/><Relationship Id="rId31" Type="http://schemas.openxmlformats.org/officeDocument/2006/relationships/image" Target="../media/image16.png"/><Relationship Id="rId44" Type="http://schemas.openxmlformats.org/officeDocument/2006/relationships/image" Target="../media/image126.png"/><Relationship Id="rId52"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20.png"/><Relationship Id="rId14" Type="http://schemas.openxmlformats.org/officeDocument/2006/relationships/image" Target="../media/image108.png"/><Relationship Id="rId22" Type="http://schemas.openxmlformats.org/officeDocument/2006/relationships/image" Target="../media/image112.png"/><Relationship Id="rId27" Type="http://schemas.openxmlformats.org/officeDocument/2006/relationships/image" Target="../media/image117.png"/><Relationship Id="rId30" Type="http://schemas.openxmlformats.org/officeDocument/2006/relationships/image" Target="../media/image15.png"/><Relationship Id="rId35" Type="http://schemas.openxmlformats.org/officeDocument/2006/relationships/image" Target="../media/image121.png"/><Relationship Id="rId43" Type="http://schemas.openxmlformats.org/officeDocument/2006/relationships/image" Target="../media/image14.png"/><Relationship Id="rId48" Type="http://schemas.openxmlformats.org/officeDocument/2006/relationships/image" Target="../media/image130.png"/><Relationship Id="rId56" Type="http://schemas.openxmlformats.org/officeDocument/2006/relationships/image" Target="../media/image134.png"/><Relationship Id="rId8" Type="http://schemas.openxmlformats.org/officeDocument/2006/relationships/image" Target="../media/image105.png"/><Relationship Id="rId51" Type="http://schemas.openxmlformats.org/officeDocument/2006/relationships/image" Target="../media/image29.png"/><Relationship Id="rId3" Type="http://schemas.openxmlformats.org/officeDocument/2006/relationships/image" Target="../media/image101.png"/><Relationship Id="rId12" Type="http://schemas.openxmlformats.org/officeDocument/2006/relationships/image" Target="../media/image106.png"/><Relationship Id="rId17" Type="http://schemas.openxmlformats.org/officeDocument/2006/relationships/image" Target="../media/image111.png"/><Relationship Id="rId25" Type="http://schemas.openxmlformats.org/officeDocument/2006/relationships/image" Target="../media/image115.png"/><Relationship Id="rId33" Type="http://schemas.openxmlformats.org/officeDocument/2006/relationships/image" Target="../media/image18.png"/><Relationship Id="rId38" Type="http://schemas.openxmlformats.org/officeDocument/2006/relationships/image" Target="../media/image124.png"/><Relationship Id="rId46" Type="http://schemas.openxmlformats.org/officeDocument/2006/relationships/image" Target="../media/image128.png"/><Relationship Id="rId20" Type="http://schemas.openxmlformats.org/officeDocument/2006/relationships/image" Target="../media/image25.png"/><Relationship Id="rId41" Type="http://schemas.openxmlformats.org/officeDocument/2006/relationships/image" Target="../media/image12.png"/><Relationship Id="rId54" Type="http://schemas.openxmlformats.org/officeDocument/2006/relationships/image" Target="../media/image132.png"/><Relationship Id="rId1" Type="http://schemas.openxmlformats.org/officeDocument/2006/relationships/slideLayout" Target="../slideLayouts/slideLayout2.xml"/><Relationship Id="rId6" Type="http://schemas.openxmlformats.org/officeDocument/2006/relationships/image" Target="../media/image104.png"/><Relationship Id="rId15" Type="http://schemas.openxmlformats.org/officeDocument/2006/relationships/image" Target="../media/image109.png"/><Relationship Id="rId23" Type="http://schemas.openxmlformats.org/officeDocument/2006/relationships/image" Target="../media/image113.png"/><Relationship Id="rId28" Type="http://schemas.openxmlformats.org/officeDocument/2006/relationships/image" Target="../media/image118.png"/><Relationship Id="rId36" Type="http://schemas.openxmlformats.org/officeDocument/2006/relationships/image" Target="../media/image122.png"/><Relationship Id="rId49"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3F9D-E2C5-4A09-83F7-1C1793B17532}"/>
              </a:ext>
            </a:extLst>
          </p:cNvPr>
          <p:cNvSpPr>
            <a:spLocks noGrp="1"/>
          </p:cNvSpPr>
          <p:nvPr>
            <p:ph type="ctrTitle"/>
          </p:nvPr>
        </p:nvSpPr>
        <p:spPr>
          <a:xfrm>
            <a:off x="8474856" y="1108006"/>
            <a:ext cx="26936564" cy="2637906"/>
          </a:xfrm>
        </p:spPr>
        <p:txBody>
          <a:bodyPr>
            <a:noAutofit/>
          </a:bodyPr>
          <a:lstStyle/>
          <a:p>
            <a:r>
              <a:rPr lang="en-US" sz="7200" b="1" dirty="0">
                <a:latin typeface="Arial" panose="020B0604020202020204" pitchFamily="34" charset="0"/>
                <a:cs typeface="Arial" panose="020B0604020202020204" pitchFamily="34" charset="0"/>
              </a:rPr>
              <a:t>Insert Title</a:t>
            </a:r>
            <a:endParaRPr lang="en-US" sz="72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27885885-A5AA-4C7E-8ABC-959C74E24516}"/>
              </a:ext>
            </a:extLst>
          </p:cNvPr>
          <p:cNvSpPr/>
          <p:nvPr/>
        </p:nvSpPr>
        <p:spPr>
          <a:xfrm>
            <a:off x="1097280" y="6938010"/>
            <a:ext cx="41696640" cy="124777"/>
          </a:xfrm>
          <a:prstGeom prst="rect">
            <a:avLst/>
          </a:prstGeom>
          <a:solidFill>
            <a:srgbClr val="F1491C"/>
          </a:solidFill>
          <a:ln>
            <a:solidFill>
              <a:srgbClr val="F149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a:p>
        </p:txBody>
      </p:sp>
      <p:grpSp>
        <p:nvGrpSpPr>
          <p:cNvPr id="29" name="Group 28">
            <a:extLst>
              <a:ext uri="{FF2B5EF4-FFF2-40B4-BE49-F238E27FC236}">
                <a16:creationId xmlns:a16="http://schemas.microsoft.com/office/drawing/2014/main" id="{6AC1CB99-646A-4342-A3F2-582EDF205D39}"/>
              </a:ext>
            </a:extLst>
          </p:cNvPr>
          <p:cNvGrpSpPr/>
          <p:nvPr/>
        </p:nvGrpSpPr>
        <p:grpSpPr>
          <a:xfrm>
            <a:off x="1083022" y="18409074"/>
            <a:ext cx="12202672" cy="2227477"/>
            <a:chOff x="1490526" y="8207582"/>
            <a:chExt cx="8765863" cy="2188609"/>
          </a:xfrm>
        </p:grpSpPr>
        <p:sp>
          <p:nvSpPr>
            <p:cNvPr id="12" name="TextBox 11">
              <a:extLst>
                <a:ext uri="{FF2B5EF4-FFF2-40B4-BE49-F238E27FC236}">
                  <a16:creationId xmlns:a16="http://schemas.microsoft.com/office/drawing/2014/main" id="{E72D8321-9E24-4A73-8A49-D5500F530F2B}"/>
                </a:ext>
              </a:extLst>
            </p:cNvPr>
            <p:cNvSpPr txBox="1"/>
            <p:nvPr/>
          </p:nvSpPr>
          <p:spPr>
            <a:xfrm>
              <a:off x="2842712" y="8207582"/>
              <a:ext cx="5792789" cy="997940"/>
            </a:xfrm>
            <a:prstGeom prst="rect">
              <a:avLst/>
            </a:prstGeom>
            <a:noFill/>
            <a:ln>
              <a:noFill/>
            </a:ln>
          </p:spPr>
          <p:txBody>
            <a:bodyPr wrap="square" rtlCol="0">
              <a:spAutoFit/>
            </a:bodyPr>
            <a:lstStyle/>
            <a:p>
              <a:pPr algn="ctr"/>
              <a:r>
                <a:rPr lang="en-US" sz="6000" b="1" dirty="0">
                  <a:solidFill>
                    <a:srgbClr val="F1491C"/>
                  </a:solidFill>
                  <a:latin typeface="Arial" panose="020B0604020202020204" pitchFamily="34" charset="0"/>
                  <a:cs typeface="Arial" panose="020B0604020202020204" pitchFamily="34" charset="0"/>
                </a:rPr>
                <a:t>Methods</a:t>
              </a:r>
            </a:p>
          </p:txBody>
        </p:sp>
        <p:cxnSp>
          <p:nvCxnSpPr>
            <p:cNvPr id="5" name="Straight Connector 4">
              <a:extLst>
                <a:ext uri="{FF2B5EF4-FFF2-40B4-BE49-F238E27FC236}">
                  <a16:creationId xmlns:a16="http://schemas.microsoft.com/office/drawing/2014/main" id="{7A8AEAA0-345C-44E7-BB2C-CFA05C5A8F3C}"/>
                </a:ext>
              </a:extLst>
            </p:cNvPr>
            <p:cNvCxnSpPr>
              <a:cxnSpLocks/>
            </p:cNvCxnSpPr>
            <p:nvPr/>
          </p:nvCxnSpPr>
          <p:spPr>
            <a:xfrm>
              <a:off x="1490526" y="9151816"/>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40FBEE1-2E64-40A5-B49D-2413BF103034}"/>
                </a:ext>
              </a:extLst>
            </p:cNvPr>
            <p:cNvSpPr txBox="1">
              <a:spLocks noChangeAspect="1"/>
            </p:cNvSpPr>
            <p:nvPr/>
          </p:nvSpPr>
          <p:spPr>
            <a:xfrm>
              <a:off x="1578121" y="9337770"/>
              <a:ext cx="8678268" cy="1058421"/>
            </a:xfrm>
            <a:prstGeom prst="rect">
              <a:avLst/>
            </a:prstGeom>
            <a:noFill/>
          </p:spPr>
          <p:txBody>
            <a:bodyPr wrap="square" rtlCol="0">
              <a:spAutoFit/>
            </a:bodyPr>
            <a:lstStyle/>
            <a:p>
              <a:endParaRPr lang="en-US" sz="3200" dirty="0"/>
            </a:p>
            <a:p>
              <a:endParaRPr lang="en-US" sz="3200" dirty="0"/>
            </a:p>
          </p:txBody>
        </p:sp>
      </p:grpSp>
      <p:grpSp>
        <p:nvGrpSpPr>
          <p:cNvPr id="35" name="Group 34">
            <a:extLst>
              <a:ext uri="{FF2B5EF4-FFF2-40B4-BE49-F238E27FC236}">
                <a16:creationId xmlns:a16="http://schemas.microsoft.com/office/drawing/2014/main" id="{5CD0C243-EDC8-406F-A452-6825A8CAC522}"/>
              </a:ext>
            </a:extLst>
          </p:cNvPr>
          <p:cNvGrpSpPr>
            <a:grpSpLocks noChangeAspect="1"/>
          </p:cNvGrpSpPr>
          <p:nvPr/>
        </p:nvGrpSpPr>
        <p:grpSpPr>
          <a:xfrm>
            <a:off x="30600584" y="20028459"/>
            <a:ext cx="12193336" cy="5111162"/>
            <a:chOff x="1134141" y="9324018"/>
            <a:chExt cx="8958894" cy="4198101"/>
          </a:xfrm>
        </p:grpSpPr>
        <p:sp>
          <p:nvSpPr>
            <p:cNvPr id="36" name="TextBox 35">
              <a:extLst>
                <a:ext uri="{FF2B5EF4-FFF2-40B4-BE49-F238E27FC236}">
                  <a16:creationId xmlns:a16="http://schemas.microsoft.com/office/drawing/2014/main" id="{28535570-B851-46F2-B507-1F30EACAFCE2}"/>
                </a:ext>
              </a:extLst>
            </p:cNvPr>
            <p:cNvSpPr txBox="1"/>
            <p:nvPr/>
          </p:nvSpPr>
          <p:spPr>
            <a:xfrm>
              <a:off x="3576171" y="9324018"/>
              <a:ext cx="4348180" cy="830046"/>
            </a:xfrm>
            <a:prstGeom prst="rect">
              <a:avLst/>
            </a:prstGeom>
            <a:noFill/>
            <a:ln>
              <a:noFill/>
            </a:ln>
          </p:spPr>
          <p:txBody>
            <a:bodyPr wrap="square" rtlCol="0">
              <a:spAutoFit/>
            </a:bodyPr>
            <a:lstStyle/>
            <a:p>
              <a:pPr algn="ctr"/>
              <a:r>
                <a:rPr lang="en-US" sz="6000" b="1" dirty="0">
                  <a:solidFill>
                    <a:srgbClr val="F1491C"/>
                  </a:solidFill>
                  <a:latin typeface="Arial" panose="020B0604020202020204" pitchFamily="34" charset="0"/>
                  <a:cs typeface="Arial" panose="020B0604020202020204" pitchFamily="34" charset="0"/>
                </a:rPr>
                <a:t>References</a:t>
              </a:r>
              <a:endParaRPr lang="en-US" sz="5400" b="1" dirty="0">
                <a:solidFill>
                  <a:srgbClr val="F1491C"/>
                </a:solidFill>
                <a:latin typeface="Arial" panose="020B0604020202020204" pitchFamily="34" charset="0"/>
                <a:cs typeface="Arial" panose="020B0604020202020204" pitchFamily="34" charset="0"/>
              </a:endParaRPr>
            </a:p>
          </p:txBody>
        </p:sp>
        <p:cxnSp>
          <p:nvCxnSpPr>
            <p:cNvPr id="37" name="Straight Connector 36">
              <a:extLst>
                <a:ext uri="{FF2B5EF4-FFF2-40B4-BE49-F238E27FC236}">
                  <a16:creationId xmlns:a16="http://schemas.microsoft.com/office/drawing/2014/main" id="{C565D8BC-4BCC-4BF7-A8C9-AB67C67A0D57}"/>
                </a:ext>
              </a:extLst>
            </p:cNvPr>
            <p:cNvCxnSpPr>
              <a:cxnSpLocks/>
            </p:cNvCxnSpPr>
            <p:nvPr/>
          </p:nvCxnSpPr>
          <p:spPr>
            <a:xfrm>
              <a:off x="1407487" y="10390107"/>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A6B25B-64F2-44DC-AE9E-6FFA9D1B82DB}"/>
                </a:ext>
              </a:extLst>
            </p:cNvPr>
            <p:cNvSpPr txBox="1"/>
            <p:nvPr/>
          </p:nvSpPr>
          <p:spPr>
            <a:xfrm>
              <a:off x="1134141" y="10614975"/>
              <a:ext cx="8918849" cy="2907144"/>
            </a:xfrm>
            <a:prstGeom prst="rect">
              <a:avLst/>
            </a:prstGeom>
            <a:noFill/>
          </p:spPr>
          <p:txBody>
            <a:bodyPr wrap="square" rtlCol="0">
              <a:spAutoFit/>
            </a:bodyPr>
            <a:lstStyle/>
            <a:p>
              <a:pPr marL="891540" indent="-891540">
                <a:buFont typeface="+mj-lt"/>
                <a:buAutoNum type="arabicPeriod"/>
              </a:pPr>
              <a:r>
                <a:rPr lang="en-US" sz="3200" dirty="0">
                  <a:latin typeface="Arial" panose="020B0604020202020204" pitchFamily="34" charset="0"/>
                  <a:cs typeface="Arial" panose="020B0604020202020204" pitchFamily="34" charset="0"/>
                </a:rPr>
                <a:t>Morgan, J. P., et al.(2024). Monte Carlo / Dynamic Code (MC/DC): An accelerated Python package for fully transient neutron transport and rapid methods development. Journal of Open Source Software, 9(96), 6415. https://</a:t>
              </a:r>
              <a:r>
                <a:rPr lang="en-US" sz="3200" dirty="0" err="1">
                  <a:latin typeface="Arial" panose="020B0604020202020204" pitchFamily="34" charset="0"/>
                  <a:cs typeface="Arial" panose="020B0604020202020204" pitchFamily="34" charset="0"/>
                </a:rPr>
                <a:t>doi.org</a:t>
              </a:r>
              <a:r>
                <a:rPr lang="en-US" sz="3200" dirty="0">
                  <a:latin typeface="Arial" panose="020B0604020202020204" pitchFamily="34" charset="0"/>
                  <a:cs typeface="Arial" panose="020B0604020202020204" pitchFamily="34" charset="0"/>
                </a:rPr>
                <a:t>/10.21105/joss.06415</a:t>
              </a:r>
            </a:p>
            <a:p>
              <a:pPr marL="891540" indent="-891540">
                <a:buFont typeface="+mj-lt"/>
                <a:buAutoNum type="arabicPeriod"/>
              </a:pPr>
              <a:endParaRPr lang="en-US" sz="3200" dirty="0">
                <a:latin typeface="Arial" panose="020B0604020202020204" pitchFamily="34" charset="0"/>
                <a:cs typeface="Arial" panose="020B0604020202020204" pitchFamily="34" charset="0"/>
              </a:endParaRPr>
            </a:p>
            <a:p>
              <a:pPr marL="891540" indent="-891540">
                <a:buFont typeface="+mj-lt"/>
                <a:buAutoNum type="arabicPeriod"/>
              </a:pPr>
              <a:endParaRPr lang="en-US" sz="3200" dirty="0">
                <a:latin typeface="Arial" panose="020B0604020202020204" pitchFamily="34" charset="0"/>
                <a:cs typeface="Arial" panose="020B0604020202020204" pitchFamily="34" charset="0"/>
              </a:endParaRPr>
            </a:p>
          </p:txBody>
        </p:sp>
      </p:grpSp>
      <p:grpSp>
        <p:nvGrpSpPr>
          <p:cNvPr id="39" name="Group 38">
            <a:extLst>
              <a:ext uri="{FF2B5EF4-FFF2-40B4-BE49-F238E27FC236}">
                <a16:creationId xmlns:a16="http://schemas.microsoft.com/office/drawing/2014/main" id="{56132BB4-8C26-4B38-965C-88C4895BEB79}"/>
              </a:ext>
            </a:extLst>
          </p:cNvPr>
          <p:cNvGrpSpPr/>
          <p:nvPr/>
        </p:nvGrpSpPr>
        <p:grpSpPr>
          <a:xfrm>
            <a:off x="30586680" y="26383462"/>
            <a:ext cx="12207240" cy="3943917"/>
            <a:chOff x="1407487" y="9277629"/>
            <a:chExt cx="8685548" cy="3286597"/>
          </a:xfrm>
        </p:grpSpPr>
        <p:sp>
          <p:nvSpPr>
            <p:cNvPr id="40" name="TextBox 39">
              <a:extLst>
                <a:ext uri="{FF2B5EF4-FFF2-40B4-BE49-F238E27FC236}">
                  <a16:creationId xmlns:a16="http://schemas.microsoft.com/office/drawing/2014/main" id="{F34CE6DD-A930-4025-A395-62CA373118DA}"/>
                </a:ext>
              </a:extLst>
            </p:cNvPr>
            <p:cNvSpPr txBox="1"/>
            <p:nvPr/>
          </p:nvSpPr>
          <p:spPr>
            <a:xfrm>
              <a:off x="1548197" y="9277629"/>
              <a:ext cx="8544838" cy="846386"/>
            </a:xfrm>
            <a:prstGeom prst="rect">
              <a:avLst/>
            </a:prstGeom>
            <a:noFill/>
            <a:ln>
              <a:noFill/>
            </a:ln>
          </p:spPr>
          <p:txBody>
            <a:bodyPr wrap="square" rtlCol="0">
              <a:spAutoFit/>
            </a:bodyPr>
            <a:lstStyle/>
            <a:p>
              <a:pPr algn="ctr"/>
              <a:r>
                <a:rPr lang="en-US" sz="6000" b="1" dirty="0">
                  <a:solidFill>
                    <a:srgbClr val="F1491C"/>
                  </a:solidFill>
                  <a:latin typeface="Arial" panose="020B0604020202020204" pitchFamily="34" charset="0"/>
                  <a:cs typeface="Arial" panose="020B0604020202020204" pitchFamily="34" charset="0"/>
                </a:rPr>
                <a:t>Acknowledgements</a:t>
              </a:r>
              <a:endParaRPr lang="en-US" sz="5400" b="1" dirty="0">
                <a:solidFill>
                  <a:srgbClr val="F1491C"/>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9AB3578-F2D9-474D-8F1F-E84F92563AFC}"/>
                </a:ext>
              </a:extLst>
            </p:cNvPr>
            <p:cNvCxnSpPr>
              <a:cxnSpLocks/>
            </p:cNvCxnSpPr>
            <p:nvPr/>
          </p:nvCxnSpPr>
          <p:spPr>
            <a:xfrm>
              <a:off x="1407487" y="10390107"/>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9B64D33-970C-496D-B030-FBCBFB65CC98}"/>
                </a:ext>
              </a:extLst>
            </p:cNvPr>
            <p:cNvSpPr txBox="1"/>
            <p:nvPr/>
          </p:nvSpPr>
          <p:spPr>
            <a:xfrm>
              <a:off x="1407487" y="10614975"/>
              <a:ext cx="8685548" cy="1949251"/>
            </a:xfrm>
            <a:prstGeom prst="rect">
              <a:avLst/>
            </a:prstGeom>
            <a:noFill/>
          </p:spPr>
          <p:txBody>
            <a:bodyPr wrap="square" lIns="274320" tIns="182880" rIns="274320" bIns="182880" rtlCol="0">
              <a:spAutoFit/>
            </a:bodyPr>
            <a:lstStyle/>
            <a:p>
              <a:pPr algn="just"/>
              <a:r>
                <a:rPr lang="en-US" sz="3200" dirty="0">
                  <a:latin typeface="Arial" panose="020B0604020202020204" pitchFamily="34" charset="0"/>
                  <a:cs typeface="Arial" panose="020B0604020202020204" pitchFamily="34" charset="0"/>
                </a:rPr>
                <a:t>This work was supported by the Center for Advancing the Radiation Resilience of Electronics (CARRE),  a PSAAP-IV project funded by the Department of Energy, grant number:  </a:t>
              </a:r>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DE-NA0004268.</a:t>
              </a:r>
            </a:p>
          </p:txBody>
        </p:sp>
      </p:grpSp>
      <p:sp>
        <p:nvSpPr>
          <p:cNvPr id="47" name="Title 1">
            <a:extLst>
              <a:ext uri="{FF2B5EF4-FFF2-40B4-BE49-F238E27FC236}">
                <a16:creationId xmlns:a16="http://schemas.microsoft.com/office/drawing/2014/main" id="{1E49CEEB-6B76-424D-9958-0E0D524A382F}"/>
              </a:ext>
            </a:extLst>
          </p:cNvPr>
          <p:cNvSpPr txBox="1">
            <a:spLocks/>
          </p:cNvSpPr>
          <p:nvPr/>
        </p:nvSpPr>
        <p:spPr>
          <a:xfrm>
            <a:off x="3474720" y="4023079"/>
            <a:ext cx="37307520" cy="2532775"/>
          </a:xfrm>
          <a:prstGeom prst="rect">
            <a:avLst/>
          </a:prstGeom>
        </p:spPr>
        <p:txBody>
          <a:bodyPr vert="horz" lIns="109728" tIns="54864" rIns="109728" bIns="54864" rtlCol="0" anchor="b">
            <a:noAutofit/>
          </a:bodyPr>
          <a:lstStyle>
            <a:lvl1pPr algn="ctr" defTabSz="2743200" rtl="0" eaLnBrk="1" latinLnBrk="0" hangingPunct="1">
              <a:lnSpc>
                <a:spcPct val="90000"/>
              </a:lnSpc>
              <a:spcBef>
                <a:spcPct val="0"/>
              </a:spcBef>
              <a:buNone/>
              <a:defRPr sz="18000" kern="1200">
                <a:solidFill>
                  <a:schemeClr val="tx1"/>
                </a:solidFill>
                <a:latin typeface="+mj-lt"/>
                <a:ea typeface="+mj-ea"/>
                <a:cs typeface="+mj-cs"/>
              </a:defRPr>
            </a:lvl1pPr>
          </a:lstStyle>
          <a:p>
            <a:pPr>
              <a:lnSpc>
                <a:spcPct val="250000"/>
              </a:lnSpc>
            </a:pPr>
            <a:r>
              <a:rPr lang="en-US" sz="5280" b="1" dirty="0">
                <a:solidFill>
                  <a:schemeClr val="accent3"/>
                </a:solidFill>
                <a:latin typeface="Arial" panose="020B0604020202020204" pitchFamily="34" charset="0"/>
                <a:cs typeface="Arial" panose="020B0604020202020204" pitchFamily="34" charset="0"/>
              </a:rPr>
              <a:t>Author </a:t>
            </a:r>
            <a:r>
              <a:rPr lang="en-US" sz="5280" b="1" baseline="30000" dirty="0">
                <a:solidFill>
                  <a:schemeClr val="accent3"/>
                </a:solidFill>
                <a:latin typeface="Arial" panose="020B0604020202020204" pitchFamily="34" charset="0"/>
                <a:cs typeface="Arial" panose="020B0604020202020204" pitchFamily="34" charset="0"/>
              </a:rPr>
              <a:t>a</a:t>
            </a:r>
            <a:endParaRPr lang="en-US" sz="5280" b="1" dirty="0">
              <a:solidFill>
                <a:schemeClr val="accent3"/>
              </a:solidFill>
              <a:latin typeface="Arial" panose="020B0604020202020204" pitchFamily="34" charset="0"/>
              <a:cs typeface="Arial" panose="020B0604020202020204" pitchFamily="34" charset="0"/>
            </a:endParaRPr>
          </a:p>
          <a:p>
            <a:r>
              <a:rPr lang="en-US" sz="4320" b="1" baseline="30000" dirty="0">
                <a:solidFill>
                  <a:schemeClr val="accent3"/>
                </a:solidFill>
                <a:latin typeface="Arial" panose="020B0604020202020204" pitchFamily="34" charset="0"/>
                <a:cs typeface="Arial" panose="020B0604020202020204" pitchFamily="34" charset="0"/>
              </a:rPr>
              <a:t>a </a:t>
            </a:r>
            <a:r>
              <a:rPr lang="en-US" sz="4320" b="1" dirty="0">
                <a:solidFill>
                  <a:schemeClr val="accent3"/>
                </a:solidFill>
                <a:latin typeface="Arial" panose="020B0604020202020204" pitchFamily="34" charset="0"/>
                <a:cs typeface="Arial" panose="020B0604020202020204" pitchFamily="34" charset="0"/>
              </a:rPr>
              <a:t>Radiation Transport and Reactor Physics Research Group,</a:t>
            </a:r>
            <a:r>
              <a:rPr lang="en-US" sz="4320" b="1" baseline="30000" dirty="0">
                <a:solidFill>
                  <a:schemeClr val="accent3"/>
                </a:solidFill>
                <a:latin typeface="Arial" panose="020B0604020202020204" pitchFamily="34" charset="0"/>
                <a:cs typeface="Arial" panose="020B0604020202020204" pitchFamily="34" charset="0"/>
              </a:rPr>
              <a:t> </a:t>
            </a:r>
            <a:r>
              <a:rPr lang="en-US" sz="4320" b="1" dirty="0">
                <a:solidFill>
                  <a:schemeClr val="accent3"/>
                </a:solidFill>
                <a:latin typeface="Arial" panose="020B0604020202020204" pitchFamily="34" charset="0"/>
                <a:cs typeface="Arial" panose="020B0604020202020204" pitchFamily="34" charset="0"/>
              </a:rPr>
              <a:t>Oregon State University</a:t>
            </a:r>
          </a:p>
          <a:p>
            <a:endParaRPr lang="en-US" sz="5280" dirty="0">
              <a:solidFill>
                <a:schemeClr val="accent3"/>
              </a:solidFill>
              <a:latin typeface="Arial" panose="020B0604020202020204" pitchFamily="34" charset="0"/>
              <a:cs typeface="Arial" panose="020B0604020202020204" pitchFamily="34" charset="0"/>
            </a:endParaRPr>
          </a:p>
        </p:txBody>
      </p:sp>
      <p:grpSp>
        <p:nvGrpSpPr>
          <p:cNvPr id="67" name="Group 66">
            <a:extLst>
              <a:ext uri="{FF2B5EF4-FFF2-40B4-BE49-F238E27FC236}">
                <a16:creationId xmlns:a16="http://schemas.microsoft.com/office/drawing/2014/main" id="{6E1600F8-E706-02CD-B166-8ACEEB8ABB2D}"/>
              </a:ext>
            </a:extLst>
          </p:cNvPr>
          <p:cNvGrpSpPr/>
          <p:nvPr/>
        </p:nvGrpSpPr>
        <p:grpSpPr>
          <a:xfrm>
            <a:off x="1079492" y="8118409"/>
            <a:ext cx="12206202" cy="2593590"/>
            <a:chOff x="2236521" y="4851314"/>
            <a:chExt cx="8694713" cy="2161325"/>
          </a:xfrm>
        </p:grpSpPr>
        <p:sp>
          <p:nvSpPr>
            <p:cNvPr id="77" name="TextBox 76">
              <a:extLst>
                <a:ext uri="{FF2B5EF4-FFF2-40B4-BE49-F238E27FC236}">
                  <a16:creationId xmlns:a16="http://schemas.microsoft.com/office/drawing/2014/main" id="{B8915B93-4EA2-7D08-8234-54C7142A70BA}"/>
                </a:ext>
              </a:extLst>
            </p:cNvPr>
            <p:cNvSpPr txBox="1"/>
            <p:nvPr/>
          </p:nvSpPr>
          <p:spPr>
            <a:xfrm>
              <a:off x="2245686" y="4851314"/>
              <a:ext cx="8685548" cy="923330"/>
            </a:xfrm>
            <a:prstGeom prst="rect">
              <a:avLst/>
            </a:prstGeom>
            <a:solidFill>
              <a:srgbClr val="F1491C"/>
            </a:solidFill>
            <a:ln w="152400">
              <a:solidFill>
                <a:srgbClr val="F1491C"/>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sz="6600" b="1" dirty="0">
                  <a:solidFill>
                    <a:schemeClr val="bg1"/>
                  </a:solidFill>
                  <a:latin typeface="Arial" panose="020B0604020202020204" pitchFamily="34" charset="0"/>
                  <a:cs typeface="Arial" panose="020B0604020202020204" pitchFamily="34" charset="0"/>
                </a:rPr>
                <a:t>Objective</a:t>
              </a:r>
            </a:p>
          </p:txBody>
        </p:sp>
        <p:sp>
          <p:nvSpPr>
            <p:cNvPr id="78" name="TextBox 77">
              <a:extLst>
                <a:ext uri="{FF2B5EF4-FFF2-40B4-BE49-F238E27FC236}">
                  <a16:creationId xmlns:a16="http://schemas.microsoft.com/office/drawing/2014/main" id="{218A0215-7760-A6F4-CB38-E09CBD593E5C}"/>
                </a:ext>
              </a:extLst>
            </p:cNvPr>
            <p:cNvSpPr txBox="1"/>
            <p:nvPr/>
          </p:nvSpPr>
          <p:spPr>
            <a:xfrm>
              <a:off x="2236521" y="6243197"/>
              <a:ext cx="8685548" cy="769442"/>
            </a:xfrm>
            <a:prstGeom prst="rect">
              <a:avLst/>
            </a:prstGeom>
            <a:solidFill>
              <a:schemeClr val="bg2"/>
            </a:solidFill>
            <a:ln w="152400">
              <a:solidFill>
                <a:srgbClr val="F1491C"/>
              </a:solidFill>
            </a:ln>
          </p:spPr>
          <p:style>
            <a:lnRef idx="3">
              <a:schemeClr val="lt1"/>
            </a:lnRef>
            <a:fillRef idx="1">
              <a:schemeClr val="accent6"/>
            </a:fillRef>
            <a:effectRef idx="1">
              <a:schemeClr val="accent6"/>
            </a:effectRef>
            <a:fontRef idx="minor">
              <a:schemeClr val="lt1"/>
            </a:fontRef>
          </p:style>
          <p:txBody>
            <a:bodyPr wrap="square" lIns="274320" tIns="182880" rIns="274320" bIns="182880" rtlCol="0">
              <a:spAutoFit/>
            </a:bodyPr>
            <a:lstStyle/>
            <a:p>
              <a:pPr algn="just"/>
              <a:r>
                <a:rPr lang="da-DK" sz="3600" b="1" dirty="0">
                  <a:solidFill>
                    <a:schemeClr val="tx1"/>
                  </a:solidFill>
                  <a:latin typeface="Arial" panose="020B0604020202020204" pitchFamily="34" charset="0"/>
                  <a:cs typeface="Arial" panose="020B0604020202020204" pitchFamily="34" charset="0"/>
                </a:rPr>
                <a:t>This work aims to …</a:t>
              </a:r>
              <a:endParaRPr lang="en-US" sz="3600" b="1" dirty="0">
                <a:solidFill>
                  <a:schemeClr val="tx1"/>
                </a:solidFill>
                <a:latin typeface="Arial" panose="020B0604020202020204" pitchFamily="34" charset="0"/>
                <a:cs typeface="Arial" panose="020B0604020202020204" pitchFamily="34" charset="0"/>
              </a:endParaRPr>
            </a:p>
          </p:txBody>
        </p:sp>
      </p:grpSp>
      <p:grpSp>
        <p:nvGrpSpPr>
          <p:cNvPr id="80" name="Group 79">
            <a:extLst>
              <a:ext uri="{FF2B5EF4-FFF2-40B4-BE49-F238E27FC236}">
                <a16:creationId xmlns:a16="http://schemas.microsoft.com/office/drawing/2014/main" id="{66F9ED1E-D62E-7204-1667-265329831DDE}"/>
              </a:ext>
            </a:extLst>
          </p:cNvPr>
          <p:cNvGrpSpPr/>
          <p:nvPr/>
        </p:nvGrpSpPr>
        <p:grpSpPr>
          <a:xfrm>
            <a:off x="17138615" y="7582669"/>
            <a:ext cx="8915888" cy="1161086"/>
            <a:chOff x="1819746" y="9078105"/>
            <a:chExt cx="8685548" cy="919077"/>
          </a:xfrm>
        </p:grpSpPr>
        <p:sp>
          <p:nvSpPr>
            <p:cNvPr id="81" name="TextBox 80">
              <a:extLst>
                <a:ext uri="{FF2B5EF4-FFF2-40B4-BE49-F238E27FC236}">
                  <a16:creationId xmlns:a16="http://schemas.microsoft.com/office/drawing/2014/main" id="{E34D8CF2-1F14-42EA-F800-297A99CDE3C2}"/>
                </a:ext>
              </a:extLst>
            </p:cNvPr>
            <p:cNvSpPr txBox="1"/>
            <p:nvPr/>
          </p:nvSpPr>
          <p:spPr>
            <a:xfrm>
              <a:off x="4671346" y="9078105"/>
              <a:ext cx="3657600" cy="877053"/>
            </a:xfrm>
            <a:prstGeom prst="rect">
              <a:avLst/>
            </a:prstGeom>
            <a:noFill/>
            <a:ln>
              <a:noFill/>
            </a:ln>
          </p:spPr>
          <p:txBody>
            <a:bodyPr wrap="square" rtlCol="0">
              <a:spAutoFit/>
            </a:bodyPr>
            <a:lstStyle/>
            <a:p>
              <a:pPr algn="ctr"/>
              <a:r>
                <a:rPr lang="en-US" sz="6600" b="1" dirty="0">
                  <a:solidFill>
                    <a:srgbClr val="F1491C"/>
                  </a:solidFill>
                  <a:latin typeface="Arial" panose="020B0604020202020204" pitchFamily="34" charset="0"/>
                  <a:cs typeface="Arial" panose="020B0604020202020204" pitchFamily="34" charset="0"/>
                </a:rPr>
                <a:t>Results</a:t>
              </a:r>
              <a:endParaRPr lang="en-US" sz="6000" b="1" dirty="0">
                <a:solidFill>
                  <a:srgbClr val="F1491C"/>
                </a:solidFill>
                <a:latin typeface="Arial" panose="020B0604020202020204" pitchFamily="34" charset="0"/>
                <a:cs typeface="Arial" panose="020B0604020202020204" pitchFamily="34" charset="0"/>
              </a:endParaRPr>
            </a:p>
          </p:txBody>
        </p:sp>
        <p:cxnSp>
          <p:nvCxnSpPr>
            <p:cNvPr id="83" name="Straight Connector 82">
              <a:extLst>
                <a:ext uri="{FF2B5EF4-FFF2-40B4-BE49-F238E27FC236}">
                  <a16:creationId xmlns:a16="http://schemas.microsoft.com/office/drawing/2014/main" id="{DDD6CE3B-425B-44E8-186E-67EDDAE590EE}"/>
                </a:ext>
              </a:extLst>
            </p:cNvPr>
            <p:cNvCxnSpPr>
              <a:cxnSpLocks/>
            </p:cNvCxnSpPr>
            <p:nvPr/>
          </p:nvCxnSpPr>
          <p:spPr>
            <a:xfrm>
              <a:off x="1819746" y="9997182"/>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66CA2B9C-1B1A-F1DD-ABAA-0BE36ABE599F}"/>
              </a:ext>
            </a:extLst>
          </p:cNvPr>
          <p:cNvGrpSpPr/>
          <p:nvPr/>
        </p:nvGrpSpPr>
        <p:grpSpPr>
          <a:xfrm>
            <a:off x="30600584" y="8118409"/>
            <a:ext cx="12207240" cy="2578777"/>
            <a:chOff x="2245686" y="4851314"/>
            <a:chExt cx="9804141" cy="2188660"/>
          </a:xfrm>
        </p:grpSpPr>
        <p:sp>
          <p:nvSpPr>
            <p:cNvPr id="98" name="TextBox 97">
              <a:extLst>
                <a:ext uri="{FF2B5EF4-FFF2-40B4-BE49-F238E27FC236}">
                  <a16:creationId xmlns:a16="http://schemas.microsoft.com/office/drawing/2014/main" id="{3FF4FC04-E7D3-EE1A-41F1-2824692ACE01}"/>
                </a:ext>
              </a:extLst>
            </p:cNvPr>
            <p:cNvSpPr txBox="1">
              <a:spLocks noChangeAspect="1"/>
            </p:cNvSpPr>
            <p:nvPr/>
          </p:nvSpPr>
          <p:spPr>
            <a:xfrm>
              <a:off x="2245686" y="4851314"/>
              <a:ext cx="9804141" cy="1042244"/>
            </a:xfrm>
            <a:prstGeom prst="rect">
              <a:avLst/>
            </a:prstGeom>
            <a:solidFill>
              <a:srgbClr val="F1491C"/>
            </a:solidFill>
            <a:ln w="152400">
              <a:solidFill>
                <a:srgbClr val="F1491C"/>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sz="6600" b="1" dirty="0">
                  <a:solidFill>
                    <a:schemeClr val="bg1"/>
                  </a:solidFill>
                  <a:latin typeface="Arial" panose="020B0604020202020204" pitchFamily="34" charset="0"/>
                  <a:cs typeface="Arial" panose="020B0604020202020204" pitchFamily="34" charset="0"/>
                </a:rPr>
                <a:t>Conclusions</a:t>
              </a:r>
            </a:p>
          </p:txBody>
        </p:sp>
        <p:sp>
          <p:nvSpPr>
            <p:cNvPr id="99" name="TextBox 98">
              <a:extLst>
                <a:ext uri="{FF2B5EF4-FFF2-40B4-BE49-F238E27FC236}">
                  <a16:creationId xmlns:a16="http://schemas.microsoft.com/office/drawing/2014/main" id="{B0C205D3-7AEF-7137-3683-AB7BF0DAB6C9}"/>
                </a:ext>
              </a:extLst>
            </p:cNvPr>
            <p:cNvSpPr txBox="1">
              <a:spLocks/>
            </p:cNvSpPr>
            <p:nvPr/>
          </p:nvSpPr>
          <p:spPr>
            <a:xfrm>
              <a:off x="2245686" y="6256325"/>
              <a:ext cx="9804141" cy="783649"/>
            </a:xfrm>
            <a:prstGeom prst="rect">
              <a:avLst/>
            </a:prstGeom>
            <a:solidFill>
              <a:schemeClr val="bg2"/>
            </a:solidFill>
            <a:ln w="152400">
              <a:solidFill>
                <a:srgbClr val="F1491C"/>
              </a:solidFill>
            </a:ln>
          </p:spPr>
          <p:style>
            <a:lnRef idx="3">
              <a:schemeClr val="lt1"/>
            </a:lnRef>
            <a:fillRef idx="1">
              <a:schemeClr val="accent6"/>
            </a:fillRef>
            <a:effectRef idx="1">
              <a:schemeClr val="accent6"/>
            </a:effectRef>
            <a:fontRef idx="minor">
              <a:schemeClr val="lt1"/>
            </a:fontRef>
          </p:style>
          <p:txBody>
            <a:bodyPr wrap="square" lIns="274320" tIns="182880" rIns="274320" bIns="182880" rtlCol="0">
              <a:spAutoFit/>
            </a:bodyPr>
            <a:lstStyle/>
            <a:p>
              <a:pPr algn="just"/>
              <a:r>
                <a:rPr lang="en-US" sz="3600" b="1" dirty="0">
                  <a:solidFill>
                    <a:schemeClr val="tx1"/>
                  </a:solidFill>
                  <a:latin typeface="Arial" panose="020B0604020202020204" pitchFamily="34" charset="0"/>
                  <a:cs typeface="Arial" panose="020B0604020202020204" pitchFamily="34" charset="0"/>
                </a:rPr>
                <a:t>This work…</a:t>
              </a:r>
            </a:p>
          </p:txBody>
        </p:sp>
      </p:grpSp>
      <p:grpSp>
        <p:nvGrpSpPr>
          <p:cNvPr id="109" name="Group 108">
            <a:extLst>
              <a:ext uri="{FF2B5EF4-FFF2-40B4-BE49-F238E27FC236}">
                <a16:creationId xmlns:a16="http://schemas.microsoft.com/office/drawing/2014/main" id="{984B3ED8-6040-619B-E7DE-FBFC28CEAC71}"/>
              </a:ext>
            </a:extLst>
          </p:cNvPr>
          <p:cNvGrpSpPr>
            <a:grpSpLocks noChangeAspect="1"/>
          </p:cNvGrpSpPr>
          <p:nvPr/>
        </p:nvGrpSpPr>
        <p:grpSpPr>
          <a:xfrm>
            <a:off x="30586680" y="14572559"/>
            <a:ext cx="12207240" cy="2233966"/>
            <a:chOff x="1667000" y="6817469"/>
            <a:chExt cx="8747843" cy="836514"/>
          </a:xfrm>
        </p:grpSpPr>
        <p:sp>
          <p:nvSpPr>
            <p:cNvPr id="110" name="TextBox 109">
              <a:extLst>
                <a:ext uri="{FF2B5EF4-FFF2-40B4-BE49-F238E27FC236}">
                  <a16:creationId xmlns:a16="http://schemas.microsoft.com/office/drawing/2014/main" id="{2520C7C8-0B0B-3023-777D-9AF865581963}"/>
                </a:ext>
              </a:extLst>
            </p:cNvPr>
            <p:cNvSpPr txBox="1"/>
            <p:nvPr/>
          </p:nvSpPr>
          <p:spPr>
            <a:xfrm>
              <a:off x="2865789" y="6817469"/>
              <a:ext cx="6412561" cy="426872"/>
            </a:xfrm>
            <a:prstGeom prst="rect">
              <a:avLst/>
            </a:prstGeom>
            <a:noFill/>
            <a:ln>
              <a:noFill/>
            </a:ln>
          </p:spPr>
          <p:txBody>
            <a:bodyPr wrap="square" rtlCol="0">
              <a:spAutoFit/>
            </a:bodyPr>
            <a:lstStyle/>
            <a:p>
              <a:pPr algn="ctr"/>
              <a:r>
                <a:rPr lang="en-US" sz="6000" b="1" dirty="0">
                  <a:solidFill>
                    <a:srgbClr val="F1491C"/>
                  </a:solidFill>
                  <a:latin typeface="Arial" panose="020B0604020202020204" pitchFamily="34" charset="0"/>
                  <a:cs typeface="Arial" panose="020B0604020202020204" pitchFamily="34" charset="0"/>
                </a:rPr>
                <a:t>Future Work</a:t>
              </a:r>
            </a:p>
          </p:txBody>
        </p:sp>
        <p:cxnSp>
          <p:nvCxnSpPr>
            <p:cNvPr id="111" name="Straight Connector 110">
              <a:extLst>
                <a:ext uri="{FF2B5EF4-FFF2-40B4-BE49-F238E27FC236}">
                  <a16:creationId xmlns:a16="http://schemas.microsoft.com/office/drawing/2014/main" id="{AB8D1801-8A55-D77F-672D-49FF5BCF5629}"/>
                </a:ext>
              </a:extLst>
            </p:cNvPr>
            <p:cNvCxnSpPr>
              <a:cxnSpLocks/>
            </p:cNvCxnSpPr>
            <p:nvPr/>
          </p:nvCxnSpPr>
          <p:spPr>
            <a:xfrm>
              <a:off x="1667000" y="7326810"/>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4EFC24E2-34C5-5C40-D208-CDE2064E07EF}"/>
                </a:ext>
              </a:extLst>
            </p:cNvPr>
            <p:cNvSpPr txBox="1"/>
            <p:nvPr/>
          </p:nvSpPr>
          <p:spPr>
            <a:xfrm>
              <a:off x="1729295" y="7435013"/>
              <a:ext cx="8685548" cy="218970"/>
            </a:xfrm>
            <a:prstGeom prst="rect">
              <a:avLst/>
            </a:prstGeom>
            <a:noFill/>
          </p:spPr>
          <p:txBody>
            <a:bodyPr wrap="square" rtlCol="0">
              <a:spAutoFit/>
            </a:bodyPr>
            <a:lstStyle/>
            <a:p>
              <a:pPr marL="342900" indent="-342900">
                <a:buClr>
                  <a:schemeClr val="accent1"/>
                </a:buClr>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610AA049-4B9E-78B7-1164-06843A4893DA}"/>
              </a:ext>
            </a:extLst>
          </p:cNvPr>
          <p:cNvGrpSpPr>
            <a:grpSpLocks noChangeAspect="1"/>
          </p:cNvGrpSpPr>
          <p:nvPr/>
        </p:nvGrpSpPr>
        <p:grpSpPr>
          <a:xfrm>
            <a:off x="1077652" y="13537012"/>
            <a:ext cx="12207239" cy="2253137"/>
            <a:chOff x="962109" y="13107986"/>
            <a:chExt cx="10019873" cy="2265891"/>
          </a:xfrm>
        </p:grpSpPr>
        <p:grpSp>
          <p:nvGrpSpPr>
            <p:cNvPr id="100" name="Group 99">
              <a:extLst>
                <a:ext uri="{FF2B5EF4-FFF2-40B4-BE49-F238E27FC236}">
                  <a16:creationId xmlns:a16="http://schemas.microsoft.com/office/drawing/2014/main" id="{CF72EC58-DDF5-1707-78C4-F7B5684C65AD}"/>
                </a:ext>
              </a:extLst>
            </p:cNvPr>
            <p:cNvGrpSpPr/>
            <p:nvPr/>
          </p:nvGrpSpPr>
          <p:grpSpPr>
            <a:xfrm>
              <a:off x="1018508" y="13107986"/>
              <a:ext cx="9963474" cy="2265891"/>
              <a:chOff x="1539929" y="7624348"/>
              <a:chExt cx="8727630" cy="2226353"/>
            </a:xfrm>
            <a:noFill/>
          </p:grpSpPr>
          <p:sp>
            <p:nvSpPr>
              <p:cNvPr id="101" name="TextBox 100">
                <a:extLst>
                  <a:ext uri="{FF2B5EF4-FFF2-40B4-BE49-F238E27FC236}">
                    <a16:creationId xmlns:a16="http://schemas.microsoft.com/office/drawing/2014/main" id="{D52163D4-E1FF-D05C-FADB-C33631A2B1B4}"/>
                  </a:ext>
                </a:extLst>
              </p:cNvPr>
              <p:cNvSpPr txBox="1"/>
              <p:nvPr/>
            </p:nvSpPr>
            <p:spPr>
              <a:xfrm>
                <a:off x="2936905" y="7624348"/>
                <a:ext cx="5792789" cy="1270106"/>
              </a:xfrm>
              <a:prstGeom prst="rect">
                <a:avLst/>
              </a:prstGeom>
              <a:grpFill/>
              <a:ln w="63500">
                <a:noFill/>
              </a:ln>
            </p:spPr>
            <p:txBody>
              <a:bodyPr wrap="square" lIns="274320" tIns="182880" rIns="274320" bIns="182880" rtlCol="0">
                <a:spAutoFit/>
              </a:bodyPr>
              <a:lstStyle/>
              <a:p>
                <a:pPr algn="ctr"/>
                <a:r>
                  <a:rPr lang="en-US" sz="6000" b="1" dirty="0">
                    <a:solidFill>
                      <a:srgbClr val="F1491C"/>
                    </a:solidFill>
                    <a:latin typeface="Arial" panose="020B0604020202020204" pitchFamily="34" charset="0"/>
                    <a:cs typeface="Arial" panose="020B0604020202020204" pitchFamily="34" charset="0"/>
                  </a:rPr>
                  <a:t>Introduction</a:t>
                </a:r>
                <a:endParaRPr lang="en-US" sz="5400" b="1" dirty="0">
                  <a:solidFill>
                    <a:srgbClr val="F1491C"/>
                  </a:solidFill>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B8464BDC-0A6B-914C-22D0-DBACF0085020}"/>
                  </a:ext>
                </a:extLst>
              </p:cNvPr>
              <p:cNvSpPr txBox="1">
                <a:spLocks noChangeAspect="1"/>
              </p:cNvSpPr>
              <p:nvPr/>
            </p:nvSpPr>
            <p:spPr>
              <a:xfrm>
                <a:off x="1539929" y="8999171"/>
                <a:ext cx="8727630" cy="851530"/>
              </a:xfrm>
              <a:prstGeom prst="rect">
                <a:avLst/>
              </a:prstGeom>
              <a:grpFill/>
              <a:ln w="63500">
                <a:noFill/>
              </a:ln>
            </p:spPr>
            <p:txBody>
              <a:bodyPr wrap="square" lIns="274320" tIns="182880" rIns="274320" bIns="182880" rtlCol="0">
                <a:spAutoFit/>
              </a:bodyPr>
              <a:lstStyle/>
              <a:p>
                <a:pPr algn="just">
                  <a:buClr>
                    <a:schemeClr val="accent1"/>
                  </a:buClr>
                </a:pPr>
                <a:endParaRPr lang="en-US" sz="3200" dirty="0">
                  <a:latin typeface="Arial" panose="020B0604020202020204" pitchFamily="34" charset="0"/>
                  <a:cs typeface="Arial" panose="020B0604020202020204" pitchFamily="34" charset="0"/>
                </a:endParaRPr>
              </a:p>
            </p:txBody>
          </p:sp>
        </p:grpSp>
        <p:cxnSp>
          <p:nvCxnSpPr>
            <p:cNvPr id="113" name="Straight Connector 112">
              <a:extLst>
                <a:ext uri="{FF2B5EF4-FFF2-40B4-BE49-F238E27FC236}">
                  <a16:creationId xmlns:a16="http://schemas.microsoft.com/office/drawing/2014/main" id="{80B05353-10F2-C79D-C7CE-C72CBBE53D4A}"/>
                </a:ext>
              </a:extLst>
            </p:cNvPr>
            <p:cNvCxnSpPr>
              <a:cxnSpLocks/>
            </p:cNvCxnSpPr>
            <p:nvPr/>
          </p:nvCxnSpPr>
          <p:spPr>
            <a:xfrm>
              <a:off x="962109" y="14308314"/>
              <a:ext cx="9656064"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pic>
        <p:nvPicPr>
          <p:cNvPr id="238" name="Picture 237">
            <a:extLst>
              <a:ext uri="{FF2B5EF4-FFF2-40B4-BE49-F238E27FC236}">
                <a16:creationId xmlns:a16="http://schemas.microsoft.com/office/drawing/2014/main" id="{68472065-1746-7A7B-9D6C-D258BE3A3E38}"/>
              </a:ext>
            </a:extLst>
          </p:cNvPr>
          <p:cNvPicPr>
            <a:picLocks noChangeAspect="1"/>
          </p:cNvPicPr>
          <p:nvPr/>
        </p:nvPicPr>
        <p:blipFill>
          <a:blip r:embed="rId2"/>
          <a:stretch>
            <a:fillRect/>
          </a:stretch>
        </p:blipFill>
        <p:spPr>
          <a:xfrm>
            <a:off x="15164034" y="9505843"/>
            <a:ext cx="6257691" cy="6257691"/>
          </a:xfrm>
          <a:prstGeom prst="rect">
            <a:avLst/>
          </a:prstGeom>
        </p:spPr>
      </p:pic>
      <p:pic>
        <p:nvPicPr>
          <p:cNvPr id="239" name="Picture 238">
            <a:extLst>
              <a:ext uri="{FF2B5EF4-FFF2-40B4-BE49-F238E27FC236}">
                <a16:creationId xmlns:a16="http://schemas.microsoft.com/office/drawing/2014/main" id="{786E945B-9028-F15D-A9E8-1198C1E00830}"/>
              </a:ext>
            </a:extLst>
          </p:cNvPr>
          <p:cNvPicPr>
            <a:picLocks noChangeAspect="1"/>
          </p:cNvPicPr>
          <p:nvPr/>
        </p:nvPicPr>
        <p:blipFill>
          <a:blip r:embed="rId3"/>
          <a:stretch>
            <a:fillRect/>
          </a:stretch>
        </p:blipFill>
        <p:spPr>
          <a:xfrm>
            <a:off x="22469475" y="9840042"/>
            <a:ext cx="4876800" cy="4876800"/>
          </a:xfrm>
          <a:prstGeom prst="rect">
            <a:avLst/>
          </a:prstGeom>
        </p:spPr>
      </p:pic>
      <p:pic>
        <p:nvPicPr>
          <p:cNvPr id="241" name="Picture 240">
            <a:extLst>
              <a:ext uri="{FF2B5EF4-FFF2-40B4-BE49-F238E27FC236}">
                <a16:creationId xmlns:a16="http://schemas.microsoft.com/office/drawing/2014/main" id="{D105F621-C872-0DDD-BD19-EB773DEEB200}"/>
              </a:ext>
            </a:extLst>
          </p:cNvPr>
          <p:cNvPicPr>
            <a:picLocks noChangeAspect="1"/>
          </p:cNvPicPr>
          <p:nvPr/>
        </p:nvPicPr>
        <p:blipFill>
          <a:blip r:embed="rId4"/>
          <a:stretch>
            <a:fillRect/>
          </a:stretch>
        </p:blipFill>
        <p:spPr>
          <a:xfrm>
            <a:off x="15288216" y="15590866"/>
            <a:ext cx="6009325" cy="6009325"/>
          </a:xfrm>
          <a:prstGeom prst="rect">
            <a:avLst/>
          </a:prstGeom>
        </p:spPr>
      </p:pic>
      <p:pic>
        <p:nvPicPr>
          <p:cNvPr id="242" name="Picture 241">
            <a:extLst>
              <a:ext uri="{FF2B5EF4-FFF2-40B4-BE49-F238E27FC236}">
                <a16:creationId xmlns:a16="http://schemas.microsoft.com/office/drawing/2014/main" id="{E9FD2219-CBA7-61E2-51A1-E0BA27BE39E9}"/>
              </a:ext>
            </a:extLst>
          </p:cNvPr>
          <p:cNvPicPr>
            <a:picLocks noChangeAspect="1"/>
          </p:cNvPicPr>
          <p:nvPr/>
        </p:nvPicPr>
        <p:blipFill>
          <a:blip r:embed="rId5"/>
          <a:stretch>
            <a:fillRect/>
          </a:stretch>
        </p:blipFill>
        <p:spPr>
          <a:xfrm>
            <a:off x="22128480" y="15932788"/>
            <a:ext cx="5562871" cy="5562871"/>
          </a:xfrm>
          <a:prstGeom prst="rect">
            <a:avLst/>
          </a:prstGeom>
        </p:spPr>
      </p:pic>
      <p:pic>
        <p:nvPicPr>
          <p:cNvPr id="243" name="Picture 242">
            <a:extLst>
              <a:ext uri="{FF2B5EF4-FFF2-40B4-BE49-F238E27FC236}">
                <a16:creationId xmlns:a16="http://schemas.microsoft.com/office/drawing/2014/main" id="{30027D65-5A18-12AE-B599-F1EC6E4A0C8D}"/>
              </a:ext>
            </a:extLst>
          </p:cNvPr>
          <p:cNvPicPr>
            <a:picLocks noChangeAspect="1"/>
          </p:cNvPicPr>
          <p:nvPr/>
        </p:nvPicPr>
        <p:blipFill>
          <a:blip r:embed="rId6"/>
          <a:stretch>
            <a:fillRect/>
          </a:stretch>
        </p:blipFill>
        <p:spPr>
          <a:xfrm>
            <a:off x="21297541" y="21984067"/>
            <a:ext cx="6210037" cy="6210037"/>
          </a:xfrm>
          <a:prstGeom prst="rect">
            <a:avLst/>
          </a:prstGeom>
        </p:spPr>
      </p:pic>
      <p:pic>
        <p:nvPicPr>
          <p:cNvPr id="244" name="Picture 243">
            <a:extLst>
              <a:ext uri="{FF2B5EF4-FFF2-40B4-BE49-F238E27FC236}">
                <a16:creationId xmlns:a16="http://schemas.microsoft.com/office/drawing/2014/main" id="{B94400D9-6E33-D749-164B-15D12721A1DA}"/>
              </a:ext>
            </a:extLst>
          </p:cNvPr>
          <p:cNvPicPr>
            <a:picLocks noChangeAspect="1"/>
          </p:cNvPicPr>
          <p:nvPr/>
        </p:nvPicPr>
        <p:blipFill>
          <a:blip r:embed="rId7"/>
          <a:stretch>
            <a:fillRect/>
          </a:stretch>
        </p:blipFill>
        <p:spPr>
          <a:xfrm>
            <a:off x="14839314" y="21848557"/>
            <a:ext cx="6009324" cy="6009324"/>
          </a:xfrm>
          <a:prstGeom prst="rect">
            <a:avLst/>
          </a:prstGeom>
        </p:spPr>
      </p:pic>
      <p:grpSp>
        <p:nvGrpSpPr>
          <p:cNvPr id="9" name="Group 8">
            <a:extLst>
              <a:ext uri="{FF2B5EF4-FFF2-40B4-BE49-F238E27FC236}">
                <a16:creationId xmlns:a16="http://schemas.microsoft.com/office/drawing/2014/main" id="{4FB4697B-F387-FE97-D9C9-C59A3410EE8B}"/>
              </a:ext>
            </a:extLst>
          </p:cNvPr>
          <p:cNvGrpSpPr/>
          <p:nvPr/>
        </p:nvGrpSpPr>
        <p:grpSpPr>
          <a:xfrm>
            <a:off x="2413514" y="1785250"/>
            <a:ext cx="39059248" cy="2939154"/>
            <a:chOff x="2413514" y="1785250"/>
            <a:chExt cx="39059248" cy="2939154"/>
          </a:xfrm>
        </p:grpSpPr>
        <p:pic>
          <p:nvPicPr>
            <p:cNvPr id="57" name="Graphic 56">
              <a:extLst>
                <a:ext uri="{FF2B5EF4-FFF2-40B4-BE49-F238E27FC236}">
                  <a16:creationId xmlns:a16="http://schemas.microsoft.com/office/drawing/2014/main" id="{D9D25AD3-DB34-489D-B43F-6C032CA92A3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293772" y="1785250"/>
              <a:ext cx="9178990" cy="2939154"/>
            </a:xfrm>
            <a:prstGeom prst="rect">
              <a:avLst/>
            </a:prstGeom>
          </p:spPr>
        </p:pic>
        <p:pic>
          <p:nvPicPr>
            <p:cNvPr id="8" name="Picture 7" descr="A black and orange text&#10;&#10;AI-generated content may be incorrect.">
              <a:extLst>
                <a:ext uri="{FF2B5EF4-FFF2-40B4-BE49-F238E27FC236}">
                  <a16:creationId xmlns:a16="http://schemas.microsoft.com/office/drawing/2014/main" id="{C400B262-06B4-C247-78CC-CBA0E5F271DC}"/>
                </a:ext>
              </a:extLst>
            </p:cNvPr>
            <p:cNvPicPr>
              <a:picLocks noChangeAspect="1"/>
            </p:cNvPicPr>
            <p:nvPr/>
          </p:nvPicPr>
          <p:blipFill>
            <a:blip r:embed="rId10">
              <a:extLst>
                <a:ext uri="{28A0092B-C50C-407E-A947-70E740481C1C}">
                  <a14:useLocalDpi xmlns:a14="http://schemas.microsoft.com/office/drawing/2010/main" val="0"/>
                </a:ext>
              </a:extLst>
            </a:blip>
            <a:srcRect t="16720" b="14410"/>
            <a:stretch>
              <a:fillRect/>
            </a:stretch>
          </p:blipFill>
          <p:spPr>
            <a:xfrm>
              <a:off x="2413514" y="1855734"/>
              <a:ext cx="8709513" cy="2794666"/>
            </a:xfrm>
            <a:prstGeom prst="rect">
              <a:avLst/>
            </a:prstGeom>
          </p:spPr>
        </p:pic>
      </p:grpSp>
    </p:spTree>
    <p:extLst>
      <p:ext uri="{BB962C8B-B14F-4D97-AF65-F5344CB8AC3E}">
        <p14:creationId xmlns:p14="http://schemas.microsoft.com/office/powerpoint/2010/main" val="2120721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2C158-EAB4-4897-5FD3-A64B97EC5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1906F-34F2-4D65-46A4-0EA9D74BB9EF}"/>
              </a:ext>
            </a:extLst>
          </p:cNvPr>
          <p:cNvSpPr>
            <a:spLocks noGrp="1"/>
          </p:cNvSpPr>
          <p:nvPr>
            <p:ph type="ctrTitle"/>
          </p:nvPr>
        </p:nvSpPr>
        <p:spPr>
          <a:xfrm>
            <a:off x="7814732" y="1418259"/>
            <a:ext cx="27563653" cy="2637906"/>
          </a:xfrm>
        </p:spPr>
        <p:txBody>
          <a:bodyPr>
            <a:noAutofit/>
          </a:bodyPr>
          <a:lstStyle/>
          <a:p>
            <a:r>
              <a:rPr lang="en-US" sz="7200" b="1" dirty="0">
                <a:latin typeface="Arial" panose="020B0604020202020204" pitchFamily="34" charset="0"/>
                <a:cs typeface="Arial" panose="020B0604020202020204" pitchFamily="34" charset="0"/>
              </a:rPr>
              <a:t>MFEM-based Finite Element Solver </a:t>
            </a:r>
            <a:br>
              <a:rPr lang="en-US" sz="7200" b="1" dirty="0">
                <a:latin typeface="Arial" panose="020B0604020202020204" pitchFamily="34" charset="0"/>
                <a:cs typeface="Arial" panose="020B0604020202020204" pitchFamily="34" charset="0"/>
              </a:rPr>
            </a:br>
            <a:r>
              <a:rPr lang="en-US" sz="7200" b="1" dirty="0">
                <a:latin typeface="Arial" panose="020B0604020202020204" pitchFamily="34" charset="0"/>
                <a:cs typeface="Arial" panose="020B0604020202020204" pitchFamily="34" charset="0"/>
              </a:rPr>
              <a:t>for the Boltzmann Equation with Energy-Spatial Coupling Using the Continuous Slowing Down Approximation</a:t>
            </a:r>
            <a:endParaRPr lang="en-US" sz="72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AFC5E833-4DB0-AB9F-C867-AB7E12A34CB6}"/>
              </a:ext>
            </a:extLst>
          </p:cNvPr>
          <p:cNvSpPr/>
          <p:nvPr/>
        </p:nvSpPr>
        <p:spPr>
          <a:xfrm>
            <a:off x="1097280" y="6938010"/>
            <a:ext cx="41696640" cy="124777"/>
          </a:xfrm>
          <a:prstGeom prst="rect">
            <a:avLst/>
          </a:prstGeom>
          <a:solidFill>
            <a:srgbClr val="F1491C"/>
          </a:solidFill>
          <a:ln>
            <a:solidFill>
              <a:srgbClr val="F149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a:p>
        </p:txBody>
      </p:sp>
      <p:grpSp>
        <p:nvGrpSpPr>
          <p:cNvPr id="29" name="Group 28">
            <a:extLst>
              <a:ext uri="{FF2B5EF4-FFF2-40B4-BE49-F238E27FC236}">
                <a16:creationId xmlns:a16="http://schemas.microsoft.com/office/drawing/2014/main" id="{8538DC12-B4C5-8D70-6C7D-0F79A3F70977}"/>
              </a:ext>
            </a:extLst>
          </p:cNvPr>
          <p:cNvGrpSpPr/>
          <p:nvPr/>
        </p:nvGrpSpPr>
        <p:grpSpPr>
          <a:xfrm>
            <a:off x="1092358" y="20553671"/>
            <a:ext cx="12202672" cy="11110487"/>
            <a:chOff x="1490526" y="8207582"/>
            <a:chExt cx="8765863" cy="10916617"/>
          </a:xfrm>
        </p:grpSpPr>
        <p:sp>
          <p:nvSpPr>
            <p:cNvPr id="12" name="TextBox 11">
              <a:extLst>
                <a:ext uri="{FF2B5EF4-FFF2-40B4-BE49-F238E27FC236}">
                  <a16:creationId xmlns:a16="http://schemas.microsoft.com/office/drawing/2014/main" id="{26CC672A-6061-7BB8-C272-2A162320EA22}"/>
                </a:ext>
              </a:extLst>
            </p:cNvPr>
            <p:cNvSpPr txBox="1"/>
            <p:nvPr/>
          </p:nvSpPr>
          <p:spPr>
            <a:xfrm>
              <a:off x="2842712" y="8207582"/>
              <a:ext cx="5792789" cy="907219"/>
            </a:xfrm>
            <a:prstGeom prst="rect">
              <a:avLst/>
            </a:prstGeom>
            <a:noFill/>
            <a:ln>
              <a:noFill/>
            </a:ln>
          </p:spPr>
          <p:txBody>
            <a:bodyPr wrap="square" rtlCol="0">
              <a:spAutoFit/>
            </a:bodyPr>
            <a:lstStyle/>
            <a:p>
              <a:pPr algn="ctr"/>
              <a:r>
                <a:rPr lang="en-US" sz="5400" b="1" dirty="0">
                  <a:solidFill>
                    <a:srgbClr val="F1491C"/>
                  </a:solidFill>
                  <a:latin typeface="Arial" panose="020B0604020202020204" pitchFamily="34" charset="0"/>
                  <a:cs typeface="Arial" panose="020B0604020202020204" pitchFamily="34" charset="0"/>
                </a:rPr>
                <a:t>Methods</a:t>
              </a:r>
              <a:endParaRPr lang="en-US" sz="6000" b="1" dirty="0">
                <a:solidFill>
                  <a:srgbClr val="F1491C"/>
                </a:solidFill>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FD147EFE-CB65-B8FA-099A-6B0F6C42112F}"/>
                </a:ext>
              </a:extLst>
            </p:cNvPr>
            <p:cNvCxnSpPr>
              <a:cxnSpLocks/>
            </p:cNvCxnSpPr>
            <p:nvPr/>
          </p:nvCxnSpPr>
          <p:spPr>
            <a:xfrm>
              <a:off x="1490526" y="9151816"/>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7D8704B-6AE2-1040-9231-4DD82791C117}"/>
                    </a:ext>
                  </a:extLst>
                </p:cNvPr>
                <p:cNvSpPr txBox="1">
                  <a:spLocks noChangeAspect="1"/>
                </p:cNvSpPr>
                <p:nvPr/>
              </p:nvSpPr>
              <p:spPr>
                <a:xfrm>
                  <a:off x="1578121" y="9337770"/>
                  <a:ext cx="8678268" cy="9786429"/>
                </a:xfrm>
                <a:prstGeom prst="rect">
                  <a:avLst/>
                </a:prstGeom>
                <a:noFill/>
              </p:spPr>
              <p:txBody>
                <a:bodyPr wrap="square" rtlCol="0">
                  <a:spAutoFit/>
                </a:bodyPr>
                <a:lstStyle/>
                <a:p>
                  <a:pPr marL="342900" indent="-342900" algn="just">
                    <a:buClr>
                      <a:schemeClr val="accent1"/>
                    </a:buClr>
                    <a:buFont typeface="Arial" panose="020B0604020202020204" pitchFamily="34" charset="0"/>
                    <a:buChar char="•"/>
                  </a:pPr>
                  <a:r>
                    <a:rPr lang="en-US" sz="2800" b="1" dirty="0">
                      <a:latin typeface="Arial" panose="020B0604020202020204" pitchFamily="34" charset="0"/>
                      <a:cs typeface="Arial" panose="020B0604020202020204" pitchFamily="34" charset="0"/>
                    </a:rPr>
                    <a:t>Equation</a:t>
                  </a:r>
                </a:p>
                <a:p>
                  <a:pPr algn="just">
                    <a:buClr>
                      <a:schemeClr val="accent1"/>
                    </a:buClr>
                  </a:pPr>
                  <a14:m>
                    <m:oMathPara xmlns:m="http://schemas.openxmlformats.org/officeDocument/2006/math">
                      <m:oMathParaPr>
                        <m:jc m:val="centerGroup"/>
                      </m:oMathParaPr>
                      <m:oMath xmlns:m="http://schemas.openxmlformats.org/officeDocument/2006/math">
                        <m:r>
                          <m:rPr>
                            <m:sty m:val="p"/>
                          </m:rPr>
                          <a:rPr lang="en-US" sz="2800" i="0" dirty="0" smtClean="0">
                            <a:latin typeface="Cambria Math" panose="02040503050406030204" pitchFamily="18" charset="0"/>
                            <a:ea typeface="Cambria Math" panose="02040503050406030204" pitchFamily="18" charset="0"/>
                          </a:rPr>
                          <m:t>Ω</m:t>
                        </m:r>
                        <m:r>
                          <a:rPr lang="en-US" sz="2800" i="1" dirty="0">
                            <a:latin typeface="Cambria Math" panose="02040503050406030204" pitchFamily="18" charset="0"/>
                            <a:ea typeface="Cambria Math" panose="02040503050406030204" pitchFamily="18" charset="0"/>
                          </a:rPr>
                          <m:t> · </m:t>
                        </m:r>
                        <m:r>
                          <m:rPr>
                            <m:sty m:val="p"/>
                          </m:rPr>
                          <a:rPr lang="en-US" sz="2800" i="0" dirty="0" smtClean="0">
                            <a:latin typeface="Cambria Math" panose="02040503050406030204" pitchFamily="18" charset="0"/>
                            <a:ea typeface="Cambria Math" panose="02040503050406030204" pitchFamily="18" charset="0"/>
                          </a:rPr>
                          <m:t>∇</m:t>
                        </m:r>
                        <m:r>
                          <a:rPr lang="en-US" sz="2800" i="1" baseline="-25000" dirty="0" smtClean="0">
                            <a:latin typeface="Cambria Math" panose="02040503050406030204" pitchFamily="18" charset="0"/>
                            <a:ea typeface="Cambria Math" panose="02040503050406030204" pitchFamily="18" charset="0"/>
                          </a:rPr>
                          <m:t>𝑟</m:t>
                        </m:r>
                        <m:r>
                          <a:rPr lang="en-US" sz="2800" i="1" dirty="0" smtClean="0">
                            <a:latin typeface="Cambria Math" panose="02040503050406030204" pitchFamily="18" charset="0"/>
                            <a:ea typeface="Cambria Math" panose="02040503050406030204" pitchFamily="18" charset="0"/>
                          </a:rPr>
                          <m:t> </m:t>
                        </m:r>
                        <m:r>
                          <a:rPr lang="en-US" sz="2800" i="1" dirty="0" err="1">
                            <a:latin typeface="Cambria Math" panose="02040503050406030204" pitchFamily="18" charset="0"/>
                            <a:ea typeface="Cambria Math" panose="02040503050406030204" pitchFamily="18" charset="0"/>
                          </a:rPr>
                          <m:t>𝜓</m:t>
                        </m:r>
                        <m:r>
                          <a:rPr lang="en-US" sz="2800" i="1" dirty="0">
                            <a:latin typeface="Cambria Math" panose="02040503050406030204" pitchFamily="18" charset="0"/>
                            <a:ea typeface="Cambria Math" panose="02040503050406030204" pitchFamily="18" charset="0"/>
                          </a:rPr>
                          <m:t> + </m:t>
                        </m:r>
                        <m:r>
                          <a:rPr lang="en-US" sz="2800" i="1" dirty="0" err="1">
                            <a:latin typeface="Cambria Math" panose="02040503050406030204" pitchFamily="18" charset="0"/>
                            <a:ea typeface="Cambria Math" panose="02040503050406030204" pitchFamily="18" charset="0"/>
                          </a:rPr>
                          <m:t>𝜎</m:t>
                        </m:r>
                        <m:r>
                          <a:rPr lang="en-US" sz="2800" i="1" dirty="0">
                            <a:latin typeface="Cambria Math" panose="02040503050406030204" pitchFamily="18" charset="0"/>
                            <a:ea typeface="Cambria Math" panose="02040503050406030204" pitchFamily="18" charset="0"/>
                          </a:rPr>
                          <m:t>ₜ </m:t>
                        </m:r>
                        <m:r>
                          <a:rPr lang="en-US" sz="2800" i="1" dirty="0" err="1">
                            <a:latin typeface="Cambria Math" panose="02040503050406030204" pitchFamily="18" charset="0"/>
                            <a:ea typeface="Cambria Math" panose="02040503050406030204" pitchFamily="18" charset="0"/>
                          </a:rPr>
                          <m:t>𝜓</m:t>
                        </m:r>
                        <m:r>
                          <a:rPr lang="en-US" sz="2800" i="1" dirty="0">
                            <a:latin typeface="Cambria Math" panose="02040503050406030204" pitchFamily="18" charset="0"/>
                            <a:ea typeface="Cambria Math" panose="02040503050406030204" pitchFamily="18" charset="0"/>
                          </a:rPr>
                          <m:t> + </m:t>
                        </m:r>
                        <m:f>
                          <m:fPr>
                            <m:ctrlPr>
                              <a:rPr lang="en-US" sz="2800" i="1" dirty="0" smtClean="0">
                                <a:latin typeface="Cambria Math" panose="02040503050406030204" pitchFamily="18" charset="0"/>
                                <a:ea typeface="Cambria Math" panose="02040503050406030204" pitchFamily="18" charset="0"/>
                              </a:rPr>
                            </m:ctrlPr>
                          </m:fPr>
                          <m:num>
                            <m:r>
                              <a:rPr lang="en-US" sz="2800" i="1" dirty="0">
                                <a:latin typeface="Cambria Math" panose="02040503050406030204" pitchFamily="18" charset="0"/>
                                <a:ea typeface="Cambria Math" panose="02040503050406030204" pitchFamily="18" charset="0"/>
                              </a:rPr>
                              <m:t>𝜕</m:t>
                            </m:r>
                          </m:num>
                          <m:den>
                            <m:r>
                              <a:rPr lang="en-US" sz="2800" i="1" dirty="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𝐸</m:t>
                            </m:r>
                          </m:den>
                        </m:f>
                        <m:r>
                          <a:rPr lang="en-US" sz="2800" i="1" dirty="0">
                            <a:latin typeface="Cambria Math" panose="02040503050406030204" pitchFamily="18" charset="0"/>
                            <a:ea typeface="Cambria Math" panose="02040503050406030204" pitchFamily="18" charset="0"/>
                          </a:rPr>
                          <m:t> [ </m:t>
                        </m:r>
                        <m:r>
                          <a:rPr lang="en-US" sz="2800" i="1" dirty="0">
                            <a:latin typeface="Cambria Math" panose="02040503050406030204" pitchFamily="18" charset="0"/>
                            <a:ea typeface="Cambria Math" panose="02040503050406030204" pitchFamily="18" charset="0"/>
                          </a:rPr>
                          <m:t>𝑆</m:t>
                        </m:r>
                        <m:r>
                          <a:rPr lang="en-US" sz="2800" i="1" dirty="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𝐸</m:t>
                        </m:r>
                        <m:r>
                          <a:rPr lang="en-US" sz="2800" i="1" dirty="0">
                            <a:latin typeface="Cambria Math" panose="02040503050406030204" pitchFamily="18" charset="0"/>
                            <a:ea typeface="Cambria Math" panose="02040503050406030204" pitchFamily="18" charset="0"/>
                          </a:rPr>
                          <m:t>) </m:t>
                        </m:r>
                        <m:r>
                          <a:rPr lang="en-US" sz="2800" i="1" dirty="0" err="1">
                            <a:latin typeface="Cambria Math" panose="02040503050406030204" pitchFamily="18" charset="0"/>
                            <a:ea typeface="Cambria Math" panose="02040503050406030204" pitchFamily="18" charset="0"/>
                          </a:rPr>
                          <m:t>𝜓</m:t>
                        </m:r>
                        <m:r>
                          <a:rPr lang="en-US" sz="2800" i="1" dirty="0">
                            <a:latin typeface="Cambria Math" panose="02040503050406030204" pitchFamily="18" charset="0"/>
                            <a:ea typeface="Cambria Math" panose="02040503050406030204" pitchFamily="18" charset="0"/>
                          </a:rPr>
                          <m:t> ] = </m:t>
                        </m:r>
                        <m:r>
                          <a:rPr lang="en-US" sz="2800" i="1" dirty="0">
                            <a:latin typeface="Cambria Math" panose="02040503050406030204" pitchFamily="18" charset="0"/>
                            <a:ea typeface="Cambria Math" panose="02040503050406030204" pitchFamily="18" charset="0"/>
                          </a:rPr>
                          <m:t>𝑄</m:t>
                        </m:r>
                      </m:oMath>
                    </m:oMathPara>
                  </a14:m>
                  <a:endParaRPr lang="en-US" sz="2800" dirty="0">
                    <a:latin typeface="Arial" panose="020B0604020202020204" pitchFamily="34" charset="0"/>
                    <a:cs typeface="Arial" panose="020B0604020202020204" pitchFamily="34" charset="0"/>
                  </a:endParaRPr>
                </a:p>
                <a:p>
                  <a:pPr algn="just">
                    <a:buClr>
                      <a:schemeClr val="accent1"/>
                    </a:buClr>
                  </a:pPr>
                  <a:r>
                    <a:rPr lang="en-US" sz="2800" dirty="0">
                      <a:latin typeface="Arial" panose="020B0604020202020204" pitchFamily="34" charset="0"/>
                      <a:cs typeface="Arial" panose="020B0604020202020204" pitchFamily="34" charset="0"/>
                    </a:rPr>
                    <a:t>where</a:t>
                  </a:r>
                </a:p>
                <a:p>
                  <a:pPr algn="just">
                    <a:buClr>
                      <a:schemeClr val="accent1"/>
                    </a:buClr>
                  </a:pPr>
                  <a:endParaRPr lang="en-US" sz="28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𝑄</m:t>
                        </m:r>
                        <m:d>
                          <m:dPr>
                            <m:ctrlPr>
                              <a:rPr lang="en-US" sz="2800" i="1" smtClean="0">
                                <a:latin typeface="Cambria Math" panose="02040503050406030204" pitchFamily="18" charset="0"/>
                              </a:rPr>
                            </m:ctrlPr>
                          </m:dPr>
                          <m:e>
                            <m:r>
                              <a:rPr lang="en-US" sz="2800" i="1" smtClean="0">
                                <a:latin typeface="Cambria Math" panose="02040503050406030204" pitchFamily="18" charset="0"/>
                              </a:rPr>
                              <m:t>𝑟</m:t>
                            </m:r>
                            <m:r>
                              <a:rPr lang="en-US" sz="2800" i="1" smtClean="0">
                                <a:latin typeface="Cambria Math" panose="02040503050406030204" pitchFamily="18" charset="0"/>
                              </a:rPr>
                              <m:t>, </m:t>
                            </m:r>
                            <m:r>
                              <a:rPr lang="en-US" sz="2800" i="1" smtClean="0">
                                <a:latin typeface="Cambria Math" panose="02040503050406030204" pitchFamily="18" charset="0"/>
                              </a:rPr>
                              <m:t>𝐸</m:t>
                            </m:r>
                            <m:r>
                              <a:rPr lang="en-US" sz="2800" i="1" smtClean="0">
                                <a:latin typeface="Cambria Math" panose="02040503050406030204" pitchFamily="18" charset="0"/>
                              </a:rPr>
                              <m:t>, </m:t>
                            </m:r>
                            <m:r>
                              <a:rPr lang="en-US" sz="2800" i="1" smtClean="0">
                                <a:latin typeface="Cambria Math" panose="02040503050406030204" pitchFamily="18" charset="0"/>
                              </a:rPr>
                              <m:t>𝛺</m:t>
                            </m:r>
                          </m:e>
                        </m:d>
                        <m:r>
                          <a:rPr lang="en-US" sz="2800" i="1" smtClean="0">
                            <a:latin typeface="Cambria Math" panose="02040503050406030204" pitchFamily="18" charset="0"/>
                          </a:rPr>
                          <m:t>: </m:t>
                        </m:r>
                        <m:r>
                          <m:rPr>
                            <m:sty m:val="p"/>
                          </m:rPr>
                          <a:rPr lang="en-US" sz="2800" i="0" smtClean="0">
                            <a:latin typeface="Cambria Math" panose="02040503050406030204" pitchFamily="18" charset="0"/>
                          </a:rPr>
                          <m:t>source</m:t>
                        </m:r>
                        <m:r>
                          <a:rPr lang="en-US" sz="2800" i="0" smtClean="0">
                            <a:latin typeface="Cambria Math" panose="02040503050406030204" pitchFamily="18" charset="0"/>
                          </a:rPr>
                          <m:t> </m:t>
                        </m:r>
                        <m:r>
                          <m:rPr>
                            <m:sty m:val="p"/>
                          </m:rPr>
                          <a:rPr lang="en-US" sz="2800" i="0" smtClean="0">
                            <a:latin typeface="Cambria Math" panose="02040503050406030204" pitchFamily="18" charset="0"/>
                          </a:rPr>
                          <m:t>term</m:t>
                        </m:r>
                      </m:oMath>
                    </m:oMathPara>
                  </a14:m>
                  <a:endParaRPr lang="en-US" sz="2800"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d>
                          <m:dPr>
                            <m:ctrlPr>
                              <a:rPr lang="en-US" sz="2800" i="1" smtClean="0">
                                <a:latin typeface="Cambria Math" panose="02040503050406030204" pitchFamily="18" charset="0"/>
                              </a:rPr>
                            </m:ctrlPr>
                          </m:dPr>
                          <m:e>
                            <m:r>
                              <a:rPr lang="en-US" sz="2800" i="1" smtClean="0">
                                <a:latin typeface="Cambria Math" panose="02040503050406030204" pitchFamily="18" charset="0"/>
                              </a:rPr>
                              <m:t>𝐸</m:t>
                            </m:r>
                          </m:e>
                        </m:d>
                        <m:r>
                          <a:rPr lang="en-US" sz="2800" i="1" smtClean="0">
                            <a:latin typeface="Cambria Math" panose="02040503050406030204" pitchFamily="18" charset="0"/>
                          </a:rPr>
                          <m:t>: </m:t>
                        </m:r>
                        <m:r>
                          <m:rPr>
                            <m:sty m:val="p"/>
                          </m:rPr>
                          <a:rPr lang="en-US" sz="2800" i="0" smtClean="0">
                            <a:latin typeface="Cambria Math" panose="02040503050406030204" pitchFamily="18" charset="0"/>
                          </a:rPr>
                          <m:t>stopping</m:t>
                        </m:r>
                        <m:r>
                          <a:rPr lang="en-US" sz="2800" i="0" smtClean="0">
                            <a:latin typeface="Cambria Math" panose="02040503050406030204" pitchFamily="18" charset="0"/>
                          </a:rPr>
                          <m:t> </m:t>
                        </m:r>
                        <m:r>
                          <m:rPr>
                            <m:sty m:val="p"/>
                          </m:rPr>
                          <a:rPr lang="en-US" sz="2800" i="0" smtClean="0">
                            <a:latin typeface="Cambria Math" panose="02040503050406030204" pitchFamily="18" charset="0"/>
                          </a:rPr>
                          <m:t>power</m:t>
                        </m:r>
                        <m:r>
                          <a:rPr lang="en-US" sz="2800" i="0" smtClean="0">
                            <a:latin typeface="Cambria Math" panose="02040503050406030204" pitchFamily="18" charset="0"/>
                          </a:rPr>
                          <m:t>  </m:t>
                        </m:r>
                      </m:oMath>
                    </m:oMathPara>
                  </a14:m>
                  <a:endParaRPr lang="en-US" sz="2800"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𝜎</m:t>
                        </m:r>
                        <m:r>
                          <a:rPr lang="en-US" sz="2800" i="1" smtClean="0">
                            <a:latin typeface="Cambria Math" panose="02040503050406030204" pitchFamily="18" charset="0"/>
                          </a:rPr>
                          <m:t>ₜ</m:t>
                        </m:r>
                        <m:d>
                          <m:dPr>
                            <m:ctrlPr>
                              <a:rPr lang="en-US" sz="2800" i="1" smtClean="0">
                                <a:latin typeface="Cambria Math" panose="02040503050406030204" pitchFamily="18" charset="0"/>
                              </a:rPr>
                            </m:ctrlPr>
                          </m:dPr>
                          <m:e>
                            <m:r>
                              <a:rPr lang="en-US" sz="2800" i="1" smtClean="0">
                                <a:latin typeface="Cambria Math" panose="02040503050406030204" pitchFamily="18" charset="0"/>
                              </a:rPr>
                              <m:t>𝑟</m:t>
                            </m:r>
                            <m:r>
                              <a:rPr lang="en-US" sz="2800" i="1" smtClean="0">
                                <a:latin typeface="Cambria Math" panose="02040503050406030204" pitchFamily="18" charset="0"/>
                              </a:rPr>
                              <m:t>, </m:t>
                            </m:r>
                            <m:r>
                              <a:rPr lang="en-US" sz="2800" i="1" smtClean="0">
                                <a:latin typeface="Cambria Math" panose="02040503050406030204" pitchFamily="18" charset="0"/>
                              </a:rPr>
                              <m:t>𝐸</m:t>
                            </m:r>
                          </m:e>
                        </m:d>
                        <m:r>
                          <a:rPr lang="en-US" sz="2800" i="1" smtClean="0">
                            <a:latin typeface="Cambria Math" panose="02040503050406030204" pitchFamily="18" charset="0"/>
                          </a:rPr>
                          <m:t>: </m:t>
                        </m:r>
                        <m:r>
                          <m:rPr>
                            <m:sty m:val="p"/>
                          </m:rPr>
                          <a:rPr lang="en-US" sz="2800" i="0" smtClean="0">
                            <a:latin typeface="Cambria Math" panose="02040503050406030204" pitchFamily="18" charset="0"/>
                          </a:rPr>
                          <m:t>total</m:t>
                        </m:r>
                        <m:r>
                          <a:rPr lang="en-US" sz="2800" i="0" smtClean="0">
                            <a:latin typeface="Cambria Math" panose="02040503050406030204" pitchFamily="18" charset="0"/>
                          </a:rPr>
                          <m:t> </m:t>
                        </m:r>
                        <m:r>
                          <m:rPr>
                            <m:sty m:val="p"/>
                          </m:rPr>
                          <a:rPr lang="en-US" sz="2800" i="0" smtClean="0">
                            <a:latin typeface="Cambria Math" panose="02040503050406030204" pitchFamily="18" charset="0"/>
                          </a:rPr>
                          <m:t>cross</m:t>
                        </m:r>
                        <m:r>
                          <a:rPr lang="en-US" sz="2800" i="0" smtClean="0">
                            <a:latin typeface="Cambria Math" panose="02040503050406030204" pitchFamily="18" charset="0"/>
                          </a:rPr>
                          <m:t> </m:t>
                        </m:r>
                        <m:r>
                          <m:rPr>
                            <m:sty m:val="p"/>
                          </m:rPr>
                          <a:rPr lang="en-US" sz="2800" i="0" smtClean="0">
                            <a:latin typeface="Cambria Math" panose="02040503050406030204" pitchFamily="18" charset="0"/>
                          </a:rPr>
                          <m:t>section</m:t>
                        </m:r>
                        <m:r>
                          <a:rPr lang="en-US" sz="2800" i="0" smtClean="0">
                            <a:latin typeface="Cambria Math" panose="02040503050406030204" pitchFamily="18" charset="0"/>
                          </a:rPr>
                          <m:t>  </m:t>
                        </m:r>
                      </m:oMath>
                    </m:oMathPara>
                  </a14:m>
                  <a:endParaRPr lang="en-US" sz="2800"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𝜓</m:t>
                        </m:r>
                        <m:r>
                          <a:rPr lang="en-US" sz="2800" i="1" smtClean="0">
                            <a:latin typeface="Cambria Math" panose="02040503050406030204" pitchFamily="18" charset="0"/>
                          </a:rPr>
                          <m:t>(</m:t>
                        </m:r>
                        <m:r>
                          <a:rPr lang="en-US" sz="2800" i="1">
                            <a:latin typeface="Cambria Math" panose="02040503050406030204" pitchFamily="18" charset="0"/>
                          </a:rPr>
                          <m:t>𝑟</m:t>
                        </m:r>
                        <m:r>
                          <a:rPr lang="en-US" sz="2800" i="1">
                            <a:latin typeface="Cambria Math" panose="02040503050406030204" pitchFamily="18" charset="0"/>
                          </a:rPr>
                          <m:t>, </m:t>
                        </m:r>
                        <m:r>
                          <a:rPr lang="en-US" sz="2800" i="1">
                            <a:latin typeface="Cambria Math" panose="02040503050406030204" pitchFamily="18" charset="0"/>
                          </a:rPr>
                          <m:t>𝐸</m:t>
                        </m:r>
                        <m:r>
                          <a:rPr lang="en-US" sz="2800" i="1">
                            <a:latin typeface="Cambria Math" panose="02040503050406030204" pitchFamily="18" charset="0"/>
                          </a:rPr>
                          <m:t>, </m:t>
                        </m:r>
                        <m:r>
                          <a:rPr lang="en-US" sz="2800" i="1">
                            <a:latin typeface="Cambria Math" panose="02040503050406030204" pitchFamily="18" charset="0"/>
                          </a:rPr>
                          <m:t>𝛺</m:t>
                        </m:r>
                        <m:r>
                          <a:rPr lang="en-US" sz="2800" i="1">
                            <a:latin typeface="Cambria Math" panose="02040503050406030204" pitchFamily="18" charset="0"/>
                          </a:rPr>
                          <m:t>): </m:t>
                        </m:r>
                        <m:r>
                          <m:rPr>
                            <m:sty m:val="p"/>
                          </m:rPr>
                          <a:rPr lang="en-US" sz="2800" i="0">
                            <a:latin typeface="Cambria Math" panose="02040503050406030204" pitchFamily="18" charset="0"/>
                          </a:rPr>
                          <m:t>angular</m:t>
                        </m:r>
                        <m:r>
                          <a:rPr lang="en-US" sz="2800" i="0">
                            <a:latin typeface="Cambria Math" panose="02040503050406030204" pitchFamily="18" charset="0"/>
                          </a:rPr>
                          <m:t> </m:t>
                        </m:r>
                        <m:r>
                          <m:rPr>
                            <m:sty m:val="p"/>
                          </m:rPr>
                          <a:rPr lang="en-US" sz="2800" i="0">
                            <a:latin typeface="Cambria Math" panose="02040503050406030204" pitchFamily="18" charset="0"/>
                          </a:rPr>
                          <m:t>flux</m:t>
                        </m:r>
                        <m:r>
                          <a:rPr lang="en-US" sz="2800" i="0">
                            <a:latin typeface="Cambria Math" panose="02040503050406030204" pitchFamily="18" charset="0"/>
                          </a:rPr>
                          <m:t>  </m:t>
                        </m:r>
                      </m:oMath>
                    </m:oMathPara>
                  </a14:m>
                  <a:endParaRPr lang="en-US" sz="2800" dirty="0"/>
                </a:p>
                <a:p>
                  <a:pPr algn="just"/>
                  <a:endParaRPr lang="en-US" sz="2800" dirty="0"/>
                </a:p>
                <a:p>
                  <a:pPr marL="342900" indent="-342900" algn="just">
                    <a:buClr>
                      <a:schemeClr val="accent1"/>
                    </a:buClr>
                    <a:buFont typeface="Arial" panose="020B0604020202020204" pitchFamily="34" charset="0"/>
                    <a:buChar char="•"/>
                  </a:pPr>
                  <a:r>
                    <a:rPr lang="en-US" sz="2800" b="1" dirty="0">
                      <a:latin typeface="Arial" panose="020B0604020202020204" pitchFamily="34" charset="0"/>
                      <a:cs typeface="Arial" panose="020B0604020202020204" pitchFamily="34" charset="0"/>
                    </a:rPr>
                    <a:t>Angular Discretization </a:t>
                  </a:r>
                </a:p>
                <a:p>
                  <a:pPr algn="just">
                    <a:buClr>
                      <a:schemeClr val="accent1"/>
                    </a:buClr>
                  </a:pPr>
                  <a:r>
                    <a:rPr lang="en-US" sz="2800" dirty="0">
                      <a:latin typeface="Arial" panose="020B0604020202020204" pitchFamily="34" charset="0"/>
                      <a:cs typeface="Arial" panose="020B0604020202020204" pitchFamily="34" charset="0"/>
                    </a:rPr>
                    <a:t>Using the discrete ordinates (S</a:t>
                  </a:r>
                  <a:r>
                    <a:rPr lang="en-US" sz="2800" baseline="-25000" dirty="0">
                      <a:latin typeface="Arial" panose="020B0604020202020204" pitchFamily="34" charset="0"/>
                      <a:cs typeface="Arial" panose="020B0604020202020204" pitchFamily="34" charset="0"/>
                    </a:rPr>
                    <a:t>N</a:t>
                  </a:r>
                  <a:r>
                    <a:rPr lang="en-US" sz="2800" dirty="0">
                      <a:latin typeface="Arial" panose="020B0604020202020204" pitchFamily="34" charset="0"/>
                      <a:cs typeface="Arial" panose="020B0604020202020204" pitchFamily="34" charset="0"/>
                    </a:rPr>
                    <a:t>) method, the angular variable </a:t>
                  </a:r>
                  <a:r>
                    <a:rPr lang="el-GR" sz="2800" dirty="0">
                      <a:latin typeface="Arial" panose="020B0604020202020204" pitchFamily="34" charset="0"/>
                      <a:cs typeface="Arial" panose="020B0604020202020204" pitchFamily="34" charset="0"/>
                    </a:rPr>
                    <a:t>Ω </a:t>
                  </a:r>
                  <a:r>
                    <a:rPr lang="en-US" sz="2800" dirty="0">
                      <a:latin typeface="Arial" panose="020B0604020202020204" pitchFamily="34" charset="0"/>
                      <a:cs typeface="Arial" panose="020B0604020202020204" pitchFamily="34" charset="0"/>
                    </a:rPr>
                    <a:t>is discretized by approximating the continuous angular domain with a finite set of directions.</a:t>
                  </a:r>
                </a:p>
                <a:p>
                  <a:pPr algn="just"/>
                  <a:endParaRPr lang="en-US" sz="2800" dirty="0"/>
                </a:p>
                <a:p>
                  <a:pPr marL="342900" indent="-342900" algn="just">
                    <a:buClr>
                      <a:schemeClr val="accent1"/>
                    </a:buClr>
                    <a:buFont typeface="Arial" panose="020B0604020202020204" pitchFamily="34" charset="0"/>
                    <a:buChar char="•"/>
                  </a:pPr>
                  <a:r>
                    <a:rPr lang="en-US" sz="2800" b="1" dirty="0">
                      <a:latin typeface="Arial" panose="020B0604020202020204" pitchFamily="34" charset="0"/>
                      <a:cs typeface="Arial" panose="020B0604020202020204" pitchFamily="34" charset="0"/>
                    </a:rPr>
                    <a:t>Spatial-Energy DG Discretization </a:t>
                  </a:r>
                </a:p>
                <a:p>
                  <a:pPr algn="just">
                    <a:buClr>
                      <a:schemeClr val="accent1"/>
                    </a:buClr>
                  </a:pPr>
                  <a:r>
                    <a:rPr lang="en-US" sz="2800" dirty="0">
                      <a:latin typeface="Arial" panose="020B0604020202020204" pitchFamily="34" charset="0"/>
                      <a:cs typeface="Arial" panose="020B0604020202020204" pitchFamily="34" charset="0"/>
                    </a:rPr>
                    <a:t>The weak form is formulated by multiplying the steady-state Boltzmann equation under the Continuous Slowing Down Approximation (CSDA) by suitable test functions, followed by integration by parts in both spatial and energy domains, resulting in boundary integral terms. Spatial element interfaces are managed by applying discontinuous Galerkin numerical fluxes, and appropriate boundary conditions are applied in both spatial and energy dimensions.</a:t>
                  </a:r>
                  <a:endParaRPr lang="en-US" sz="2800" dirty="0"/>
                </a:p>
              </p:txBody>
            </p:sp>
          </mc:Choice>
          <mc:Fallback xmlns="">
            <p:sp>
              <p:nvSpPr>
                <p:cNvPr id="24" name="TextBox 23">
                  <a:extLst>
                    <a:ext uri="{FF2B5EF4-FFF2-40B4-BE49-F238E27FC236}">
                      <a16:creationId xmlns:a16="http://schemas.microsoft.com/office/drawing/2014/main" id="{B7D8704B-6AE2-1040-9231-4DD82791C117}"/>
                    </a:ext>
                  </a:extLst>
                </p:cNvPr>
                <p:cNvSpPr txBox="1">
                  <a:spLocks noRot="1" noChangeAspect="1" noMove="1" noResize="1" noEditPoints="1" noAdjustHandles="1" noChangeArrowheads="1" noChangeShapeType="1" noTextEdit="1"/>
                </p:cNvSpPr>
                <p:nvPr/>
              </p:nvSpPr>
              <p:spPr>
                <a:xfrm>
                  <a:off x="1578121" y="9337770"/>
                  <a:ext cx="8678268" cy="9786429"/>
                </a:xfrm>
                <a:prstGeom prst="rect">
                  <a:avLst/>
                </a:prstGeom>
                <a:blipFill>
                  <a:blip r:embed="rId2"/>
                  <a:stretch>
                    <a:fillRect l="-1050" t="-509" r="-1050" b="-509"/>
                  </a:stretch>
                </a:blipFill>
              </p:spPr>
              <p:txBody>
                <a:bodyPr/>
                <a:lstStyle/>
                <a:p>
                  <a:r>
                    <a:rPr lang="en-US">
                      <a:noFill/>
                    </a:rPr>
                    <a:t> </a:t>
                  </a:r>
                </a:p>
              </p:txBody>
            </p:sp>
          </mc:Fallback>
        </mc:AlternateContent>
      </p:grpSp>
      <p:grpSp>
        <p:nvGrpSpPr>
          <p:cNvPr id="35" name="Group 34">
            <a:extLst>
              <a:ext uri="{FF2B5EF4-FFF2-40B4-BE49-F238E27FC236}">
                <a16:creationId xmlns:a16="http://schemas.microsoft.com/office/drawing/2014/main" id="{35206858-1353-A534-C9D8-6DEB97E4D79A}"/>
              </a:ext>
            </a:extLst>
          </p:cNvPr>
          <p:cNvGrpSpPr>
            <a:grpSpLocks noChangeAspect="1"/>
          </p:cNvGrpSpPr>
          <p:nvPr/>
        </p:nvGrpSpPr>
        <p:grpSpPr>
          <a:xfrm>
            <a:off x="30596172" y="21486433"/>
            <a:ext cx="12138833" cy="4489994"/>
            <a:chOff x="1144357" y="9324018"/>
            <a:chExt cx="8918849" cy="3687900"/>
          </a:xfrm>
        </p:grpSpPr>
        <p:sp>
          <p:nvSpPr>
            <p:cNvPr id="36" name="TextBox 35">
              <a:extLst>
                <a:ext uri="{FF2B5EF4-FFF2-40B4-BE49-F238E27FC236}">
                  <a16:creationId xmlns:a16="http://schemas.microsoft.com/office/drawing/2014/main" id="{8EB0186D-6369-735E-0FEC-AA5CC6A450A4}"/>
                </a:ext>
              </a:extLst>
            </p:cNvPr>
            <p:cNvSpPr txBox="1"/>
            <p:nvPr/>
          </p:nvSpPr>
          <p:spPr>
            <a:xfrm>
              <a:off x="3576171" y="9324018"/>
              <a:ext cx="4348180" cy="758386"/>
            </a:xfrm>
            <a:prstGeom prst="rect">
              <a:avLst/>
            </a:prstGeom>
            <a:noFill/>
            <a:ln>
              <a:noFill/>
            </a:ln>
          </p:spPr>
          <p:txBody>
            <a:bodyPr wrap="square" rtlCol="0">
              <a:spAutoFit/>
            </a:bodyPr>
            <a:lstStyle/>
            <a:p>
              <a:pPr algn="ctr"/>
              <a:r>
                <a:rPr lang="en-US" sz="5400" b="1" dirty="0">
                  <a:solidFill>
                    <a:srgbClr val="F1491C"/>
                  </a:solidFill>
                  <a:latin typeface="Arial" panose="020B0604020202020204" pitchFamily="34" charset="0"/>
                  <a:cs typeface="Arial" panose="020B0604020202020204" pitchFamily="34" charset="0"/>
                </a:rPr>
                <a:t>References</a:t>
              </a:r>
            </a:p>
          </p:txBody>
        </p:sp>
        <p:cxnSp>
          <p:nvCxnSpPr>
            <p:cNvPr id="37" name="Straight Connector 36">
              <a:extLst>
                <a:ext uri="{FF2B5EF4-FFF2-40B4-BE49-F238E27FC236}">
                  <a16:creationId xmlns:a16="http://schemas.microsoft.com/office/drawing/2014/main" id="{B4B54658-723C-779D-F831-76B2FD3B00A0}"/>
                </a:ext>
              </a:extLst>
            </p:cNvPr>
            <p:cNvCxnSpPr>
              <a:cxnSpLocks/>
            </p:cNvCxnSpPr>
            <p:nvPr/>
          </p:nvCxnSpPr>
          <p:spPr>
            <a:xfrm>
              <a:off x="1367441" y="10092229"/>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DC7ADD0-C8A2-8322-3105-5728CABCAFC6}"/>
                </a:ext>
              </a:extLst>
            </p:cNvPr>
            <p:cNvSpPr txBox="1"/>
            <p:nvPr/>
          </p:nvSpPr>
          <p:spPr>
            <a:xfrm>
              <a:off x="1144357" y="10458686"/>
              <a:ext cx="8918849" cy="2553232"/>
            </a:xfrm>
            <a:prstGeom prst="rect">
              <a:avLst/>
            </a:prstGeom>
            <a:noFill/>
          </p:spPr>
          <p:txBody>
            <a:bodyPr wrap="square" rtlCol="0">
              <a:spAutoFit/>
            </a:bodyPr>
            <a:lstStyle/>
            <a:p>
              <a:pPr marL="891540" indent="-891540" algn="just">
                <a:buFont typeface="+mj-lt"/>
                <a:buAutoNum type="arabicPeriod"/>
              </a:pPr>
              <a:r>
                <a:rPr lang="en-US" sz="2800" dirty="0">
                  <a:latin typeface="Arial" panose="020B0604020202020204" pitchFamily="34" charset="0"/>
                  <a:cs typeface="Arial" panose="020B0604020202020204" pitchFamily="34" charset="0"/>
                </a:rPr>
                <a:t>Anderson, R., et al. (2020). MFEM: A modular finite element methods library. Computers &amp; Mathematics with Applications.</a:t>
              </a:r>
            </a:p>
            <a:p>
              <a:pPr marL="891540" indent="-891540" algn="just">
                <a:buFont typeface="+mj-lt"/>
                <a:buAutoNum type="arabicPeriod"/>
              </a:pPr>
              <a:r>
                <a:rPr lang="en-US" sz="2800" dirty="0">
                  <a:latin typeface="Arial" panose="020B0604020202020204" pitchFamily="34" charset="0"/>
                  <a:cs typeface="Arial" panose="020B0604020202020204" pitchFamily="34" charset="0"/>
                </a:rPr>
                <a:t>Kolev, T., Dobrev, V. GLVis: OpenGL finite element visualization tool [Software]. Lawrence Livermore National Laboratory.</a:t>
              </a:r>
            </a:p>
            <a:p>
              <a:pPr marL="891540" indent="-891540" algn="just">
                <a:buFont typeface="+mj-lt"/>
                <a:buAutoNum type="arabicPeriod"/>
              </a:pPr>
              <a:r>
                <a:rPr lang="en-US" sz="2800" dirty="0">
                  <a:latin typeface="Arial" panose="020B0604020202020204" pitchFamily="34" charset="0"/>
                  <a:cs typeface="Arial" panose="020B0604020202020204" pitchFamily="34" charset="0"/>
                </a:rPr>
                <a:t>Harris, C. R., et al. (2020). Array programming with NumPy. Nature, 585(7825), 357–362.</a:t>
              </a:r>
            </a:p>
            <a:p>
              <a:pPr marL="891540" indent="-891540">
                <a:buFont typeface="+mj-lt"/>
                <a:buAutoNum type="arabicPeriod"/>
              </a:pPr>
              <a:endParaRPr lang="en-US" sz="2800" dirty="0">
                <a:latin typeface="Arial" panose="020B0604020202020204" pitchFamily="34" charset="0"/>
                <a:cs typeface="Arial" panose="020B0604020202020204" pitchFamily="34" charset="0"/>
              </a:endParaRPr>
            </a:p>
          </p:txBody>
        </p:sp>
      </p:grpSp>
      <p:grpSp>
        <p:nvGrpSpPr>
          <p:cNvPr id="39" name="Group 38">
            <a:extLst>
              <a:ext uri="{FF2B5EF4-FFF2-40B4-BE49-F238E27FC236}">
                <a16:creationId xmlns:a16="http://schemas.microsoft.com/office/drawing/2014/main" id="{E1698078-0BBA-5B37-97B8-F78384936B55}"/>
              </a:ext>
            </a:extLst>
          </p:cNvPr>
          <p:cNvGrpSpPr/>
          <p:nvPr/>
        </p:nvGrpSpPr>
        <p:grpSpPr>
          <a:xfrm>
            <a:off x="30734079" y="26093870"/>
            <a:ext cx="12261744" cy="2986404"/>
            <a:chOff x="1407487" y="9277629"/>
            <a:chExt cx="8724328" cy="2488669"/>
          </a:xfrm>
        </p:grpSpPr>
        <p:sp>
          <p:nvSpPr>
            <p:cNvPr id="40" name="TextBox 39">
              <a:extLst>
                <a:ext uri="{FF2B5EF4-FFF2-40B4-BE49-F238E27FC236}">
                  <a16:creationId xmlns:a16="http://schemas.microsoft.com/office/drawing/2014/main" id="{6C2BCC15-29DE-D406-EF12-856092B3352A}"/>
                </a:ext>
              </a:extLst>
            </p:cNvPr>
            <p:cNvSpPr txBox="1"/>
            <p:nvPr/>
          </p:nvSpPr>
          <p:spPr>
            <a:xfrm>
              <a:off x="1548197" y="9277629"/>
              <a:ext cx="8544838" cy="692497"/>
            </a:xfrm>
            <a:prstGeom prst="rect">
              <a:avLst/>
            </a:prstGeom>
            <a:noFill/>
            <a:ln>
              <a:noFill/>
            </a:ln>
          </p:spPr>
          <p:txBody>
            <a:bodyPr wrap="square" rtlCol="0">
              <a:spAutoFit/>
            </a:bodyPr>
            <a:lstStyle/>
            <a:p>
              <a:pPr algn="ctr"/>
              <a:r>
                <a:rPr lang="en-US" sz="4800" b="1" dirty="0">
                  <a:solidFill>
                    <a:srgbClr val="F1491C"/>
                  </a:solidFill>
                  <a:latin typeface="Arial" panose="020B0604020202020204" pitchFamily="34" charset="0"/>
                  <a:cs typeface="Arial" panose="020B0604020202020204" pitchFamily="34" charset="0"/>
                </a:rPr>
                <a:t>Acknowledgements</a:t>
              </a:r>
            </a:p>
          </p:txBody>
        </p:sp>
        <p:cxnSp>
          <p:nvCxnSpPr>
            <p:cNvPr id="41" name="Straight Connector 40">
              <a:extLst>
                <a:ext uri="{FF2B5EF4-FFF2-40B4-BE49-F238E27FC236}">
                  <a16:creationId xmlns:a16="http://schemas.microsoft.com/office/drawing/2014/main" id="{97EF1F07-056A-86BB-E0A1-9231B7097682}"/>
                </a:ext>
              </a:extLst>
            </p:cNvPr>
            <p:cNvCxnSpPr>
              <a:cxnSpLocks/>
            </p:cNvCxnSpPr>
            <p:nvPr/>
          </p:nvCxnSpPr>
          <p:spPr>
            <a:xfrm>
              <a:off x="1446267" y="10008789"/>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312663E-4F75-163D-9DDB-DA1016E49778}"/>
                </a:ext>
              </a:extLst>
            </p:cNvPr>
            <p:cNvSpPr txBox="1"/>
            <p:nvPr/>
          </p:nvSpPr>
          <p:spPr>
            <a:xfrm>
              <a:off x="1407487" y="10381304"/>
              <a:ext cx="8685548" cy="1384994"/>
            </a:xfrm>
            <a:prstGeom prst="rect">
              <a:avLst/>
            </a:prstGeom>
            <a:noFill/>
          </p:spPr>
          <p:txBody>
            <a:bodyPr wrap="square" lIns="274320" tIns="182880" rIns="274320" bIns="182880" rtlCol="0">
              <a:spAutoFit/>
            </a:bodyPr>
            <a:lstStyle/>
            <a:p>
              <a:pPr algn="just"/>
              <a:r>
                <a:rPr lang="en-US" sz="2800" dirty="0">
                  <a:latin typeface="Arial" panose="020B0604020202020204" pitchFamily="34" charset="0"/>
                  <a:cs typeface="Arial" panose="020B0604020202020204" pitchFamily="34" charset="0"/>
                </a:rPr>
                <a:t>This work was supported by the Center  for Exascale Monte Carlo Neutron Transport (CEMeNT) a PSAAP-III project funded by the Department of Energy, grant number DE-NA003967.</a:t>
              </a:r>
            </a:p>
          </p:txBody>
        </p:sp>
      </p:grpSp>
      <p:sp>
        <p:nvSpPr>
          <p:cNvPr id="47" name="Title 1">
            <a:extLst>
              <a:ext uri="{FF2B5EF4-FFF2-40B4-BE49-F238E27FC236}">
                <a16:creationId xmlns:a16="http://schemas.microsoft.com/office/drawing/2014/main" id="{318D2494-893C-BF21-5259-9CE93FE030BA}"/>
              </a:ext>
            </a:extLst>
          </p:cNvPr>
          <p:cNvSpPr txBox="1">
            <a:spLocks/>
          </p:cNvSpPr>
          <p:nvPr/>
        </p:nvSpPr>
        <p:spPr>
          <a:xfrm>
            <a:off x="2942798" y="4449951"/>
            <a:ext cx="37307520" cy="2532775"/>
          </a:xfrm>
          <a:prstGeom prst="rect">
            <a:avLst/>
          </a:prstGeom>
        </p:spPr>
        <p:txBody>
          <a:bodyPr vert="horz" lIns="109728" tIns="54864" rIns="109728" bIns="54864" rtlCol="0" anchor="b">
            <a:noAutofit/>
          </a:bodyPr>
          <a:lstStyle>
            <a:lvl1pPr algn="ctr" defTabSz="2743200" rtl="0" eaLnBrk="1" latinLnBrk="0" hangingPunct="1">
              <a:lnSpc>
                <a:spcPct val="90000"/>
              </a:lnSpc>
              <a:spcBef>
                <a:spcPct val="0"/>
              </a:spcBef>
              <a:buNone/>
              <a:defRPr sz="18000" kern="1200">
                <a:solidFill>
                  <a:schemeClr val="tx1"/>
                </a:solidFill>
                <a:latin typeface="+mj-lt"/>
                <a:ea typeface="+mj-ea"/>
                <a:cs typeface="+mj-cs"/>
              </a:defRPr>
            </a:lvl1pPr>
          </a:lstStyle>
          <a:p>
            <a:pPr>
              <a:lnSpc>
                <a:spcPct val="250000"/>
              </a:lnSpc>
            </a:pPr>
            <a:r>
              <a:rPr lang="en-US" sz="5280" b="1" dirty="0">
                <a:solidFill>
                  <a:schemeClr val="accent3"/>
                </a:solidFill>
                <a:latin typeface="Arial" panose="020B0604020202020204" pitchFamily="34" charset="0"/>
                <a:cs typeface="Arial" panose="020B0604020202020204" pitchFamily="34" charset="0"/>
              </a:rPr>
              <a:t>Melek Derman</a:t>
            </a:r>
            <a:r>
              <a:rPr lang="en-US" sz="5280" b="1" baseline="30000" dirty="0">
                <a:solidFill>
                  <a:schemeClr val="accent3"/>
                </a:solidFill>
                <a:latin typeface="Arial" panose="020B0604020202020204" pitchFamily="34" charset="0"/>
                <a:cs typeface="Arial" panose="020B0604020202020204" pitchFamily="34" charset="0"/>
              </a:rPr>
              <a:t>a</a:t>
            </a:r>
            <a:r>
              <a:rPr lang="en-US" sz="5280" b="1" dirty="0">
                <a:solidFill>
                  <a:schemeClr val="accent3"/>
                </a:solidFill>
                <a:latin typeface="Arial" panose="020B0604020202020204" pitchFamily="34" charset="0"/>
                <a:cs typeface="Arial" panose="020B0604020202020204" pitchFamily="34" charset="0"/>
              </a:rPr>
              <a:t>, Todd S. Palmer</a:t>
            </a:r>
            <a:r>
              <a:rPr lang="en-US" sz="5280" b="1" baseline="30000" dirty="0">
                <a:solidFill>
                  <a:schemeClr val="accent3"/>
                </a:solidFill>
                <a:latin typeface="Arial" panose="020B0604020202020204" pitchFamily="34" charset="0"/>
                <a:cs typeface="Arial" panose="020B0604020202020204" pitchFamily="34" charset="0"/>
              </a:rPr>
              <a:t>a</a:t>
            </a:r>
            <a:endParaRPr lang="en-US" sz="5280" b="1" dirty="0">
              <a:solidFill>
                <a:schemeClr val="accent3"/>
              </a:solidFill>
              <a:latin typeface="Arial" panose="020B0604020202020204" pitchFamily="34" charset="0"/>
              <a:cs typeface="Arial" panose="020B0604020202020204" pitchFamily="34" charset="0"/>
            </a:endParaRPr>
          </a:p>
          <a:p>
            <a:r>
              <a:rPr lang="en-US" sz="4320" b="1" dirty="0">
                <a:solidFill>
                  <a:schemeClr val="accent3"/>
                </a:solidFill>
                <a:latin typeface="Arial" panose="020B0604020202020204" pitchFamily="34" charset="0"/>
                <a:cs typeface="Arial" panose="020B0604020202020204" pitchFamily="34" charset="0"/>
              </a:rPr>
              <a:t>Center for Exascale Monte-Carlo Neutron Transport (CEMeNT), </a:t>
            </a:r>
            <a:r>
              <a:rPr lang="en-US" sz="4320" b="1" baseline="30000" dirty="0">
                <a:solidFill>
                  <a:schemeClr val="accent3"/>
                </a:solidFill>
                <a:latin typeface="Arial" panose="020B0604020202020204" pitchFamily="34" charset="0"/>
                <a:cs typeface="Arial" panose="020B0604020202020204" pitchFamily="34" charset="0"/>
              </a:rPr>
              <a:t>a</a:t>
            </a:r>
            <a:r>
              <a:rPr lang="en-US" sz="4320" b="1" dirty="0">
                <a:solidFill>
                  <a:schemeClr val="accent3"/>
                </a:solidFill>
                <a:latin typeface="Arial" panose="020B0604020202020204" pitchFamily="34" charset="0"/>
                <a:cs typeface="Arial" panose="020B0604020202020204" pitchFamily="34" charset="0"/>
              </a:rPr>
              <a:t>Oregon State University</a:t>
            </a:r>
          </a:p>
          <a:p>
            <a:endParaRPr lang="en-US" sz="5280" dirty="0">
              <a:solidFill>
                <a:schemeClr val="accent3"/>
              </a:solidFill>
              <a:latin typeface="Arial" panose="020B0604020202020204" pitchFamily="34" charset="0"/>
              <a:cs typeface="Arial" panose="020B0604020202020204" pitchFamily="34" charset="0"/>
            </a:endParaRPr>
          </a:p>
        </p:txBody>
      </p:sp>
      <p:pic>
        <p:nvPicPr>
          <p:cNvPr id="51" name="Picture 50" descr="A picture containing metalware, arranged&#10;&#10;Description automatically generated">
            <a:extLst>
              <a:ext uri="{FF2B5EF4-FFF2-40B4-BE49-F238E27FC236}">
                <a16:creationId xmlns:a16="http://schemas.microsoft.com/office/drawing/2014/main" id="{2939E6B9-FBD1-E639-608A-B55339CFC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2358" y="1898504"/>
            <a:ext cx="5653129" cy="2751628"/>
          </a:xfrm>
          <a:prstGeom prst="rect">
            <a:avLst/>
          </a:prstGeom>
        </p:spPr>
      </p:pic>
      <p:pic>
        <p:nvPicPr>
          <p:cNvPr id="57" name="Graphic 56">
            <a:extLst>
              <a:ext uri="{FF2B5EF4-FFF2-40B4-BE49-F238E27FC236}">
                <a16:creationId xmlns:a16="http://schemas.microsoft.com/office/drawing/2014/main" id="{3BE1A311-B886-A096-83F0-3B86B6C62F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09996" y="1898504"/>
            <a:ext cx="7583924" cy="2428407"/>
          </a:xfrm>
          <a:prstGeom prst="rect">
            <a:avLst/>
          </a:prstGeom>
        </p:spPr>
      </p:pic>
      <p:grpSp>
        <p:nvGrpSpPr>
          <p:cNvPr id="67" name="Group 66">
            <a:extLst>
              <a:ext uri="{FF2B5EF4-FFF2-40B4-BE49-F238E27FC236}">
                <a16:creationId xmlns:a16="http://schemas.microsoft.com/office/drawing/2014/main" id="{CAA7F62E-8409-BC8D-7222-87DF47BCB884}"/>
              </a:ext>
            </a:extLst>
          </p:cNvPr>
          <p:cNvGrpSpPr/>
          <p:nvPr/>
        </p:nvGrpSpPr>
        <p:grpSpPr>
          <a:xfrm>
            <a:off x="1079492" y="8118409"/>
            <a:ext cx="12206202" cy="4501804"/>
            <a:chOff x="2236521" y="4851314"/>
            <a:chExt cx="8694713" cy="3751503"/>
          </a:xfrm>
        </p:grpSpPr>
        <p:sp>
          <p:nvSpPr>
            <p:cNvPr id="77" name="TextBox 76">
              <a:extLst>
                <a:ext uri="{FF2B5EF4-FFF2-40B4-BE49-F238E27FC236}">
                  <a16:creationId xmlns:a16="http://schemas.microsoft.com/office/drawing/2014/main" id="{113708F0-F2C2-F5CD-D7E0-DE3692015533}"/>
                </a:ext>
              </a:extLst>
            </p:cNvPr>
            <p:cNvSpPr txBox="1"/>
            <p:nvPr/>
          </p:nvSpPr>
          <p:spPr>
            <a:xfrm>
              <a:off x="2245686" y="4851314"/>
              <a:ext cx="8685548" cy="846386"/>
            </a:xfrm>
            <a:prstGeom prst="rect">
              <a:avLst/>
            </a:prstGeom>
            <a:solidFill>
              <a:srgbClr val="F1491C"/>
            </a:solidFill>
            <a:ln w="152400">
              <a:solidFill>
                <a:srgbClr val="F1491C"/>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Objective</a:t>
              </a:r>
            </a:p>
          </p:txBody>
        </p:sp>
        <p:sp>
          <p:nvSpPr>
            <p:cNvPr id="78" name="TextBox 77">
              <a:extLst>
                <a:ext uri="{FF2B5EF4-FFF2-40B4-BE49-F238E27FC236}">
                  <a16:creationId xmlns:a16="http://schemas.microsoft.com/office/drawing/2014/main" id="{6BD36CA7-520B-78D5-E4DB-6FA926B8DCAE}"/>
                </a:ext>
              </a:extLst>
            </p:cNvPr>
            <p:cNvSpPr txBox="1"/>
            <p:nvPr/>
          </p:nvSpPr>
          <p:spPr>
            <a:xfrm>
              <a:off x="2236521" y="6243197"/>
              <a:ext cx="8685548" cy="2359620"/>
            </a:xfrm>
            <a:prstGeom prst="rect">
              <a:avLst/>
            </a:prstGeom>
            <a:solidFill>
              <a:schemeClr val="bg2"/>
            </a:solidFill>
            <a:ln w="152400">
              <a:solidFill>
                <a:srgbClr val="F1491C"/>
              </a:solidFill>
            </a:ln>
          </p:spPr>
          <p:style>
            <a:lnRef idx="3">
              <a:schemeClr val="lt1"/>
            </a:lnRef>
            <a:fillRef idx="1">
              <a:schemeClr val="accent6"/>
            </a:fillRef>
            <a:effectRef idx="1">
              <a:schemeClr val="accent6"/>
            </a:effectRef>
            <a:fontRef idx="minor">
              <a:schemeClr val="lt1"/>
            </a:fontRef>
          </p:style>
          <p:txBody>
            <a:bodyPr wrap="square" lIns="274320" tIns="182880" rIns="274320" bIns="182880" rtlCol="0">
              <a:spAutoFit/>
            </a:bodyPr>
            <a:lstStyle/>
            <a:p>
              <a:pPr algn="just"/>
              <a:r>
                <a:rPr lang="da-DK" sz="3200" b="1" dirty="0">
                  <a:solidFill>
                    <a:schemeClr val="tx1"/>
                  </a:solidFill>
                  <a:latin typeface="Arial" panose="020B0604020202020204" pitchFamily="34" charset="0"/>
                  <a:cs typeface="Arial" panose="020B0604020202020204" pitchFamily="34" charset="0"/>
                </a:rPr>
                <a:t>This work aims to implement and validate a discontinuous‐Galerkin (DG) finite element solver for the steady‐state Boltzmann transport equation under the Continuous Slowing Down Approximation (CSDA) with coupled spatial-energy discretizations.</a:t>
              </a:r>
              <a:endParaRPr lang="en-US" sz="3200" b="1" dirty="0">
                <a:solidFill>
                  <a:schemeClr val="tx1"/>
                </a:solidFill>
                <a:latin typeface="Arial" panose="020B0604020202020204" pitchFamily="34" charset="0"/>
                <a:cs typeface="Arial" panose="020B0604020202020204" pitchFamily="34" charset="0"/>
              </a:endParaRPr>
            </a:p>
          </p:txBody>
        </p:sp>
      </p:grpSp>
      <p:grpSp>
        <p:nvGrpSpPr>
          <p:cNvPr id="97" name="Group 96">
            <a:extLst>
              <a:ext uri="{FF2B5EF4-FFF2-40B4-BE49-F238E27FC236}">
                <a16:creationId xmlns:a16="http://schemas.microsoft.com/office/drawing/2014/main" id="{BF4D0B64-0E5E-825D-6B2B-F25279D55ACD}"/>
              </a:ext>
            </a:extLst>
          </p:cNvPr>
          <p:cNvGrpSpPr/>
          <p:nvPr/>
        </p:nvGrpSpPr>
        <p:grpSpPr>
          <a:xfrm>
            <a:off x="30600584" y="8118409"/>
            <a:ext cx="12207240" cy="4486991"/>
            <a:chOff x="2245686" y="4851314"/>
            <a:chExt cx="9804141" cy="3808200"/>
          </a:xfrm>
        </p:grpSpPr>
        <p:sp>
          <p:nvSpPr>
            <p:cNvPr id="98" name="TextBox 97">
              <a:extLst>
                <a:ext uri="{FF2B5EF4-FFF2-40B4-BE49-F238E27FC236}">
                  <a16:creationId xmlns:a16="http://schemas.microsoft.com/office/drawing/2014/main" id="{CE8F4089-28FB-5F00-1445-DEBF4736F6D5}"/>
                </a:ext>
              </a:extLst>
            </p:cNvPr>
            <p:cNvSpPr txBox="1">
              <a:spLocks noChangeAspect="1"/>
            </p:cNvSpPr>
            <p:nvPr/>
          </p:nvSpPr>
          <p:spPr>
            <a:xfrm>
              <a:off x="2245686" y="4851314"/>
              <a:ext cx="9804141" cy="862014"/>
            </a:xfrm>
            <a:prstGeom prst="rect">
              <a:avLst/>
            </a:prstGeom>
            <a:solidFill>
              <a:srgbClr val="F1491C"/>
            </a:solidFill>
            <a:ln w="152400">
              <a:solidFill>
                <a:srgbClr val="F1491C"/>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Conclusions</a:t>
              </a:r>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3816737-2970-4EA4-0E31-BEE6680CBC11}"/>
                    </a:ext>
                  </a:extLst>
                </p:cNvPr>
                <p:cNvSpPr txBox="1">
                  <a:spLocks/>
                </p:cNvSpPr>
                <p:nvPr/>
              </p:nvSpPr>
              <p:spPr>
                <a:xfrm>
                  <a:off x="2245686" y="6256325"/>
                  <a:ext cx="9804141" cy="2403189"/>
                </a:xfrm>
                <a:prstGeom prst="rect">
                  <a:avLst/>
                </a:prstGeom>
                <a:solidFill>
                  <a:schemeClr val="bg2"/>
                </a:solidFill>
                <a:ln w="152400">
                  <a:solidFill>
                    <a:srgbClr val="F1491C"/>
                  </a:solidFill>
                </a:ln>
              </p:spPr>
              <p:style>
                <a:lnRef idx="3">
                  <a:schemeClr val="lt1"/>
                </a:lnRef>
                <a:fillRef idx="1">
                  <a:schemeClr val="accent6"/>
                </a:fillRef>
                <a:effectRef idx="1">
                  <a:schemeClr val="accent6"/>
                </a:effectRef>
                <a:fontRef idx="minor">
                  <a:schemeClr val="lt1"/>
                </a:fontRef>
              </p:style>
              <p:txBody>
                <a:bodyPr wrap="square" lIns="274320" tIns="182880" rIns="274320" bIns="182880" rtlCol="0">
                  <a:spAutoFit/>
                </a:bodyPr>
                <a:lstStyle/>
                <a:p>
                  <a:pPr algn="just"/>
                  <a:r>
                    <a:rPr lang="en-US" sz="3200" b="1" dirty="0">
                      <a:solidFill>
                        <a:schemeClr val="tx1"/>
                      </a:solidFill>
                      <a:latin typeface="Arial" panose="020B0604020202020204" pitchFamily="34" charset="0"/>
                      <a:cs typeface="Arial" panose="020B0604020202020204" pitchFamily="34" charset="0"/>
                    </a:rPr>
                    <a:t>The MFEM‐based Boltzmann-CSDA software tool accurately solves the analytical benchmark in a homogeneous infinite medium (</a:t>
                  </a:r>
                  <a14:m>
                    <m:oMath xmlns:m="http://schemas.openxmlformats.org/officeDocument/2006/math">
                      <m:r>
                        <a:rPr lang="el-GR" sz="3200" b="0" i="1" dirty="0" smtClean="0">
                          <a:solidFill>
                            <a:schemeClr val="tx1"/>
                          </a:solidFill>
                          <a:latin typeface="Cambria Math" panose="02040503050406030204" pitchFamily="18" charset="0"/>
                          <a:ea typeface="Cambria Math" panose="02040503050406030204" pitchFamily="18" charset="0"/>
                        </a:rPr>
                        <m:t>𝜓</m:t>
                      </m:r>
                      <m:r>
                        <a:rPr lang="el-GR" sz="3200" b="0" i="1" dirty="0" smtClean="0">
                          <a:solidFill>
                            <a:schemeClr val="tx1"/>
                          </a:solidFill>
                          <a:latin typeface="Cambria Math" panose="02040503050406030204" pitchFamily="18" charset="0"/>
                          <a:ea typeface="Cambria Math" panose="02040503050406030204" pitchFamily="18" charset="0"/>
                        </a:rPr>
                        <m:t>=</m:t>
                      </m:r>
                      <m:r>
                        <a:rPr lang="en-US" sz="3200" b="0" i="1" dirty="0" smtClean="0">
                          <a:solidFill>
                            <a:schemeClr val="tx1"/>
                          </a:solidFill>
                          <a:latin typeface="Cambria Math" panose="02040503050406030204" pitchFamily="18" charset="0"/>
                          <a:ea typeface="Cambria Math" panose="02040503050406030204" pitchFamily="18" charset="0"/>
                        </a:rPr>
                        <m:t>𝑄</m:t>
                      </m:r>
                      <m:r>
                        <a:rPr lang="en-US" sz="3200" b="0" i="1" dirty="0" smtClean="0">
                          <a:solidFill>
                            <a:schemeClr val="tx1"/>
                          </a:solidFill>
                          <a:latin typeface="Cambria Math" panose="02040503050406030204" pitchFamily="18" charset="0"/>
                          <a:ea typeface="Cambria Math" panose="02040503050406030204" pitchFamily="18" charset="0"/>
                        </a:rPr>
                        <m:t>/</m:t>
                      </m:r>
                      <m:r>
                        <a:rPr lang="el-GR" sz="3200" b="0" i="1" dirty="0" smtClean="0">
                          <a:solidFill>
                            <a:schemeClr val="tx1"/>
                          </a:solidFill>
                          <a:latin typeface="Cambria Math" panose="02040503050406030204" pitchFamily="18" charset="0"/>
                          <a:ea typeface="Cambria Math" panose="02040503050406030204" pitchFamily="18" charset="0"/>
                        </a:rPr>
                        <m:t>𝜎</m:t>
                      </m:r>
                      <m:r>
                        <a:rPr lang="en-US" sz="3200" b="0" i="1" baseline="-25000" dirty="0" smtClean="0">
                          <a:solidFill>
                            <a:schemeClr val="tx1"/>
                          </a:solidFill>
                          <a:latin typeface="Cambria Math" panose="02040503050406030204" pitchFamily="18" charset="0"/>
                          <a:ea typeface="Cambria Math" panose="02040503050406030204" pitchFamily="18" charset="0"/>
                        </a:rPr>
                        <m:t>𝑡</m:t>
                      </m:r>
                    </m:oMath>
                  </a14:m>
                  <a:r>
                    <a:rPr lang="en-US" sz="3200" dirty="0">
                      <a:solidFill>
                        <a:schemeClr val="tx1"/>
                      </a:solidFill>
                      <a:latin typeface="Cambria Math" panose="02040503050406030204" pitchFamily="18" charset="0"/>
                      <a:ea typeface="Cambria Math" panose="02040503050406030204" pitchFamily="18" charset="0"/>
                      <a:cs typeface="Arial" panose="020B0604020202020204" pitchFamily="34" charset="0"/>
                    </a:rPr>
                    <a:t>) </a:t>
                  </a:r>
                  <a:r>
                    <a:rPr lang="en-US" sz="3200" b="1" dirty="0">
                      <a:solidFill>
                        <a:schemeClr val="tx1"/>
                      </a:solidFill>
                      <a:latin typeface="Arial" panose="020B0604020202020204" pitchFamily="34" charset="0"/>
                      <a:cs typeface="Arial" panose="020B0604020202020204" pitchFamily="34" charset="0"/>
                    </a:rPr>
                    <a:t>and achieves the expected convergence rates in four MMS scenarios (linear spatial, linear energy, </a:t>
                  </a:r>
                  <a:br>
                    <a:rPr lang="en-US" sz="3200" b="1" dirty="0">
                      <a:solidFill>
                        <a:schemeClr val="tx1"/>
                      </a:solidFill>
                      <a:latin typeface="Arial" panose="020B0604020202020204" pitchFamily="34" charset="0"/>
                      <a:cs typeface="Arial" panose="020B0604020202020204" pitchFamily="34" charset="0"/>
                    </a:rPr>
                  </a:br>
                  <a:r>
                    <a:rPr lang="en-US" sz="3200" b="1" dirty="0">
                      <a:solidFill>
                        <a:schemeClr val="tx1"/>
                      </a:solidFill>
                      <a:latin typeface="Arial" panose="020B0604020202020204" pitchFamily="34" charset="0"/>
                      <a:cs typeface="Arial" panose="020B0604020202020204" pitchFamily="34" charset="0"/>
                    </a:rPr>
                    <a:t>x-E dependent, and exponential attenuation). ​</a:t>
                  </a:r>
                </a:p>
              </p:txBody>
            </p:sp>
          </mc:Choice>
          <mc:Fallback xmlns="">
            <p:sp>
              <p:nvSpPr>
                <p:cNvPr id="99" name="TextBox 98">
                  <a:extLst>
                    <a:ext uri="{FF2B5EF4-FFF2-40B4-BE49-F238E27FC236}">
                      <a16:creationId xmlns:a16="http://schemas.microsoft.com/office/drawing/2014/main" id="{B3816737-2970-4EA4-0E31-BEE6680CBC11}"/>
                    </a:ext>
                  </a:extLst>
                </p:cNvPr>
                <p:cNvSpPr txBox="1">
                  <a:spLocks noRot="1" noChangeAspect="1" noMove="1" noResize="1" noEditPoints="1" noAdjustHandles="1" noChangeArrowheads="1" noChangeShapeType="1" noTextEdit="1"/>
                </p:cNvSpPr>
                <p:nvPr/>
              </p:nvSpPr>
              <p:spPr>
                <a:xfrm>
                  <a:off x="2245686" y="6256325"/>
                  <a:ext cx="9804141" cy="2403189"/>
                </a:xfrm>
                <a:prstGeom prst="rect">
                  <a:avLst/>
                </a:prstGeom>
                <a:blipFill>
                  <a:blip r:embed="rId6"/>
                  <a:stretch>
                    <a:fillRect/>
                  </a:stretch>
                </a:blipFill>
                <a:ln w="152400">
                  <a:solidFill>
                    <a:srgbClr val="F1491C"/>
                  </a:solidFill>
                </a:ln>
              </p:spPr>
              <p:txBody>
                <a:bodyPr/>
                <a:lstStyle/>
                <a:p>
                  <a:r>
                    <a:rPr lang="en-US">
                      <a:noFill/>
                    </a:rPr>
                    <a:t> </a:t>
                  </a:r>
                </a:p>
              </p:txBody>
            </p:sp>
          </mc:Fallback>
        </mc:AlternateContent>
      </p:grpSp>
      <p:grpSp>
        <p:nvGrpSpPr>
          <p:cNvPr id="109" name="Group 108">
            <a:extLst>
              <a:ext uri="{FF2B5EF4-FFF2-40B4-BE49-F238E27FC236}">
                <a16:creationId xmlns:a16="http://schemas.microsoft.com/office/drawing/2014/main" id="{9797AE93-9826-4523-ED32-521354D36506}"/>
              </a:ext>
            </a:extLst>
          </p:cNvPr>
          <p:cNvGrpSpPr>
            <a:grpSpLocks noChangeAspect="1"/>
          </p:cNvGrpSpPr>
          <p:nvPr/>
        </p:nvGrpSpPr>
        <p:grpSpPr>
          <a:xfrm>
            <a:off x="30401330" y="13370802"/>
            <a:ext cx="12221144" cy="7143432"/>
            <a:chOff x="1657036" y="6817469"/>
            <a:chExt cx="8757807" cy="2674875"/>
          </a:xfrm>
        </p:grpSpPr>
        <p:sp>
          <p:nvSpPr>
            <p:cNvPr id="110" name="TextBox 109">
              <a:extLst>
                <a:ext uri="{FF2B5EF4-FFF2-40B4-BE49-F238E27FC236}">
                  <a16:creationId xmlns:a16="http://schemas.microsoft.com/office/drawing/2014/main" id="{31F74BEE-775E-9FCE-0EFB-ACCA26723C87}"/>
                </a:ext>
              </a:extLst>
            </p:cNvPr>
            <p:cNvSpPr txBox="1"/>
            <p:nvPr/>
          </p:nvSpPr>
          <p:spPr>
            <a:xfrm>
              <a:off x="2865789" y="6817469"/>
              <a:ext cx="6412561" cy="345743"/>
            </a:xfrm>
            <a:prstGeom prst="rect">
              <a:avLst/>
            </a:prstGeom>
            <a:noFill/>
            <a:ln>
              <a:noFill/>
            </a:ln>
          </p:spPr>
          <p:txBody>
            <a:bodyPr wrap="square" rtlCol="0">
              <a:spAutoFit/>
            </a:bodyPr>
            <a:lstStyle/>
            <a:p>
              <a:pPr algn="ctr"/>
              <a:r>
                <a:rPr lang="en-US" sz="5400" b="1" dirty="0">
                  <a:solidFill>
                    <a:srgbClr val="F1491C"/>
                  </a:solidFill>
                  <a:latin typeface="Arial" panose="020B0604020202020204" pitchFamily="34" charset="0"/>
                  <a:cs typeface="Arial" panose="020B0604020202020204" pitchFamily="34" charset="0"/>
                </a:rPr>
                <a:t>Future Work</a:t>
              </a:r>
            </a:p>
          </p:txBody>
        </p:sp>
        <p:cxnSp>
          <p:nvCxnSpPr>
            <p:cNvPr id="111" name="Straight Connector 110">
              <a:extLst>
                <a:ext uri="{FF2B5EF4-FFF2-40B4-BE49-F238E27FC236}">
                  <a16:creationId xmlns:a16="http://schemas.microsoft.com/office/drawing/2014/main" id="{0FB107B0-CA42-AF5E-05B1-C578336526AC}"/>
                </a:ext>
              </a:extLst>
            </p:cNvPr>
            <p:cNvCxnSpPr>
              <a:cxnSpLocks/>
            </p:cNvCxnSpPr>
            <p:nvPr/>
          </p:nvCxnSpPr>
          <p:spPr>
            <a:xfrm>
              <a:off x="1657036" y="7179250"/>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80855515-40CB-8D9D-5F56-BD28E878E256}"/>
                </a:ext>
              </a:extLst>
            </p:cNvPr>
            <p:cNvSpPr txBox="1"/>
            <p:nvPr/>
          </p:nvSpPr>
          <p:spPr>
            <a:xfrm>
              <a:off x="1729295" y="7360263"/>
              <a:ext cx="8685548" cy="2132081"/>
            </a:xfrm>
            <a:prstGeom prst="rect">
              <a:avLst/>
            </a:prstGeom>
            <a:noFill/>
          </p:spPr>
          <p:txBody>
            <a:bodyPr wrap="square" rtlCol="0">
              <a:spAutoFit/>
            </a:bodyPr>
            <a:lstStyle/>
            <a:p>
              <a:pPr marL="342900" indent="-342900" algn="just">
                <a:buClr>
                  <a:schemeClr val="accent1"/>
                </a:buClr>
                <a:buFont typeface="Arial" panose="020B0604020202020204" pitchFamily="34" charset="0"/>
                <a:buChar char="•"/>
              </a:pPr>
              <a:r>
                <a:rPr lang="en-US" sz="2800" dirty="0">
                  <a:latin typeface="Arial" panose="020B0604020202020204" pitchFamily="34" charset="0"/>
                  <a:cs typeface="Arial" panose="020B0604020202020204" pitchFamily="34" charset="0"/>
                </a:rPr>
                <a:t>Extend validation to benchmark problems in heterogeneous media with complex source terms.</a:t>
              </a:r>
            </a:p>
            <a:p>
              <a:pPr marL="342900" indent="-342900" algn="just">
                <a:buClr>
                  <a:schemeClr val="accent1"/>
                </a:buClr>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lgn="just">
                <a:buClr>
                  <a:schemeClr val="accent1"/>
                </a:buClr>
                <a:buFont typeface="Arial" panose="020B0604020202020204" pitchFamily="34" charset="0"/>
                <a:buChar char="•"/>
              </a:pPr>
              <a:r>
                <a:rPr lang="en-US" sz="2800" dirty="0">
                  <a:latin typeface="Arial" panose="020B0604020202020204" pitchFamily="34" charset="0"/>
                  <a:cs typeface="Arial" panose="020B0604020202020204" pitchFamily="34" charset="0"/>
                </a:rPr>
                <a:t>Integrate the full Boltzmann-Fokker-Planck scattering operator to accurately capture strongly forward-peaked scattering.</a:t>
              </a:r>
            </a:p>
            <a:p>
              <a:pPr marL="342900" indent="-342900" algn="just">
                <a:buClr>
                  <a:schemeClr val="accent1"/>
                </a:buClr>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lgn="just">
                <a:buClr>
                  <a:schemeClr val="accent1"/>
                </a:buClr>
                <a:buFont typeface="Arial" panose="020B0604020202020204" pitchFamily="34" charset="0"/>
                <a:buChar char="•"/>
              </a:pPr>
              <a:r>
                <a:rPr lang="en-US" sz="2800" dirty="0">
                  <a:latin typeface="Arial" panose="020B0604020202020204" pitchFamily="34" charset="0"/>
                  <a:cs typeface="Arial" panose="020B0604020202020204" pitchFamily="34" charset="0"/>
                </a:rPr>
                <a:t>Enable parallel execution using MFEM’s internal parallel solvers for 3D (x-y-E) simulations</a:t>
              </a:r>
            </a:p>
            <a:p>
              <a:pPr marL="342900" indent="-342900" algn="just">
                <a:buClr>
                  <a:schemeClr val="accent1"/>
                </a:buClr>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lgn="just">
                <a:buClr>
                  <a:schemeClr val="accent1"/>
                </a:buClr>
                <a:buFont typeface="Arial" panose="020B0604020202020204" pitchFamily="34" charset="0"/>
                <a:buChar char="•"/>
              </a:pPr>
              <a:r>
                <a:rPr lang="en-US" sz="2800" dirty="0">
                  <a:latin typeface="Arial" panose="020B0604020202020204" pitchFamily="34" charset="0"/>
                  <a:cs typeface="Arial" panose="020B0604020202020204" pitchFamily="34" charset="0"/>
                </a:rPr>
                <a:t>Investigate whether the CSDA operator’s energy-derivative can be solved using algorithms analogous to time-dependent transport methods and assess its performance and scalability with parallel solvers such as Block Jacobi preconditioners.</a:t>
              </a:r>
            </a:p>
          </p:txBody>
        </p:sp>
      </p:grpSp>
      <p:grpSp>
        <p:nvGrpSpPr>
          <p:cNvPr id="3" name="Group 2">
            <a:extLst>
              <a:ext uri="{FF2B5EF4-FFF2-40B4-BE49-F238E27FC236}">
                <a16:creationId xmlns:a16="http://schemas.microsoft.com/office/drawing/2014/main" id="{E4675128-031C-9408-4C3B-882EF97DAC7C}"/>
              </a:ext>
            </a:extLst>
          </p:cNvPr>
          <p:cNvGrpSpPr>
            <a:grpSpLocks noChangeAspect="1"/>
          </p:cNvGrpSpPr>
          <p:nvPr/>
        </p:nvGrpSpPr>
        <p:grpSpPr>
          <a:xfrm>
            <a:off x="1079492" y="13229890"/>
            <a:ext cx="12206050" cy="7015394"/>
            <a:chOff x="962109" y="13107983"/>
            <a:chExt cx="10018897" cy="7674079"/>
          </a:xfrm>
        </p:grpSpPr>
        <p:grpSp>
          <p:nvGrpSpPr>
            <p:cNvPr id="100" name="Group 99">
              <a:extLst>
                <a:ext uri="{FF2B5EF4-FFF2-40B4-BE49-F238E27FC236}">
                  <a16:creationId xmlns:a16="http://schemas.microsoft.com/office/drawing/2014/main" id="{48D4A368-B60E-E358-E094-8768003B8402}"/>
                </a:ext>
              </a:extLst>
            </p:cNvPr>
            <p:cNvGrpSpPr/>
            <p:nvPr/>
          </p:nvGrpSpPr>
          <p:grpSpPr>
            <a:xfrm>
              <a:off x="1017532" y="13107983"/>
              <a:ext cx="9963474" cy="7674079"/>
              <a:chOff x="1539074" y="7624347"/>
              <a:chExt cx="8727630" cy="7540174"/>
            </a:xfrm>
            <a:noFill/>
          </p:grpSpPr>
          <p:sp>
            <p:nvSpPr>
              <p:cNvPr id="101" name="TextBox 100">
                <a:extLst>
                  <a:ext uri="{FF2B5EF4-FFF2-40B4-BE49-F238E27FC236}">
                    <a16:creationId xmlns:a16="http://schemas.microsoft.com/office/drawing/2014/main" id="{CBC24408-6F53-A8AA-7D8C-7DEA92C313B0}"/>
                  </a:ext>
                </a:extLst>
              </p:cNvPr>
              <p:cNvSpPr txBox="1"/>
              <p:nvPr/>
            </p:nvSpPr>
            <p:spPr>
              <a:xfrm>
                <a:off x="2936905" y="7624347"/>
                <a:ext cx="5792789" cy="1290119"/>
              </a:xfrm>
              <a:prstGeom prst="rect">
                <a:avLst/>
              </a:prstGeom>
              <a:grpFill/>
              <a:ln w="63500">
                <a:noFill/>
              </a:ln>
            </p:spPr>
            <p:txBody>
              <a:bodyPr wrap="square" lIns="274320" tIns="182880" rIns="274320" bIns="182880" rtlCol="0">
                <a:spAutoFit/>
              </a:bodyPr>
              <a:lstStyle/>
              <a:p>
                <a:pPr algn="ctr"/>
                <a:r>
                  <a:rPr lang="en-US" sz="5400" b="1" dirty="0">
                    <a:solidFill>
                      <a:srgbClr val="F1491C"/>
                    </a:solidFill>
                    <a:latin typeface="Arial" panose="020B0604020202020204" pitchFamily="34" charset="0"/>
                    <a:cs typeface="Arial" panose="020B0604020202020204" pitchFamily="34" charset="0"/>
                  </a:rPr>
                  <a:t>Introduction</a:t>
                </a:r>
                <a:endParaRPr lang="en-US" sz="4800" b="1" dirty="0">
                  <a:solidFill>
                    <a:srgbClr val="F1491C"/>
                  </a:solidFill>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7F455E53-D75E-C0AC-23B8-21F499A0690D}"/>
                  </a:ext>
                </a:extLst>
              </p:cNvPr>
              <p:cNvSpPr txBox="1">
                <a:spLocks/>
              </p:cNvSpPr>
              <p:nvPr/>
            </p:nvSpPr>
            <p:spPr>
              <a:xfrm>
                <a:off x="1539074" y="9210130"/>
                <a:ext cx="8727630" cy="5954391"/>
              </a:xfrm>
              <a:prstGeom prst="rect">
                <a:avLst/>
              </a:prstGeom>
              <a:grpFill/>
              <a:ln w="63500">
                <a:noFill/>
              </a:ln>
            </p:spPr>
            <p:txBody>
              <a:bodyPr wrap="square" lIns="274320" tIns="182880" rIns="274320" bIns="182880" rtlCol="0">
                <a:spAutoFit/>
              </a:bodyPr>
              <a:lstStyle/>
              <a:p>
                <a:pPr algn="just">
                  <a:buClr>
                    <a:schemeClr val="accent1"/>
                  </a:buClr>
                </a:pPr>
                <a:r>
                  <a:rPr lang="en-US" sz="2800" dirty="0">
                    <a:latin typeface="Arial" panose="020B0604020202020204" pitchFamily="34" charset="0"/>
                    <a:cs typeface="Arial" panose="020B0604020202020204" pitchFamily="34" charset="0"/>
                  </a:rPr>
                  <a:t>In this study, we employed the linear DG finite element (FE) method, an effective numerical approach for solving transport equations. The DG method offers numerous advantages by utilizing discontinuous basis functions that inherently capture steep gradients and discontinuities in particle distributions. This use of piecewise-linear functions is particularly good at resolving singular features, such as corner points, in the solution domain. The CSDA approach we applied makes coupled spatial-energy domain representation (</a:t>
                </a:r>
                <a:r>
                  <a:rPr lang="en-US" sz="2800" dirty="0" err="1">
                    <a:latin typeface="Arial" panose="020B0604020202020204" pitchFamily="34" charset="0"/>
                    <a:cs typeface="Arial" panose="020B0604020202020204" pitchFamily="34" charset="0"/>
                  </a:rPr>
                  <a:t>x,E</a:t>
                </a:r>
                <a:r>
                  <a:rPr lang="en-US" sz="2800" dirty="0">
                    <a:latin typeface="Arial" panose="020B0604020202020204" pitchFamily="34" charset="0"/>
                    <a:cs typeface="Arial" panose="020B0604020202020204" pitchFamily="34" charset="0"/>
                  </a:rPr>
                  <a:t>) possible through its energy-derivative operator. Our numerical implementation utilized the PyMFEM finite element library, a Python wrapper to the high-performance MFEM code developed at Lawrence Livermore National Laboratory (LLNL), providing scalable parallel discretization tools and efficient solver integration.</a:t>
                </a:r>
              </a:p>
            </p:txBody>
          </p:sp>
        </p:grpSp>
        <p:cxnSp>
          <p:nvCxnSpPr>
            <p:cNvPr id="113" name="Straight Connector 112">
              <a:extLst>
                <a:ext uri="{FF2B5EF4-FFF2-40B4-BE49-F238E27FC236}">
                  <a16:creationId xmlns:a16="http://schemas.microsoft.com/office/drawing/2014/main" id="{B0C27B30-1781-DFE3-9AC7-FFDFF881DC34}"/>
                </a:ext>
              </a:extLst>
            </p:cNvPr>
            <p:cNvCxnSpPr>
              <a:cxnSpLocks/>
            </p:cNvCxnSpPr>
            <p:nvPr/>
          </p:nvCxnSpPr>
          <p:spPr>
            <a:xfrm>
              <a:off x="962109" y="14308314"/>
              <a:ext cx="9656064"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B352320B-B809-0D26-BEED-69014A7A47EA}"/>
              </a:ext>
            </a:extLst>
          </p:cNvPr>
          <p:cNvSpPr txBox="1"/>
          <p:nvPr/>
        </p:nvSpPr>
        <p:spPr>
          <a:xfrm>
            <a:off x="29628308" y="31465442"/>
            <a:ext cx="14262892" cy="732508"/>
          </a:xfrm>
          <a:prstGeom prst="rect">
            <a:avLst/>
          </a:prstGeom>
          <a:noFill/>
        </p:spPr>
        <p:txBody>
          <a:bodyPr wrap="square" rtlCol="0">
            <a:spAutoFit/>
          </a:bodyPr>
          <a:lstStyle/>
          <a:p>
            <a:r>
              <a:rPr lang="en-US" sz="2000" dirty="0"/>
              <a:t>* All visualizations in this work were generated using GLVis, the visualization tool developed specifically for the MFEM library.</a:t>
            </a:r>
          </a:p>
          <a:p>
            <a:endParaRPr lang="en-US" dirty="0"/>
          </a:p>
        </p:txBody>
      </p:sp>
      <p:grpSp>
        <p:nvGrpSpPr>
          <p:cNvPr id="11" name="Group 10">
            <a:extLst>
              <a:ext uri="{FF2B5EF4-FFF2-40B4-BE49-F238E27FC236}">
                <a16:creationId xmlns:a16="http://schemas.microsoft.com/office/drawing/2014/main" id="{253785F0-F9EC-E1B8-7E03-04C6B60011F5}"/>
              </a:ext>
            </a:extLst>
          </p:cNvPr>
          <p:cNvGrpSpPr/>
          <p:nvPr/>
        </p:nvGrpSpPr>
        <p:grpSpPr>
          <a:xfrm>
            <a:off x="14192595" y="8052799"/>
            <a:ext cx="15506009" cy="24145151"/>
            <a:chOff x="14198981" y="7854085"/>
            <a:chExt cx="15506009" cy="24145151"/>
          </a:xfrm>
        </p:grpSpPr>
        <p:grpSp>
          <p:nvGrpSpPr>
            <p:cNvPr id="52" name="Group 51">
              <a:extLst>
                <a:ext uri="{FF2B5EF4-FFF2-40B4-BE49-F238E27FC236}">
                  <a16:creationId xmlns:a16="http://schemas.microsoft.com/office/drawing/2014/main" id="{9317D1AF-D017-2AD9-2FD4-C7DA16862246}"/>
                </a:ext>
              </a:extLst>
            </p:cNvPr>
            <p:cNvGrpSpPr>
              <a:grpSpLocks noChangeAspect="1"/>
            </p:cNvGrpSpPr>
            <p:nvPr/>
          </p:nvGrpSpPr>
          <p:grpSpPr>
            <a:xfrm>
              <a:off x="14309989" y="9311428"/>
              <a:ext cx="7098127" cy="7563632"/>
              <a:chOff x="1809953" y="4228833"/>
              <a:chExt cx="9478361" cy="10099966"/>
            </a:xfrm>
          </p:grpSpPr>
          <p:grpSp>
            <p:nvGrpSpPr>
              <p:cNvPr id="53" name="Group 52">
                <a:extLst>
                  <a:ext uri="{FF2B5EF4-FFF2-40B4-BE49-F238E27FC236}">
                    <a16:creationId xmlns:a16="http://schemas.microsoft.com/office/drawing/2014/main" id="{18C525B7-7420-79E6-2D7C-B7E4B4BDD398}"/>
                  </a:ext>
                </a:extLst>
              </p:cNvPr>
              <p:cNvGrpSpPr/>
              <p:nvPr/>
            </p:nvGrpSpPr>
            <p:grpSpPr>
              <a:xfrm>
                <a:off x="1809953" y="4228833"/>
                <a:ext cx="9397740" cy="9616866"/>
                <a:chOff x="9104167" y="5368436"/>
                <a:chExt cx="9489506" cy="9616866"/>
              </a:xfrm>
            </p:grpSpPr>
            <p:pic>
              <p:nvPicPr>
                <p:cNvPr id="56" name="Picture 55" descr="A graph with different colored bars&#10;&#10;AI-generated content may be incorrect.">
                  <a:extLst>
                    <a:ext uri="{FF2B5EF4-FFF2-40B4-BE49-F238E27FC236}">
                      <a16:creationId xmlns:a16="http://schemas.microsoft.com/office/drawing/2014/main" id="{AEF971A4-C8EF-CA0C-38FC-30C32EB0D4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35399" y="5373374"/>
                  <a:ext cx="4483100" cy="4292600"/>
                </a:xfrm>
                <a:prstGeom prst="rect">
                  <a:avLst/>
                </a:prstGeom>
              </p:spPr>
            </p:pic>
            <p:pic>
              <p:nvPicPr>
                <p:cNvPr id="58" name="Picture 57" descr="A grid with different colors&#10;&#10;AI-generated content may be incorrect.">
                  <a:extLst>
                    <a:ext uri="{FF2B5EF4-FFF2-40B4-BE49-F238E27FC236}">
                      <a16:creationId xmlns:a16="http://schemas.microsoft.com/office/drawing/2014/main" id="{FB996DF4-0CBE-5A73-B3F4-86FD1E186B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978552" y="5368436"/>
                  <a:ext cx="4597400" cy="4318000"/>
                </a:xfrm>
                <a:prstGeom prst="rect">
                  <a:avLst/>
                </a:prstGeom>
              </p:spPr>
            </p:pic>
            <p:pic>
              <p:nvPicPr>
                <p:cNvPr id="59" name="Picture 58" descr="A grid with different colors&#10;&#10;AI-generated content may be incorrect.">
                  <a:extLst>
                    <a:ext uri="{FF2B5EF4-FFF2-40B4-BE49-F238E27FC236}">
                      <a16:creationId xmlns:a16="http://schemas.microsoft.com/office/drawing/2014/main" id="{E1BED23D-3E61-3C2C-75C6-7E093A76F2F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84599" y="10312471"/>
                  <a:ext cx="4533900" cy="4318000"/>
                </a:xfrm>
                <a:prstGeom prst="rect">
                  <a:avLst/>
                </a:prstGeom>
              </p:spPr>
            </p:pic>
            <p:pic>
              <p:nvPicPr>
                <p:cNvPr id="60" name="Picture 59" descr="A green grid with a rainbow spectrum&#10;&#10;AI-generated content may be incorrect.">
                  <a:extLst>
                    <a:ext uri="{FF2B5EF4-FFF2-40B4-BE49-F238E27FC236}">
                      <a16:creationId xmlns:a16="http://schemas.microsoft.com/office/drawing/2014/main" id="{B5B051AA-7347-C2F9-8FEF-19E1B5BBBD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781287" y="10623303"/>
                  <a:ext cx="4740545" cy="4010416"/>
                </a:xfrm>
                <a:prstGeom prst="rect">
                  <a:avLst/>
                </a:prstGeom>
              </p:spPr>
            </p:pic>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1F23D03C-9D0E-C0F6-BCC1-CB9C87D76990}"/>
                        </a:ext>
                      </a:extLst>
                    </p:cNvPr>
                    <p:cNvSpPr txBox="1"/>
                    <p:nvPr/>
                  </p:nvSpPr>
                  <p:spPr>
                    <a:xfrm>
                      <a:off x="9385381" y="9220212"/>
                      <a:ext cx="3177930" cy="4489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61" name="TextBox 60">
                      <a:extLst>
                        <a:ext uri="{FF2B5EF4-FFF2-40B4-BE49-F238E27FC236}">
                          <a16:creationId xmlns:a16="http://schemas.microsoft.com/office/drawing/2014/main" id="{1F23D03C-9D0E-C0F6-BCC1-CB9C87D76990}"/>
                        </a:ext>
                      </a:extLst>
                    </p:cNvPr>
                    <p:cNvSpPr txBox="1">
                      <a:spLocks noRot="1" noChangeAspect="1" noMove="1" noResize="1" noEditPoints="1" noAdjustHandles="1" noChangeArrowheads="1" noChangeShapeType="1" noTextEdit="1"/>
                    </p:cNvSpPr>
                    <p:nvPr/>
                  </p:nvSpPr>
                  <p:spPr>
                    <a:xfrm>
                      <a:off x="9385381" y="9220212"/>
                      <a:ext cx="3177930" cy="448921"/>
                    </a:xfrm>
                    <a:prstGeom prst="rect">
                      <a:avLst/>
                    </a:prstGeom>
                    <a:blipFill>
                      <a:blip r:embed="rId11"/>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AED486C-1FC3-9E4A-5075-E24D3B454BB4}"/>
                        </a:ext>
                      </a:extLst>
                    </p:cNvPr>
                    <p:cNvSpPr txBox="1"/>
                    <p:nvPr/>
                  </p:nvSpPr>
                  <p:spPr>
                    <a:xfrm>
                      <a:off x="14193852" y="9265863"/>
                      <a:ext cx="3223647" cy="4489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𝜓</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𝐸</m:t>
                            </m:r>
                            <m:r>
                              <a:rPr lang="en-US" sz="1600" i="1">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62" name="TextBox 61">
                      <a:extLst>
                        <a:ext uri="{FF2B5EF4-FFF2-40B4-BE49-F238E27FC236}">
                          <a16:creationId xmlns:a16="http://schemas.microsoft.com/office/drawing/2014/main" id="{DAED486C-1FC3-9E4A-5075-E24D3B454BB4}"/>
                        </a:ext>
                      </a:extLst>
                    </p:cNvPr>
                    <p:cNvSpPr txBox="1">
                      <a:spLocks noRot="1" noChangeAspect="1" noMove="1" noResize="1" noEditPoints="1" noAdjustHandles="1" noChangeArrowheads="1" noChangeShapeType="1" noTextEdit="1"/>
                    </p:cNvSpPr>
                    <p:nvPr/>
                  </p:nvSpPr>
                  <p:spPr>
                    <a:xfrm>
                      <a:off x="14193852" y="9265863"/>
                      <a:ext cx="3223647" cy="448921"/>
                    </a:xfrm>
                    <a:prstGeom prst="rect">
                      <a:avLst/>
                    </a:prstGeom>
                    <a:blipFill>
                      <a:blip r:embed="rId12"/>
                      <a:stretch>
                        <a:fillRect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28DA9A6-E865-633F-8F33-496B8477CD70}"/>
                        </a:ext>
                      </a:extLst>
                    </p:cNvPr>
                    <p:cNvSpPr txBox="1"/>
                    <p:nvPr/>
                  </p:nvSpPr>
                  <p:spPr>
                    <a:xfrm>
                      <a:off x="12860906" y="14536380"/>
                      <a:ext cx="1026118" cy="4489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63" name="TextBox 62">
                      <a:extLst>
                        <a:ext uri="{FF2B5EF4-FFF2-40B4-BE49-F238E27FC236}">
                          <a16:creationId xmlns:a16="http://schemas.microsoft.com/office/drawing/2014/main" id="{128DA9A6-E865-633F-8F33-496B8477CD70}"/>
                        </a:ext>
                      </a:extLst>
                    </p:cNvPr>
                    <p:cNvSpPr txBox="1">
                      <a:spLocks noRot="1" noChangeAspect="1" noMove="1" noResize="1" noEditPoints="1" noAdjustHandles="1" noChangeArrowheads="1" noChangeShapeType="1" noTextEdit="1"/>
                    </p:cNvSpPr>
                    <p:nvPr/>
                  </p:nvSpPr>
                  <p:spPr>
                    <a:xfrm>
                      <a:off x="12860906" y="14536380"/>
                      <a:ext cx="1026118" cy="448922"/>
                    </a:xfrm>
                    <a:prstGeom prst="rect">
                      <a:avLst/>
                    </a:prstGeom>
                    <a:blipFill>
                      <a:blip r:embed="rId13"/>
                      <a:stretch>
                        <a:fillRect r="-8197" b="-14815"/>
                      </a:stretch>
                    </a:blipFill>
                  </p:spPr>
                  <p:txBody>
                    <a:bodyPr/>
                    <a:lstStyle/>
                    <a:p>
                      <a:r>
                        <a:rPr lang="en-US">
                          <a:noFill/>
                        </a:rPr>
                        <a:t> </a:t>
                      </a:r>
                    </a:p>
                  </p:txBody>
                </p:sp>
              </mc:Fallback>
            </mc:AlternateContent>
            <p:sp>
              <p:nvSpPr>
                <p:cNvPr id="64" name="TextBox 63">
                  <a:extLst>
                    <a:ext uri="{FF2B5EF4-FFF2-40B4-BE49-F238E27FC236}">
                      <a16:creationId xmlns:a16="http://schemas.microsoft.com/office/drawing/2014/main" id="{0765D9FE-767C-FFBF-7121-731D1958321F}"/>
                    </a:ext>
                  </a:extLst>
                </p:cNvPr>
                <p:cNvSpPr txBox="1"/>
                <p:nvPr/>
              </p:nvSpPr>
              <p:spPr>
                <a:xfrm>
                  <a:off x="12525540" y="8897538"/>
                  <a:ext cx="304892" cy="448922"/>
                </a:xfrm>
                <a:prstGeom prst="rect">
                  <a:avLst/>
                </a:prstGeom>
                <a:noFill/>
              </p:spPr>
              <p:txBody>
                <a:bodyPr wrap="square" rtlCol="0">
                  <a:spAutoFit/>
                </a:bodyPr>
                <a:lstStyle/>
                <a:p>
                  <a:r>
                    <a:rPr lang="en-US" sz="1600" dirty="0"/>
                    <a:t>x</a:t>
                  </a:r>
                </a:p>
              </p:txBody>
            </p:sp>
            <p:sp>
              <p:nvSpPr>
                <p:cNvPr id="65" name="TextBox 64">
                  <a:extLst>
                    <a:ext uri="{FF2B5EF4-FFF2-40B4-BE49-F238E27FC236}">
                      <a16:creationId xmlns:a16="http://schemas.microsoft.com/office/drawing/2014/main" id="{E53D823C-C881-9429-2D97-14FDBAE5BE92}"/>
                    </a:ext>
                  </a:extLst>
                </p:cNvPr>
                <p:cNvSpPr txBox="1"/>
                <p:nvPr/>
              </p:nvSpPr>
              <p:spPr>
                <a:xfrm>
                  <a:off x="13717878" y="13376209"/>
                  <a:ext cx="319317" cy="448922"/>
                </a:xfrm>
                <a:prstGeom prst="rect">
                  <a:avLst/>
                </a:prstGeom>
                <a:noFill/>
              </p:spPr>
              <p:txBody>
                <a:bodyPr wrap="square" rtlCol="0">
                  <a:spAutoFit/>
                </a:bodyPr>
                <a:lstStyle/>
                <a:p>
                  <a:r>
                    <a:rPr lang="en-US" sz="1600" dirty="0"/>
                    <a:t>E</a:t>
                  </a:r>
                </a:p>
              </p:txBody>
            </p:sp>
            <p:sp>
              <p:nvSpPr>
                <p:cNvPr id="66" name="TextBox 65">
                  <a:extLst>
                    <a:ext uri="{FF2B5EF4-FFF2-40B4-BE49-F238E27FC236}">
                      <a16:creationId xmlns:a16="http://schemas.microsoft.com/office/drawing/2014/main" id="{9BF4D0A1-3C83-F87B-9283-8CB1A831AC92}"/>
                    </a:ext>
                  </a:extLst>
                </p:cNvPr>
                <p:cNvSpPr txBox="1"/>
                <p:nvPr/>
              </p:nvSpPr>
              <p:spPr>
                <a:xfrm>
                  <a:off x="9104167" y="10412182"/>
                  <a:ext cx="319318" cy="448921"/>
                </a:xfrm>
                <a:prstGeom prst="rect">
                  <a:avLst/>
                </a:prstGeom>
                <a:noFill/>
              </p:spPr>
              <p:txBody>
                <a:bodyPr wrap="square" rtlCol="0">
                  <a:spAutoFit/>
                </a:bodyPr>
                <a:lstStyle/>
                <a:p>
                  <a:r>
                    <a:rPr lang="en-US" sz="1600" dirty="0"/>
                    <a:t>E</a:t>
                  </a:r>
                </a:p>
              </p:txBody>
            </p:sp>
            <p:sp>
              <p:nvSpPr>
                <p:cNvPr id="68" name="TextBox 67">
                  <a:extLst>
                    <a:ext uri="{FF2B5EF4-FFF2-40B4-BE49-F238E27FC236}">
                      <a16:creationId xmlns:a16="http://schemas.microsoft.com/office/drawing/2014/main" id="{D8BFB10E-398C-39C3-1D54-3052BE31241F}"/>
                    </a:ext>
                  </a:extLst>
                </p:cNvPr>
                <p:cNvSpPr txBox="1"/>
                <p:nvPr/>
              </p:nvSpPr>
              <p:spPr>
                <a:xfrm>
                  <a:off x="13818497" y="5767074"/>
                  <a:ext cx="319318" cy="448921"/>
                </a:xfrm>
                <a:prstGeom prst="rect">
                  <a:avLst/>
                </a:prstGeom>
                <a:noFill/>
              </p:spPr>
              <p:txBody>
                <a:bodyPr wrap="square" rtlCol="0">
                  <a:spAutoFit/>
                </a:bodyPr>
                <a:lstStyle/>
                <a:p>
                  <a:r>
                    <a:rPr lang="en-US" sz="1600" dirty="0"/>
                    <a:t>E</a:t>
                  </a:r>
                </a:p>
              </p:txBody>
            </p:sp>
            <p:sp>
              <p:nvSpPr>
                <p:cNvPr id="69" name="TextBox 68">
                  <a:extLst>
                    <a:ext uri="{FF2B5EF4-FFF2-40B4-BE49-F238E27FC236}">
                      <a16:creationId xmlns:a16="http://schemas.microsoft.com/office/drawing/2014/main" id="{A4B49824-1315-63D9-36A4-1F52D2ADB8C7}"/>
                    </a:ext>
                  </a:extLst>
                </p:cNvPr>
                <p:cNvSpPr txBox="1"/>
                <p:nvPr/>
              </p:nvSpPr>
              <p:spPr>
                <a:xfrm>
                  <a:off x="9104167" y="5767074"/>
                  <a:ext cx="319318" cy="448921"/>
                </a:xfrm>
                <a:prstGeom prst="rect">
                  <a:avLst/>
                </a:prstGeom>
                <a:noFill/>
              </p:spPr>
              <p:txBody>
                <a:bodyPr wrap="square" rtlCol="0">
                  <a:spAutoFit/>
                </a:bodyPr>
                <a:lstStyle/>
                <a:p>
                  <a:r>
                    <a:rPr lang="en-US" sz="1600" dirty="0"/>
                    <a:t>E</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5EA08E3-449D-19CB-A906-BA0D05FBD924}"/>
                        </a:ext>
                      </a:extLst>
                    </p:cNvPr>
                    <p:cNvSpPr txBox="1"/>
                    <p:nvPr/>
                  </p:nvSpPr>
                  <p:spPr>
                    <a:xfrm>
                      <a:off x="15300098" y="10439496"/>
                      <a:ext cx="1115244" cy="4489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oMath>
                        </m:oMathPara>
                      </a14:m>
                      <a:endParaRPr lang="en-US" sz="1600" dirty="0"/>
                    </a:p>
                  </p:txBody>
                </p:sp>
              </mc:Choice>
              <mc:Fallback xmlns="">
                <p:sp>
                  <p:nvSpPr>
                    <p:cNvPr id="70" name="TextBox 69">
                      <a:extLst>
                        <a:ext uri="{FF2B5EF4-FFF2-40B4-BE49-F238E27FC236}">
                          <a16:creationId xmlns:a16="http://schemas.microsoft.com/office/drawing/2014/main" id="{A5EA08E3-449D-19CB-A906-BA0D05FBD924}"/>
                        </a:ext>
                      </a:extLst>
                    </p:cNvPr>
                    <p:cNvSpPr txBox="1">
                      <a:spLocks noRot="1" noChangeAspect="1" noMove="1" noResize="1" noEditPoints="1" noAdjustHandles="1" noChangeArrowheads="1" noChangeShapeType="1" noTextEdit="1"/>
                    </p:cNvSpPr>
                    <p:nvPr/>
                  </p:nvSpPr>
                  <p:spPr>
                    <a:xfrm>
                      <a:off x="15300098" y="10439496"/>
                      <a:ext cx="1115244" cy="448922"/>
                    </a:xfrm>
                    <a:prstGeom prst="rect">
                      <a:avLst/>
                    </a:prstGeom>
                    <a:blipFill>
                      <a:blip r:embed="rId14"/>
                      <a:stretch>
                        <a:fillRect b="-7143"/>
                      </a:stretch>
                    </a:blipFill>
                  </p:spPr>
                  <p:txBody>
                    <a:bodyPr/>
                    <a:lstStyle/>
                    <a:p>
                      <a:r>
                        <a:rPr lang="en-US">
                          <a:noFill/>
                        </a:rPr>
                        <a:t> </a:t>
                      </a:r>
                    </a:p>
                  </p:txBody>
                </p:sp>
              </mc:Fallback>
            </mc:AlternateContent>
            <p:sp>
              <p:nvSpPr>
                <p:cNvPr id="71" name="TextBox 70">
                  <a:extLst>
                    <a:ext uri="{FF2B5EF4-FFF2-40B4-BE49-F238E27FC236}">
                      <a16:creationId xmlns:a16="http://schemas.microsoft.com/office/drawing/2014/main" id="{BD4F1AD1-1FE7-EFFF-D0DC-008E2F482835}"/>
                    </a:ext>
                  </a:extLst>
                </p:cNvPr>
                <p:cNvSpPr txBox="1"/>
                <p:nvPr/>
              </p:nvSpPr>
              <p:spPr>
                <a:xfrm>
                  <a:off x="17661054" y="13430715"/>
                  <a:ext cx="304892" cy="448922"/>
                </a:xfrm>
                <a:prstGeom prst="rect">
                  <a:avLst/>
                </a:prstGeom>
                <a:noFill/>
              </p:spPr>
              <p:txBody>
                <a:bodyPr wrap="square" rtlCol="0">
                  <a:spAutoFit/>
                </a:bodyPr>
                <a:lstStyle/>
                <a:p>
                  <a:r>
                    <a:rPr lang="en-US" sz="1600" dirty="0"/>
                    <a:t>x</a:t>
                  </a:r>
                </a:p>
              </p:txBody>
            </p:sp>
            <p:sp>
              <p:nvSpPr>
                <p:cNvPr id="73" name="TextBox 72">
                  <a:extLst>
                    <a:ext uri="{FF2B5EF4-FFF2-40B4-BE49-F238E27FC236}">
                      <a16:creationId xmlns:a16="http://schemas.microsoft.com/office/drawing/2014/main" id="{56AD9F5F-676B-824A-C6B1-2ABECE0416CA}"/>
                    </a:ext>
                  </a:extLst>
                </p:cNvPr>
                <p:cNvSpPr txBox="1"/>
                <p:nvPr/>
              </p:nvSpPr>
              <p:spPr>
                <a:xfrm>
                  <a:off x="12537627" y="13831361"/>
                  <a:ext cx="304892" cy="448922"/>
                </a:xfrm>
                <a:prstGeom prst="rect">
                  <a:avLst/>
                </a:prstGeom>
                <a:noFill/>
              </p:spPr>
              <p:txBody>
                <a:bodyPr wrap="square" rtlCol="0">
                  <a:spAutoFit/>
                </a:bodyPr>
                <a:lstStyle/>
                <a:p>
                  <a:r>
                    <a:rPr lang="en-US" sz="1600" dirty="0"/>
                    <a:t>x</a:t>
                  </a:r>
                </a:p>
              </p:txBody>
            </p:sp>
            <p:sp>
              <p:nvSpPr>
                <p:cNvPr id="74" name="TextBox 73">
                  <a:extLst>
                    <a:ext uri="{FF2B5EF4-FFF2-40B4-BE49-F238E27FC236}">
                      <a16:creationId xmlns:a16="http://schemas.microsoft.com/office/drawing/2014/main" id="{C9200641-E108-F5FD-B692-A6530328A552}"/>
                    </a:ext>
                  </a:extLst>
                </p:cNvPr>
                <p:cNvSpPr txBox="1"/>
                <p:nvPr/>
              </p:nvSpPr>
              <p:spPr>
                <a:xfrm>
                  <a:off x="17319899" y="8907398"/>
                  <a:ext cx="304892" cy="448922"/>
                </a:xfrm>
                <a:prstGeom prst="rect">
                  <a:avLst/>
                </a:prstGeom>
                <a:noFill/>
              </p:spPr>
              <p:txBody>
                <a:bodyPr wrap="square" rtlCol="0">
                  <a:spAutoFit/>
                </a:bodyPr>
                <a:lstStyle/>
                <a:p>
                  <a:r>
                    <a:rPr lang="en-US" sz="1600" dirty="0"/>
                    <a:t>x</a:t>
                  </a: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B95CCA92-59E3-7C01-3DEF-14B64A3F85C0}"/>
                        </a:ext>
                      </a:extLst>
                    </p:cNvPr>
                    <p:cNvSpPr txBox="1"/>
                    <p:nvPr/>
                  </p:nvSpPr>
                  <p:spPr>
                    <a:xfrm>
                      <a:off x="17544796" y="9675288"/>
                      <a:ext cx="1048877" cy="4489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75" name="TextBox 74">
                      <a:extLst>
                        <a:ext uri="{FF2B5EF4-FFF2-40B4-BE49-F238E27FC236}">
                          <a16:creationId xmlns:a16="http://schemas.microsoft.com/office/drawing/2014/main" id="{B95CCA92-59E3-7C01-3DEF-14B64A3F85C0}"/>
                        </a:ext>
                      </a:extLst>
                    </p:cNvPr>
                    <p:cNvSpPr txBox="1">
                      <a:spLocks noRot="1" noChangeAspect="1" noMove="1" noResize="1" noEditPoints="1" noAdjustHandles="1" noChangeArrowheads="1" noChangeShapeType="1" noTextEdit="1"/>
                    </p:cNvSpPr>
                    <p:nvPr/>
                  </p:nvSpPr>
                  <p:spPr>
                    <a:xfrm>
                      <a:off x="17544796" y="9675288"/>
                      <a:ext cx="1048877" cy="448921"/>
                    </a:xfrm>
                    <a:prstGeom prst="rect">
                      <a:avLst/>
                    </a:prstGeom>
                    <a:blipFill>
                      <a:blip r:embed="rId15"/>
                      <a:stretch>
                        <a:fillRect r="-6452"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B77F194-1BA9-9EAB-28CD-F0E2BEFE616C}"/>
                        </a:ext>
                      </a:extLst>
                    </p:cNvPr>
                    <p:cNvSpPr txBox="1"/>
                    <p:nvPr/>
                  </p:nvSpPr>
                  <p:spPr>
                    <a:xfrm>
                      <a:off x="12812274" y="9741108"/>
                      <a:ext cx="1048877" cy="4489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76" name="TextBox 75">
                      <a:extLst>
                        <a:ext uri="{FF2B5EF4-FFF2-40B4-BE49-F238E27FC236}">
                          <a16:creationId xmlns:a16="http://schemas.microsoft.com/office/drawing/2014/main" id="{1B77F194-1BA9-9EAB-28CD-F0E2BEFE616C}"/>
                        </a:ext>
                      </a:extLst>
                    </p:cNvPr>
                    <p:cNvSpPr txBox="1">
                      <a:spLocks noRot="1" noChangeAspect="1" noMove="1" noResize="1" noEditPoints="1" noAdjustHandles="1" noChangeArrowheads="1" noChangeShapeType="1" noTextEdit="1"/>
                    </p:cNvSpPr>
                    <p:nvPr/>
                  </p:nvSpPr>
                  <p:spPr>
                    <a:xfrm>
                      <a:off x="12812274" y="9741108"/>
                      <a:ext cx="1048877" cy="448921"/>
                    </a:xfrm>
                    <a:prstGeom prst="rect">
                      <a:avLst/>
                    </a:prstGeom>
                    <a:blipFill>
                      <a:blip r:embed="rId16"/>
                      <a:stretch>
                        <a:fillRect l="-1639" r="-6557" b="-148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B2C954A-3263-674D-0865-14AC9398A6FD}"/>
                      </a:ext>
                    </a:extLst>
                  </p:cNvPr>
                  <p:cNvSpPr txBox="1"/>
                  <p:nvPr/>
                </p:nvSpPr>
                <p:spPr>
                  <a:xfrm>
                    <a:off x="10272121" y="13430956"/>
                    <a:ext cx="1016193" cy="4489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54" name="TextBox 53">
                    <a:extLst>
                      <a:ext uri="{FF2B5EF4-FFF2-40B4-BE49-F238E27FC236}">
                        <a16:creationId xmlns:a16="http://schemas.microsoft.com/office/drawing/2014/main" id="{8B2C954A-3263-674D-0865-14AC9398A6FD}"/>
                      </a:ext>
                    </a:extLst>
                  </p:cNvPr>
                  <p:cNvSpPr txBox="1">
                    <a:spLocks noRot="1" noChangeAspect="1" noMove="1" noResize="1" noEditPoints="1" noAdjustHandles="1" noChangeArrowheads="1" noChangeShapeType="1" noTextEdit="1"/>
                  </p:cNvSpPr>
                  <p:nvPr/>
                </p:nvSpPr>
                <p:spPr>
                  <a:xfrm>
                    <a:off x="10272121" y="13430956"/>
                    <a:ext cx="1016193" cy="448922"/>
                  </a:xfrm>
                  <a:prstGeom prst="rect">
                    <a:avLst/>
                  </a:prstGeom>
                  <a:blipFill>
                    <a:blip r:embed="rId17"/>
                    <a:stretch>
                      <a:fillRect r="-8197" b="-10714"/>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F5F20D04-BD0B-778A-1F09-346C907502D5}"/>
                  </a:ext>
                </a:extLst>
              </p:cNvPr>
              <p:cNvSpPr txBox="1"/>
              <p:nvPr/>
            </p:nvSpPr>
            <p:spPr>
              <a:xfrm>
                <a:off x="4008338" y="13879878"/>
                <a:ext cx="4297491" cy="448921"/>
              </a:xfrm>
              <a:prstGeom prst="rect">
                <a:avLst/>
              </a:prstGeom>
              <a:noFill/>
            </p:spPr>
            <p:txBody>
              <a:bodyPr wrap="square" rtlCol="0">
                <a:spAutoFit/>
              </a:bodyPr>
              <a:lstStyle/>
              <a:p>
                <a:r>
                  <a:rPr lang="en-US" sz="1600" b="1" dirty="0"/>
                  <a:t>Figure 1: </a:t>
                </a:r>
                <a:r>
                  <a:rPr lang="en-US" sz="1600" dirty="0"/>
                  <a:t>Infinite Medium Problem</a:t>
                </a:r>
              </a:p>
            </p:txBody>
          </p:sp>
        </p:grpSp>
        <p:grpSp>
          <p:nvGrpSpPr>
            <p:cNvPr id="143" name="Group 142">
              <a:extLst>
                <a:ext uri="{FF2B5EF4-FFF2-40B4-BE49-F238E27FC236}">
                  <a16:creationId xmlns:a16="http://schemas.microsoft.com/office/drawing/2014/main" id="{B345FF1D-9C4C-AFF3-9F32-CF67B201CC1A}"/>
                </a:ext>
              </a:extLst>
            </p:cNvPr>
            <p:cNvGrpSpPr>
              <a:grpSpLocks noChangeAspect="1"/>
            </p:cNvGrpSpPr>
            <p:nvPr/>
          </p:nvGrpSpPr>
          <p:grpSpPr>
            <a:xfrm>
              <a:off x="14198981" y="16875060"/>
              <a:ext cx="7397577" cy="7562088"/>
              <a:chOff x="27375532" y="1929636"/>
              <a:chExt cx="9577090" cy="9790071"/>
            </a:xfrm>
          </p:grpSpPr>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111294D2-D5E7-E7EA-C893-EE99047CC214}"/>
                      </a:ext>
                    </a:extLst>
                  </p:cNvPr>
                  <p:cNvSpPr txBox="1"/>
                  <p:nvPr/>
                </p:nvSpPr>
                <p:spPr>
                  <a:xfrm>
                    <a:off x="31076232" y="10839742"/>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44" name="TextBox 143">
                    <a:extLst>
                      <a:ext uri="{FF2B5EF4-FFF2-40B4-BE49-F238E27FC236}">
                        <a16:creationId xmlns:a16="http://schemas.microsoft.com/office/drawing/2014/main" id="{111294D2-D5E7-E7EA-C893-EE99047CC214}"/>
                      </a:ext>
                    </a:extLst>
                  </p:cNvPr>
                  <p:cNvSpPr txBox="1">
                    <a:spLocks noRot="1" noChangeAspect="1" noMove="1" noResize="1" noEditPoints="1" noAdjustHandles="1" noChangeArrowheads="1" noChangeShapeType="1" noTextEdit="1"/>
                  </p:cNvSpPr>
                  <p:nvPr/>
                </p:nvSpPr>
                <p:spPr>
                  <a:xfrm>
                    <a:off x="31076232" y="10839742"/>
                    <a:ext cx="1026117" cy="439681"/>
                  </a:xfrm>
                  <a:prstGeom prst="rect">
                    <a:avLst/>
                  </a:prstGeom>
                  <a:blipFill>
                    <a:blip r:embed="rId18"/>
                    <a:stretch>
                      <a:fillRect r="-4762" b="-10714"/>
                    </a:stretch>
                  </a:blipFill>
                </p:spPr>
                <p:txBody>
                  <a:bodyPr/>
                  <a:lstStyle/>
                  <a:p>
                    <a:r>
                      <a:rPr lang="en-US">
                        <a:noFill/>
                      </a:rPr>
                      <a:t> </a:t>
                    </a:r>
                  </a:p>
                </p:txBody>
              </p:sp>
            </mc:Fallback>
          </mc:AlternateContent>
          <p:grpSp>
            <p:nvGrpSpPr>
              <p:cNvPr id="145" name="Group 144">
                <a:extLst>
                  <a:ext uri="{FF2B5EF4-FFF2-40B4-BE49-F238E27FC236}">
                    <a16:creationId xmlns:a16="http://schemas.microsoft.com/office/drawing/2014/main" id="{CF22AB37-06B7-3F43-A58F-2DBBFDC4051F}"/>
                  </a:ext>
                </a:extLst>
              </p:cNvPr>
              <p:cNvGrpSpPr/>
              <p:nvPr/>
            </p:nvGrpSpPr>
            <p:grpSpPr>
              <a:xfrm>
                <a:off x="27375532" y="1929636"/>
                <a:ext cx="9577090" cy="9140873"/>
                <a:chOff x="27375532" y="1929636"/>
                <a:chExt cx="9577090" cy="9140873"/>
              </a:xfrm>
            </p:grpSpPr>
            <p:pic>
              <p:nvPicPr>
                <p:cNvPr id="147" name="Picture 146" descr="A colorful grid with black lines&#10;&#10;AI-generated content may be incorrect.">
                  <a:extLst>
                    <a:ext uri="{FF2B5EF4-FFF2-40B4-BE49-F238E27FC236}">
                      <a16:creationId xmlns:a16="http://schemas.microsoft.com/office/drawing/2014/main" id="{C1463980-9626-AAF1-0683-53247061F41E}"/>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2160309" y="6778588"/>
                  <a:ext cx="4688324" cy="4014215"/>
                </a:xfrm>
                <a:prstGeom prst="rect">
                  <a:avLst/>
                </a:prstGeom>
              </p:spPr>
            </p:pic>
            <p:sp>
              <p:nvSpPr>
                <p:cNvPr id="148" name="TextBox 147">
                  <a:extLst>
                    <a:ext uri="{FF2B5EF4-FFF2-40B4-BE49-F238E27FC236}">
                      <a16:creationId xmlns:a16="http://schemas.microsoft.com/office/drawing/2014/main" id="{FBEB4DE3-B6F6-1FC2-EAFC-EC2E278CCA00}"/>
                    </a:ext>
                  </a:extLst>
                </p:cNvPr>
                <p:cNvSpPr txBox="1"/>
                <p:nvPr/>
              </p:nvSpPr>
              <p:spPr>
                <a:xfrm>
                  <a:off x="35960748" y="9392294"/>
                  <a:ext cx="369638" cy="438087"/>
                </a:xfrm>
                <a:prstGeom prst="rect">
                  <a:avLst/>
                </a:prstGeom>
                <a:noFill/>
              </p:spPr>
              <p:txBody>
                <a:bodyPr wrap="none" rtlCol="0">
                  <a:spAutoFit/>
                </a:bodyPr>
                <a:lstStyle/>
                <a:p>
                  <a:r>
                    <a:rPr lang="en-US" sz="1600" dirty="0"/>
                    <a:t>E</a:t>
                  </a:r>
                </a:p>
              </p:txBody>
            </p:sp>
            <p:pic>
              <p:nvPicPr>
                <p:cNvPr id="149" name="Picture 148" descr="A chart of different colors&#10;&#10;AI-generated content may be incorrect.">
                  <a:extLst>
                    <a:ext uri="{FF2B5EF4-FFF2-40B4-BE49-F238E27FC236}">
                      <a16:creationId xmlns:a16="http://schemas.microsoft.com/office/drawing/2014/main" id="{73AEDCE4-EECB-3D5E-418A-2F3BA73A38F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2247647" y="1929637"/>
                  <a:ext cx="4435968" cy="4302056"/>
                </a:xfrm>
                <a:prstGeom prst="rect">
                  <a:avLst/>
                </a:prstGeom>
              </p:spPr>
            </p:pic>
            <p:pic>
              <p:nvPicPr>
                <p:cNvPr id="150" name="Picture 149" descr="A chart of different colors&#10;&#10;AI-generated content may be incorrect.">
                  <a:extLst>
                    <a:ext uri="{FF2B5EF4-FFF2-40B4-BE49-F238E27FC236}">
                      <a16:creationId xmlns:a16="http://schemas.microsoft.com/office/drawing/2014/main" id="{D77E99A5-A73D-10ED-FB10-40504F2BE124}"/>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577889" y="1929636"/>
                  <a:ext cx="4524460" cy="4315968"/>
                </a:xfrm>
                <a:prstGeom prst="rect">
                  <a:avLst/>
                </a:prstGeom>
              </p:spPr>
            </p:pic>
            <p:pic>
              <p:nvPicPr>
                <p:cNvPr id="151" name="Picture 150" descr="A chart of different colors&#10;&#10;AI-generated content may be incorrect.">
                  <a:extLst>
                    <a:ext uri="{FF2B5EF4-FFF2-40B4-BE49-F238E27FC236}">
                      <a16:creationId xmlns:a16="http://schemas.microsoft.com/office/drawing/2014/main" id="{9C7A041F-E4A8-D40E-4FE8-63E9035E9E4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540719" y="6527774"/>
                  <a:ext cx="4540518" cy="4315968"/>
                </a:xfrm>
                <a:prstGeom prst="rect">
                  <a:avLst/>
                </a:prstGeom>
              </p:spPr>
            </p:pic>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5E4BB174-E39E-5026-A9E0-D481CC5679FD}"/>
                        </a:ext>
                      </a:extLst>
                    </p:cNvPr>
                    <p:cNvSpPr txBox="1"/>
                    <p:nvPr/>
                  </p:nvSpPr>
                  <p:spPr>
                    <a:xfrm>
                      <a:off x="27783181" y="5727238"/>
                      <a:ext cx="3003764" cy="4383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52" name="TextBox 151">
                      <a:extLst>
                        <a:ext uri="{FF2B5EF4-FFF2-40B4-BE49-F238E27FC236}">
                          <a16:creationId xmlns:a16="http://schemas.microsoft.com/office/drawing/2014/main" id="{5E4BB174-E39E-5026-A9E0-D481CC5679FD}"/>
                        </a:ext>
                      </a:extLst>
                    </p:cNvPr>
                    <p:cNvSpPr txBox="1">
                      <a:spLocks noRot="1" noChangeAspect="1" noMove="1" noResize="1" noEditPoints="1" noAdjustHandles="1" noChangeArrowheads="1" noChangeShapeType="1" noTextEdit="1"/>
                    </p:cNvSpPr>
                    <p:nvPr/>
                  </p:nvSpPr>
                  <p:spPr>
                    <a:xfrm>
                      <a:off x="27783181" y="5727238"/>
                      <a:ext cx="3003764" cy="438301"/>
                    </a:xfrm>
                    <a:prstGeom prst="rect">
                      <a:avLst/>
                    </a:prstGeom>
                    <a:blipFill>
                      <a:blip r:embed="rId23"/>
                      <a:stretch>
                        <a:fillRect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2F26D1D7-0A7B-3BE3-4F2E-C3B3CF6646B3}"/>
                        </a:ext>
                      </a:extLst>
                    </p:cNvPr>
                    <p:cNvSpPr txBox="1"/>
                    <p:nvPr/>
                  </p:nvSpPr>
                  <p:spPr>
                    <a:xfrm>
                      <a:off x="32391778" y="5725168"/>
                      <a:ext cx="3223645"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𝜓</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𝐸</m:t>
                            </m:r>
                            <m:r>
                              <a:rPr lang="en-US" sz="1600" i="1">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53" name="TextBox 152">
                      <a:extLst>
                        <a:ext uri="{FF2B5EF4-FFF2-40B4-BE49-F238E27FC236}">
                          <a16:creationId xmlns:a16="http://schemas.microsoft.com/office/drawing/2014/main" id="{2F26D1D7-0A7B-3BE3-4F2E-C3B3CF6646B3}"/>
                        </a:ext>
                      </a:extLst>
                    </p:cNvPr>
                    <p:cNvSpPr txBox="1">
                      <a:spLocks noRot="1" noChangeAspect="1" noMove="1" noResize="1" noEditPoints="1" noAdjustHandles="1" noChangeArrowheads="1" noChangeShapeType="1" noTextEdit="1"/>
                    </p:cNvSpPr>
                    <p:nvPr/>
                  </p:nvSpPr>
                  <p:spPr>
                    <a:xfrm>
                      <a:off x="32391778" y="5725168"/>
                      <a:ext cx="3223645" cy="439681"/>
                    </a:xfrm>
                    <a:prstGeom prst="rect">
                      <a:avLst/>
                    </a:prstGeom>
                    <a:blipFill>
                      <a:blip r:embed="rId24"/>
                      <a:stretch>
                        <a:fillRect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0F62410F-7167-4935-8603-1AA2D1209EAB}"/>
                        </a:ext>
                      </a:extLst>
                    </p:cNvPr>
                    <p:cNvSpPr txBox="1"/>
                    <p:nvPr/>
                  </p:nvSpPr>
                  <p:spPr>
                    <a:xfrm>
                      <a:off x="35803192" y="6222077"/>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54" name="TextBox 153">
                      <a:extLst>
                        <a:ext uri="{FF2B5EF4-FFF2-40B4-BE49-F238E27FC236}">
                          <a16:creationId xmlns:a16="http://schemas.microsoft.com/office/drawing/2014/main" id="{0F62410F-7167-4935-8603-1AA2D1209EAB}"/>
                        </a:ext>
                      </a:extLst>
                    </p:cNvPr>
                    <p:cNvSpPr txBox="1">
                      <a:spLocks noRot="1" noChangeAspect="1" noMove="1" noResize="1" noEditPoints="1" noAdjustHandles="1" noChangeArrowheads="1" noChangeShapeType="1" noTextEdit="1"/>
                    </p:cNvSpPr>
                    <p:nvPr/>
                  </p:nvSpPr>
                  <p:spPr>
                    <a:xfrm>
                      <a:off x="35803192" y="6222077"/>
                      <a:ext cx="1149430" cy="439681"/>
                    </a:xfrm>
                    <a:prstGeom prst="rect">
                      <a:avLst/>
                    </a:prstGeom>
                    <a:blipFill>
                      <a:blip r:embed="rId25"/>
                      <a:stretch>
                        <a:fillRect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7741173E-6A2E-B713-152F-FBAEB1BA7981}"/>
                        </a:ext>
                      </a:extLst>
                    </p:cNvPr>
                    <p:cNvSpPr txBox="1"/>
                    <p:nvPr/>
                  </p:nvSpPr>
                  <p:spPr>
                    <a:xfrm>
                      <a:off x="31037888" y="6184634"/>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55" name="TextBox 154">
                      <a:extLst>
                        <a:ext uri="{FF2B5EF4-FFF2-40B4-BE49-F238E27FC236}">
                          <a16:creationId xmlns:a16="http://schemas.microsoft.com/office/drawing/2014/main" id="{7741173E-6A2E-B713-152F-FBAEB1BA7981}"/>
                        </a:ext>
                      </a:extLst>
                    </p:cNvPr>
                    <p:cNvSpPr txBox="1">
                      <a:spLocks noRot="1" noChangeAspect="1" noMove="1" noResize="1" noEditPoints="1" noAdjustHandles="1" noChangeArrowheads="1" noChangeShapeType="1" noTextEdit="1"/>
                    </p:cNvSpPr>
                    <p:nvPr/>
                  </p:nvSpPr>
                  <p:spPr>
                    <a:xfrm>
                      <a:off x="31037888" y="6184634"/>
                      <a:ext cx="1149430" cy="439681"/>
                    </a:xfrm>
                    <a:prstGeom prst="rect">
                      <a:avLst/>
                    </a:prstGeom>
                    <a:blipFill>
                      <a:blip r:embed="rId26"/>
                      <a:stretch>
                        <a:fillRect b="-10714"/>
                      </a:stretch>
                    </a:blipFill>
                  </p:spPr>
                  <p:txBody>
                    <a:bodyPr/>
                    <a:lstStyle/>
                    <a:p>
                      <a:r>
                        <a:rPr lang="en-US">
                          <a:noFill/>
                        </a:rPr>
                        <a:t> </a:t>
                      </a:r>
                    </a:p>
                  </p:txBody>
                </p:sp>
              </mc:Fallback>
            </mc:AlternateContent>
            <p:sp>
              <p:nvSpPr>
                <p:cNvPr id="156" name="TextBox 155">
                  <a:extLst>
                    <a:ext uri="{FF2B5EF4-FFF2-40B4-BE49-F238E27FC236}">
                      <a16:creationId xmlns:a16="http://schemas.microsoft.com/office/drawing/2014/main" id="{A4E4031B-0F99-9484-4467-8B42722EC898}"/>
                    </a:ext>
                  </a:extLst>
                </p:cNvPr>
                <p:cNvSpPr txBox="1"/>
                <p:nvPr/>
              </p:nvSpPr>
              <p:spPr>
                <a:xfrm>
                  <a:off x="35370402" y="5450062"/>
                  <a:ext cx="353043" cy="438088"/>
                </a:xfrm>
                <a:prstGeom prst="rect">
                  <a:avLst/>
                </a:prstGeom>
                <a:noFill/>
              </p:spPr>
              <p:txBody>
                <a:bodyPr wrap="none" rtlCol="0">
                  <a:spAutoFit/>
                </a:bodyPr>
                <a:lstStyle/>
                <a:p>
                  <a:r>
                    <a:rPr lang="en-US" sz="1600" dirty="0"/>
                    <a:t>x</a:t>
                  </a:r>
                </a:p>
              </p:txBody>
            </p:sp>
            <p:sp>
              <p:nvSpPr>
                <p:cNvPr id="157" name="TextBox 156">
                  <a:extLst>
                    <a:ext uri="{FF2B5EF4-FFF2-40B4-BE49-F238E27FC236}">
                      <a16:creationId xmlns:a16="http://schemas.microsoft.com/office/drawing/2014/main" id="{C7CA21EF-9C8D-354F-B07B-6094A28850AD}"/>
                    </a:ext>
                  </a:extLst>
                </p:cNvPr>
                <p:cNvSpPr txBox="1"/>
                <p:nvPr/>
              </p:nvSpPr>
              <p:spPr>
                <a:xfrm>
                  <a:off x="30723190" y="5507415"/>
                  <a:ext cx="353043" cy="438088"/>
                </a:xfrm>
                <a:prstGeom prst="rect">
                  <a:avLst/>
                </a:prstGeom>
                <a:noFill/>
              </p:spPr>
              <p:txBody>
                <a:bodyPr wrap="none" rtlCol="0">
                  <a:spAutoFit/>
                </a:bodyPr>
                <a:lstStyle/>
                <a:p>
                  <a:r>
                    <a:rPr lang="en-US" sz="1600" dirty="0"/>
                    <a:t>x</a:t>
                  </a:r>
                </a:p>
              </p:txBody>
            </p:sp>
            <p:sp>
              <p:nvSpPr>
                <p:cNvPr id="158" name="TextBox 157">
                  <a:extLst>
                    <a:ext uri="{FF2B5EF4-FFF2-40B4-BE49-F238E27FC236}">
                      <a16:creationId xmlns:a16="http://schemas.microsoft.com/office/drawing/2014/main" id="{4EECDF04-DD1B-25A3-8AD4-60AA75432A51}"/>
                    </a:ext>
                  </a:extLst>
                </p:cNvPr>
                <p:cNvSpPr txBox="1"/>
                <p:nvPr/>
              </p:nvSpPr>
              <p:spPr>
                <a:xfrm>
                  <a:off x="31227051" y="9692942"/>
                  <a:ext cx="353043" cy="438087"/>
                </a:xfrm>
                <a:prstGeom prst="rect">
                  <a:avLst/>
                </a:prstGeom>
                <a:noFill/>
              </p:spPr>
              <p:txBody>
                <a:bodyPr wrap="none" rtlCol="0">
                  <a:spAutoFit/>
                </a:bodyPr>
                <a:lstStyle/>
                <a:p>
                  <a:r>
                    <a:rPr lang="en-US" sz="1600" dirty="0"/>
                    <a:t>x</a:t>
                  </a:r>
                </a:p>
              </p:txBody>
            </p:sp>
            <p:sp>
              <p:nvSpPr>
                <p:cNvPr id="159" name="TextBox 158">
                  <a:extLst>
                    <a:ext uri="{FF2B5EF4-FFF2-40B4-BE49-F238E27FC236}">
                      <a16:creationId xmlns:a16="http://schemas.microsoft.com/office/drawing/2014/main" id="{C37FE0C9-9669-2237-6F60-356C5B1463E4}"/>
                    </a:ext>
                  </a:extLst>
                </p:cNvPr>
                <p:cNvSpPr txBox="1"/>
                <p:nvPr/>
              </p:nvSpPr>
              <p:spPr>
                <a:xfrm>
                  <a:off x="32102348" y="2236851"/>
                  <a:ext cx="369638" cy="438087"/>
                </a:xfrm>
                <a:prstGeom prst="rect">
                  <a:avLst/>
                </a:prstGeom>
                <a:noFill/>
              </p:spPr>
              <p:txBody>
                <a:bodyPr wrap="none" rtlCol="0">
                  <a:spAutoFit/>
                </a:bodyPr>
                <a:lstStyle/>
                <a:p>
                  <a:r>
                    <a:rPr lang="en-US" sz="1600" dirty="0"/>
                    <a:t>E</a:t>
                  </a:r>
                </a:p>
              </p:txBody>
            </p:sp>
            <p:sp>
              <p:nvSpPr>
                <p:cNvPr id="160" name="TextBox 159">
                  <a:extLst>
                    <a:ext uri="{FF2B5EF4-FFF2-40B4-BE49-F238E27FC236}">
                      <a16:creationId xmlns:a16="http://schemas.microsoft.com/office/drawing/2014/main" id="{450CFAB8-21A3-0ADC-76D1-3AAA5ABF9296}"/>
                    </a:ext>
                  </a:extLst>
                </p:cNvPr>
                <p:cNvSpPr txBox="1"/>
                <p:nvPr/>
              </p:nvSpPr>
              <p:spPr>
                <a:xfrm>
                  <a:off x="27500687" y="2236851"/>
                  <a:ext cx="369638" cy="438087"/>
                </a:xfrm>
                <a:prstGeom prst="rect">
                  <a:avLst/>
                </a:prstGeom>
                <a:noFill/>
              </p:spPr>
              <p:txBody>
                <a:bodyPr wrap="none" rtlCol="0">
                  <a:spAutoFit/>
                </a:bodyPr>
                <a:lstStyle/>
                <a:p>
                  <a:r>
                    <a:rPr lang="en-US" sz="1600" dirty="0"/>
                    <a:t>E</a:t>
                  </a:r>
                </a:p>
              </p:txBody>
            </p:sp>
            <p:sp>
              <p:nvSpPr>
                <p:cNvPr id="161" name="TextBox 160">
                  <a:extLst>
                    <a:ext uri="{FF2B5EF4-FFF2-40B4-BE49-F238E27FC236}">
                      <a16:creationId xmlns:a16="http://schemas.microsoft.com/office/drawing/2014/main" id="{468477DC-3EEF-48D4-2E7A-DB6D7CFA2A1F}"/>
                    </a:ext>
                  </a:extLst>
                </p:cNvPr>
                <p:cNvSpPr txBox="1"/>
                <p:nvPr/>
              </p:nvSpPr>
              <p:spPr>
                <a:xfrm>
                  <a:off x="27375532" y="6778587"/>
                  <a:ext cx="369638" cy="438087"/>
                </a:xfrm>
                <a:prstGeom prst="rect">
                  <a:avLst/>
                </a:prstGeom>
                <a:noFill/>
              </p:spPr>
              <p:txBody>
                <a:bodyPr wrap="none" rtlCol="0">
                  <a:spAutoFit/>
                </a:bodyPr>
                <a:lstStyle/>
                <a:p>
                  <a:r>
                    <a:rPr lang="en-US" sz="1600" dirty="0"/>
                    <a:t>E</a:t>
                  </a:r>
                </a:p>
              </p:txBody>
            </p:sp>
            <p:sp>
              <p:nvSpPr>
                <p:cNvPr id="162" name="TextBox 161">
                  <a:extLst>
                    <a:ext uri="{FF2B5EF4-FFF2-40B4-BE49-F238E27FC236}">
                      <a16:creationId xmlns:a16="http://schemas.microsoft.com/office/drawing/2014/main" id="{08F9491C-6C5C-67AA-6041-AC789EB9B596}"/>
                    </a:ext>
                  </a:extLst>
                </p:cNvPr>
                <p:cNvSpPr txBox="1"/>
                <p:nvPr/>
              </p:nvSpPr>
              <p:spPr>
                <a:xfrm>
                  <a:off x="34462787" y="10257569"/>
                  <a:ext cx="353043" cy="438087"/>
                </a:xfrm>
                <a:prstGeom prst="rect">
                  <a:avLst/>
                </a:prstGeom>
                <a:noFill/>
              </p:spPr>
              <p:txBody>
                <a:bodyPr wrap="none" rtlCol="0">
                  <a:spAutoFit/>
                </a:bodyPr>
                <a:lstStyle/>
                <a:p>
                  <a:r>
                    <a:rPr lang="en-US" sz="1600" dirty="0"/>
                    <a:t>x</a:t>
                  </a:r>
                </a:p>
              </p:txBody>
            </p:sp>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494630E6-B96F-CA9C-CDCB-2855C2900C7A}"/>
                        </a:ext>
                      </a:extLst>
                    </p:cNvPr>
                    <p:cNvSpPr txBox="1"/>
                    <p:nvPr/>
                  </p:nvSpPr>
                  <p:spPr>
                    <a:xfrm>
                      <a:off x="33602201" y="6622187"/>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oMath>
                        </m:oMathPara>
                      </a14:m>
                      <a:endParaRPr lang="en-US" sz="1600" dirty="0"/>
                    </a:p>
                  </p:txBody>
                </p:sp>
              </mc:Choice>
              <mc:Fallback xmlns="">
                <p:sp>
                  <p:nvSpPr>
                    <p:cNvPr id="163" name="TextBox 162">
                      <a:extLst>
                        <a:ext uri="{FF2B5EF4-FFF2-40B4-BE49-F238E27FC236}">
                          <a16:creationId xmlns:a16="http://schemas.microsoft.com/office/drawing/2014/main" id="{494630E6-B96F-CA9C-CDCB-2855C2900C7A}"/>
                        </a:ext>
                      </a:extLst>
                    </p:cNvPr>
                    <p:cNvSpPr txBox="1">
                      <a:spLocks noRot="1" noChangeAspect="1" noMove="1" noResize="1" noEditPoints="1" noAdjustHandles="1" noChangeArrowheads="1" noChangeShapeType="1" noTextEdit="1"/>
                    </p:cNvSpPr>
                    <p:nvPr/>
                  </p:nvSpPr>
                  <p:spPr>
                    <a:xfrm>
                      <a:off x="33602201" y="6622187"/>
                      <a:ext cx="1026117" cy="439681"/>
                    </a:xfrm>
                    <a:prstGeom prst="rect">
                      <a:avLst/>
                    </a:prstGeom>
                    <a:blipFill>
                      <a:blip r:embed="rId2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C8E12D7D-46F4-E531-A122-AF0E0942D412}"/>
                        </a:ext>
                      </a:extLst>
                    </p:cNvPr>
                    <p:cNvSpPr txBox="1"/>
                    <p:nvPr/>
                  </p:nvSpPr>
                  <p:spPr>
                    <a:xfrm>
                      <a:off x="35778621" y="10630828"/>
                      <a:ext cx="1016194"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64" name="TextBox 163">
                      <a:extLst>
                        <a:ext uri="{FF2B5EF4-FFF2-40B4-BE49-F238E27FC236}">
                          <a16:creationId xmlns:a16="http://schemas.microsoft.com/office/drawing/2014/main" id="{C8E12D7D-46F4-E531-A122-AF0E0942D412}"/>
                        </a:ext>
                      </a:extLst>
                    </p:cNvPr>
                    <p:cNvSpPr txBox="1">
                      <a:spLocks noRot="1" noChangeAspect="1" noMove="1" noResize="1" noEditPoints="1" noAdjustHandles="1" noChangeArrowheads="1" noChangeShapeType="1" noTextEdit="1"/>
                    </p:cNvSpPr>
                    <p:nvPr/>
                  </p:nvSpPr>
                  <p:spPr>
                    <a:xfrm>
                      <a:off x="35778621" y="10630828"/>
                      <a:ext cx="1016194" cy="439681"/>
                    </a:xfrm>
                    <a:prstGeom prst="rect">
                      <a:avLst/>
                    </a:prstGeom>
                    <a:blipFill>
                      <a:blip r:embed="rId28"/>
                      <a:stretch>
                        <a:fillRect r="-4762" b="-14286"/>
                      </a:stretch>
                    </a:blipFill>
                  </p:spPr>
                  <p:txBody>
                    <a:bodyPr/>
                    <a:lstStyle/>
                    <a:p>
                      <a:r>
                        <a:rPr lang="en-US">
                          <a:noFill/>
                        </a:rPr>
                        <a:t> </a:t>
                      </a:r>
                    </a:p>
                  </p:txBody>
                </p:sp>
              </mc:Fallback>
            </mc:AlternateContent>
          </p:grpSp>
          <p:sp>
            <p:nvSpPr>
              <p:cNvPr id="146" name="TextBox 145">
                <a:extLst>
                  <a:ext uri="{FF2B5EF4-FFF2-40B4-BE49-F238E27FC236}">
                    <a16:creationId xmlns:a16="http://schemas.microsoft.com/office/drawing/2014/main" id="{427FBA2A-18CB-94D3-DD86-B8AB57331620}"/>
                  </a:ext>
                </a:extLst>
              </p:cNvPr>
              <p:cNvSpPr txBox="1"/>
              <p:nvPr/>
            </p:nvSpPr>
            <p:spPr>
              <a:xfrm>
                <a:off x="29953603" y="11280026"/>
                <a:ext cx="4297491" cy="439681"/>
              </a:xfrm>
              <a:prstGeom prst="rect">
                <a:avLst/>
              </a:prstGeom>
              <a:noFill/>
            </p:spPr>
            <p:txBody>
              <a:bodyPr wrap="square" rtlCol="0">
                <a:spAutoFit/>
              </a:bodyPr>
              <a:lstStyle/>
              <a:p>
                <a:r>
                  <a:rPr lang="en-US" sz="1600" b="1" dirty="0"/>
                  <a:t>Figure 3: </a:t>
                </a:r>
                <a:r>
                  <a:rPr lang="en-US" sz="1600" dirty="0"/>
                  <a:t>E-dependent MMS</a:t>
                </a:r>
              </a:p>
            </p:txBody>
          </p:sp>
        </p:grpSp>
        <p:grpSp>
          <p:nvGrpSpPr>
            <p:cNvPr id="80" name="Group 79">
              <a:extLst>
                <a:ext uri="{FF2B5EF4-FFF2-40B4-BE49-F238E27FC236}">
                  <a16:creationId xmlns:a16="http://schemas.microsoft.com/office/drawing/2014/main" id="{47654E1B-AA2E-3274-8138-E27F53148703}"/>
                </a:ext>
              </a:extLst>
            </p:cNvPr>
            <p:cNvGrpSpPr/>
            <p:nvPr/>
          </p:nvGrpSpPr>
          <p:grpSpPr>
            <a:xfrm>
              <a:off x="17138615" y="7854085"/>
              <a:ext cx="8915888" cy="1161086"/>
              <a:chOff x="1819746" y="9078105"/>
              <a:chExt cx="8685548" cy="919077"/>
            </a:xfrm>
          </p:grpSpPr>
          <p:sp>
            <p:nvSpPr>
              <p:cNvPr id="81" name="TextBox 80">
                <a:extLst>
                  <a:ext uri="{FF2B5EF4-FFF2-40B4-BE49-F238E27FC236}">
                    <a16:creationId xmlns:a16="http://schemas.microsoft.com/office/drawing/2014/main" id="{3ABA55DF-62E0-3582-B339-671A14339C98}"/>
                  </a:ext>
                </a:extLst>
              </p:cNvPr>
              <p:cNvSpPr txBox="1"/>
              <p:nvPr/>
            </p:nvSpPr>
            <p:spPr>
              <a:xfrm>
                <a:off x="4671346" y="9078105"/>
                <a:ext cx="3657600" cy="730877"/>
              </a:xfrm>
              <a:prstGeom prst="rect">
                <a:avLst/>
              </a:prstGeom>
              <a:noFill/>
              <a:ln>
                <a:noFill/>
              </a:ln>
            </p:spPr>
            <p:txBody>
              <a:bodyPr wrap="square" rtlCol="0">
                <a:spAutoFit/>
              </a:bodyPr>
              <a:lstStyle/>
              <a:p>
                <a:pPr algn="ctr"/>
                <a:r>
                  <a:rPr lang="en-US" sz="5400" b="1" dirty="0">
                    <a:solidFill>
                      <a:srgbClr val="F1491C"/>
                    </a:solidFill>
                    <a:latin typeface="Arial" panose="020B0604020202020204" pitchFamily="34" charset="0"/>
                    <a:cs typeface="Arial" panose="020B0604020202020204" pitchFamily="34" charset="0"/>
                  </a:rPr>
                  <a:t>Results</a:t>
                </a:r>
                <a:endParaRPr lang="en-US" sz="4800" b="1" dirty="0">
                  <a:solidFill>
                    <a:srgbClr val="F1491C"/>
                  </a:solidFill>
                  <a:latin typeface="Arial" panose="020B0604020202020204" pitchFamily="34" charset="0"/>
                  <a:cs typeface="Arial" panose="020B0604020202020204" pitchFamily="34" charset="0"/>
                </a:endParaRPr>
              </a:p>
            </p:txBody>
          </p:sp>
          <p:cxnSp>
            <p:nvCxnSpPr>
              <p:cNvPr id="83" name="Straight Connector 82">
                <a:extLst>
                  <a:ext uri="{FF2B5EF4-FFF2-40B4-BE49-F238E27FC236}">
                    <a16:creationId xmlns:a16="http://schemas.microsoft.com/office/drawing/2014/main" id="{57D7D1AC-2E46-6546-3368-C5F0ECE6528B}"/>
                  </a:ext>
                </a:extLst>
              </p:cNvPr>
              <p:cNvCxnSpPr>
                <a:cxnSpLocks/>
              </p:cNvCxnSpPr>
              <p:nvPr/>
            </p:nvCxnSpPr>
            <p:spPr>
              <a:xfrm>
                <a:off x="1819746" y="9997182"/>
                <a:ext cx="8685548" cy="0"/>
              </a:xfrm>
              <a:prstGeom prst="line">
                <a:avLst/>
              </a:prstGeom>
              <a:ln w="88900">
                <a:gradFill flip="none" rotWithShape="1">
                  <a:gsLst>
                    <a:gs pos="12000">
                      <a:schemeClr val="accent3"/>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EDC9B3F6-5A80-E2E7-BBEA-59326264ECEC}"/>
                </a:ext>
              </a:extLst>
            </p:cNvPr>
            <p:cNvGrpSpPr>
              <a:grpSpLocks noChangeAspect="1"/>
            </p:cNvGrpSpPr>
            <p:nvPr/>
          </p:nvGrpSpPr>
          <p:grpSpPr>
            <a:xfrm>
              <a:off x="22311239" y="16875060"/>
              <a:ext cx="7324115" cy="7562088"/>
              <a:chOff x="12460606" y="18783411"/>
              <a:chExt cx="9601043" cy="9912996"/>
            </a:xfrm>
          </p:grpSpPr>
          <p:grpSp>
            <p:nvGrpSpPr>
              <p:cNvPr id="84" name="Group 83">
                <a:extLst>
                  <a:ext uri="{FF2B5EF4-FFF2-40B4-BE49-F238E27FC236}">
                    <a16:creationId xmlns:a16="http://schemas.microsoft.com/office/drawing/2014/main" id="{55694347-01B7-1812-5625-A905D951381A}"/>
                  </a:ext>
                </a:extLst>
              </p:cNvPr>
              <p:cNvGrpSpPr/>
              <p:nvPr/>
            </p:nvGrpSpPr>
            <p:grpSpPr>
              <a:xfrm>
                <a:off x="12460606" y="18783411"/>
                <a:ext cx="9601043" cy="9315005"/>
                <a:chOff x="1899279" y="11786692"/>
                <a:chExt cx="9601043" cy="9315005"/>
              </a:xfrm>
            </p:grpSpPr>
            <p:pic>
              <p:nvPicPr>
                <p:cNvPr id="88" name="Picture 87" descr="A diagram of a prism&#10;&#10;AI-generated content may be incorrect.">
                  <a:extLst>
                    <a:ext uri="{FF2B5EF4-FFF2-40B4-BE49-F238E27FC236}">
                      <a16:creationId xmlns:a16="http://schemas.microsoft.com/office/drawing/2014/main" id="{90014E4D-93A8-E43F-EF71-B4B7BE4D073C}"/>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6863002" y="16594172"/>
                  <a:ext cx="4507167" cy="3967439"/>
                </a:xfrm>
                <a:prstGeom prst="rect">
                  <a:avLst/>
                </a:prstGeom>
              </p:spPr>
            </p:pic>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A4244283-3837-2297-4E63-0B0A52FC85FE}"/>
                        </a:ext>
                      </a:extLst>
                    </p:cNvPr>
                    <p:cNvSpPr txBox="1"/>
                    <p:nvPr/>
                  </p:nvSpPr>
                  <p:spPr>
                    <a:xfrm>
                      <a:off x="9890757" y="17090656"/>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oMath>
                        </m:oMathPara>
                      </a14:m>
                      <a:endParaRPr lang="en-US" sz="1600" dirty="0"/>
                    </a:p>
                  </p:txBody>
                </p:sp>
              </mc:Choice>
              <mc:Fallback xmlns="">
                <p:sp>
                  <p:nvSpPr>
                    <p:cNvPr id="89" name="TextBox 88">
                      <a:extLst>
                        <a:ext uri="{FF2B5EF4-FFF2-40B4-BE49-F238E27FC236}">
                          <a16:creationId xmlns:a16="http://schemas.microsoft.com/office/drawing/2014/main" id="{A4244283-3837-2297-4E63-0B0A52FC85FE}"/>
                        </a:ext>
                      </a:extLst>
                    </p:cNvPr>
                    <p:cNvSpPr txBox="1">
                      <a:spLocks noRot="1" noChangeAspect="1" noMove="1" noResize="1" noEditPoints="1" noAdjustHandles="1" noChangeArrowheads="1" noChangeShapeType="1" noTextEdit="1"/>
                    </p:cNvSpPr>
                    <p:nvPr/>
                  </p:nvSpPr>
                  <p:spPr>
                    <a:xfrm>
                      <a:off x="9890757" y="17090656"/>
                      <a:ext cx="1026117" cy="439681"/>
                    </a:xfrm>
                    <a:prstGeom prst="rect">
                      <a:avLst/>
                    </a:prstGeom>
                    <a:blipFill>
                      <a:blip r:embed="rId30"/>
                      <a:stretch>
                        <a:fillRect b="-11111"/>
                      </a:stretch>
                    </a:blipFill>
                  </p:spPr>
                  <p:txBody>
                    <a:bodyPr/>
                    <a:lstStyle/>
                    <a:p>
                      <a:r>
                        <a:rPr lang="en-US">
                          <a:noFill/>
                        </a:rPr>
                        <a:t> </a:t>
                      </a:r>
                    </a:p>
                  </p:txBody>
                </p:sp>
              </mc:Fallback>
            </mc:AlternateContent>
            <p:sp>
              <p:nvSpPr>
                <p:cNvPr id="90" name="TextBox 89">
                  <a:extLst>
                    <a:ext uri="{FF2B5EF4-FFF2-40B4-BE49-F238E27FC236}">
                      <a16:creationId xmlns:a16="http://schemas.microsoft.com/office/drawing/2014/main" id="{2ADF1EAA-4416-8B91-077F-F97587ECC4B7}"/>
                    </a:ext>
                  </a:extLst>
                </p:cNvPr>
                <p:cNvSpPr txBox="1"/>
                <p:nvPr/>
              </p:nvSpPr>
              <p:spPr>
                <a:xfrm>
                  <a:off x="6704920" y="19421119"/>
                  <a:ext cx="373699" cy="442902"/>
                </a:xfrm>
                <a:prstGeom prst="rect">
                  <a:avLst/>
                </a:prstGeom>
                <a:noFill/>
              </p:spPr>
              <p:txBody>
                <a:bodyPr wrap="none" rtlCol="0">
                  <a:spAutoFit/>
                </a:bodyPr>
                <a:lstStyle/>
                <a:p>
                  <a:r>
                    <a:rPr lang="en-US" sz="1600" dirty="0"/>
                    <a:t>E</a:t>
                  </a:r>
                </a:p>
              </p:txBody>
            </p:sp>
            <p:sp>
              <p:nvSpPr>
                <p:cNvPr id="91" name="TextBox 90">
                  <a:extLst>
                    <a:ext uri="{FF2B5EF4-FFF2-40B4-BE49-F238E27FC236}">
                      <a16:creationId xmlns:a16="http://schemas.microsoft.com/office/drawing/2014/main" id="{14BECC24-BCC2-5634-3CB1-645EEA3C7134}"/>
                    </a:ext>
                  </a:extLst>
                </p:cNvPr>
                <p:cNvSpPr txBox="1"/>
                <p:nvPr/>
              </p:nvSpPr>
              <p:spPr>
                <a:xfrm>
                  <a:off x="9779692" y="19642570"/>
                  <a:ext cx="356923" cy="442902"/>
                </a:xfrm>
                <a:prstGeom prst="rect">
                  <a:avLst/>
                </a:prstGeom>
                <a:noFill/>
              </p:spPr>
              <p:txBody>
                <a:bodyPr wrap="none" rtlCol="0">
                  <a:spAutoFit/>
                </a:bodyPr>
                <a:lstStyle/>
                <a:p>
                  <a:r>
                    <a:rPr lang="en-US" sz="1600" dirty="0"/>
                    <a:t>x</a:t>
                  </a:r>
                </a:p>
              </p:txBody>
            </p:sp>
            <p:pic>
              <p:nvPicPr>
                <p:cNvPr id="92" name="Picture 91" descr="A diagram of different colors&#10;&#10;AI-generated content may be incorrect.">
                  <a:extLst>
                    <a:ext uri="{FF2B5EF4-FFF2-40B4-BE49-F238E27FC236}">
                      <a16:creationId xmlns:a16="http://schemas.microsoft.com/office/drawing/2014/main" id="{A6D5FFEE-6614-7127-BA58-93F91E49034D}"/>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6874747" y="11815730"/>
                  <a:ext cx="4489705" cy="4315968"/>
                </a:xfrm>
                <a:prstGeom prst="rect">
                  <a:avLst/>
                </a:prstGeom>
              </p:spPr>
            </p:pic>
            <p:pic>
              <p:nvPicPr>
                <p:cNvPr id="93" name="Picture 92" descr="A diagram of a color spectrum&#10;&#10;AI-generated content may be incorrect.">
                  <a:extLst>
                    <a:ext uri="{FF2B5EF4-FFF2-40B4-BE49-F238E27FC236}">
                      <a16:creationId xmlns:a16="http://schemas.microsoft.com/office/drawing/2014/main" id="{67E71422-CB9C-AB50-84E8-103649287EF8}"/>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015350" y="11786692"/>
                  <a:ext cx="4489704" cy="4318000"/>
                </a:xfrm>
                <a:prstGeom prst="rect">
                  <a:avLst/>
                </a:prstGeom>
              </p:spPr>
            </p:pic>
            <p:pic>
              <p:nvPicPr>
                <p:cNvPr id="94" name="Picture 93" descr="A diagram of different colors&#10;&#10;AI-generated content may be incorrect.">
                  <a:extLst>
                    <a:ext uri="{FF2B5EF4-FFF2-40B4-BE49-F238E27FC236}">
                      <a16:creationId xmlns:a16="http://schemas.microsoft.com/office/drawing/2014/main" id="{BE0D0CE4-F3F9-41F4-7727-9201B84F73C4}"/>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115486" y="16470773"/>
                  <a:ext cx="4489705" cy="4318000"/>
                </a:xfrm>
                <a:prstGeom prst="rect">
                  <a:avLst/>
                </a:prstGeom>
              </p:spPr>
            </p:pic>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B206145-41D5-C1B7-FBEF-CC283707FDE9}"/>
                        </a:ext>
                      </a:extLst>
                    </p:cNvPr>
                    <p:cNvSpPr txBox="1"/>
                    <p:nvPr/>
                  </p:nvSpPr>
                  <p:spPr>
                    <a:xfrm>
                      <a:off x="2348342" y="15572900"/>
                      <a:ext cx="3058634" cy="44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95" name="TextBox 94">
                      <a:extLst>
                        <a:ext uri="{FF2B5EF4-FFF2-40B4-BE49-F238E27FC236}">
                          <a16:creationId xmlns:a16="http://schemas.microsoft.com/office/drawing/2014/main" id="{8B206145-41D5-C1B7-FBEF-CC283707FDE9}"/>
                        </a:ext>
                      </a:extLst>
                    </p:cNvPr>
                    <p:cNvSpPr txBox="1">
                      <a:spLocks noRot="1" noChangeAspect="1" noMove="1" noResize="1" noEditPoints="1" noAdjustHandles="1" noChangeArrowheads="1" noChangeShapeType="1" noTextEdit="1"/>
                    </p:cNvSpPr>
                    <p:nvPr/>
                  </p:nvSpPr>
                  <p:spPr>
                    <a:xfrm>
                      <a:off x="2348342" y="15572900"/>
                      <a:ext cx="3058634" cy="443804"/>
                    </a:xfrm>
                    <a:prstGeom prst="rect">
                      <a:avLst/>
                    </a:prstGeom>
                    <a:blipFill>
                      <a:blip r:embed="rId34"/>
                      <a:stretch>
                        <a:fillRect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C07559C-7940-A860-9223-0B153B1A21F6}"/>
                        </a:ext>
                      </a:extLst>
                    </p:cNvPr>
                    <p:cNvSpPr txBox="1"/>
                    <p:nvPr/>
                  </p:nvSpPr>
                  <p:spPr>
                    <a:xfrm>
                      <a:off x="6911107" y="15612153"/>
                      <a:ext cx="3223646"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𝜓</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𝐸</m:t>
                            </m:r>
                            <m:r>
                              <a:rPr lang="en-US" sz="1600" i="1">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96" name="TextBox 95">
                      <a:extLst>
                        <a:ext uri="{FF2B5EF4-FFF2-40B4-BE49-F238E27FC236}">
                          <a16:creationId xmlns:a16="http://schemas.microsoft.com/office/drawing/2014/main" id="{2C07559C-7940-A860-9223-0B153B1A21F6}"/>
                        </a:ext>
                      </a:extLst>
                    </p:cNvPr>
                    <p:cNvSpPr txBox="1">
                      <a:spLocks noRot="1" noChangeAspect="1" noMove="1" noResize="1" noEditPoints="1" noAdjustHandles="1" noChangeArrowheads="1" noChangeShapeType="1" noTextEdit="1"/>
                    </p:cNvSpPr>
                    <p:nvPr/>
                  </p:nvSpPr>
                  <p:spPr>
                    <a:xfrm>
                      <a:off x="6911107" y="15612153"/>
                      <a:ext cx="3223646" cy="439681"/>
                    </a:xfrm>
                    <a:prstGeom prst="rect">
                      <a:avLst/>
                    </a:prstGeom>
                    <a:blipFill>
                      <a:blip r:embed="rId35"/>
                      <a:stretch>
                        <a:fillRect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ACDF2C83-B0A0-BDB6-6E53-CA3CAA17547F}"/>
                        </a:ext>
                      </a:extLst>
                    </p:cNvPr>
                    <p:cNvSpPr txBox="1"/>
                    <p:nvPr/>
                  </p:nvSpPr>
                  <p:spPr>
                    <a:xfrm>
                      <a:off x="10348126" y="16066127"/>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02" name="TextBox 101">
                      <a:extLst>
                        <a:ext uri="{FF2B5EF4-FFF2-40B4-BE49-F238E27FC236}">
                          <a16:creationId xmlns:a16="http://schemas.microsoft.com/office/drawing/2014/main" id="{ACDF2C83-B0A0-BDB6-6E53-CA3CAA17547F}"/>
                        </a:ext>
                      </a:extLst>
                    </p:cNvPr>
                    <p:cNvSpPr txBox="1">
                      <a:spLocks noRot="1" noChangeAspect="1" noMove="1" noResize="1" noEditPoints="1" noAdjustHandles="1" noChangeArrowheads="1" noChangeShapeType="1" noTextEdit="1"/>
                    </p:cNvSpPr>
                    <p:nvPr/>
                  </p:nvSpPr>
                  <p:spPr>
                    <a:xfrm>
                      <a:off x="10348126" y="16066127"/>
                      <a:ext cx="1149430" cy="439681"/>
                    </a:xfrm>
                    <a:prstGeom prst="rect">
                      <a:avLst/>
                    </a:prstGeom>
                    <a:blipFill>
                      <a:blip r:embed="rId36"/>
                      <a:stretch>
                        <a:fillRect b="-18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99B377AB-6926-19AA-B86D-BA2A6B453860}"/>
                        </a:ext>
                      </a:extLst>
                    </p:cNvPr>
                    <p:cNvSpPr txBox="1"/>
                    <p:nvPr/>
                  </p:nvSpPr>
                  <p:spPr>
                    <a:xfrm>
                      <a:off x="5478422" y="16047518"/>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08" name="TextBox 107">
                      <a:extLst>
                        <a:ext uri="{FF2B5EF4-FFF2-40B4-BE49-F238E27FC236}">
                          <a16:creationId xmlns:a16="http://schemas.microsoft.com/office/drawing/2014/main" id="{99B377AB-6926-19AA-B86D-BA2A6B453860}"/>
                        </a:ext>
                      </a:extLst>
                    </p:cNvPr>
                    <p:cNvSpPr txBox="1">
                      <a:spLocks noRot="1" noChangeAspect="1" noMove="1" noResize="1" noEditPoints="1" noAdjustHandles="1" noChangeArrowheads="1" noChangeShapeType="1" noTextEdit="1"/>
                    </p:cNvSpPr>
                    <p:nvPr/>
                  </p:nvSpPr>
                  <p:spPr>
                    <a:xfrm>
                      <a:off x="5478422" y="16047518"/>
                      <a:ext cx="1149430" cy="439681"/>
                    </a:xfrm>
                    <a:prstGeom prst="rect">
                      <a:avLst/>
                    </a:prstGeom>
                    <a:blipFill>
                      <a:blip r:embed="rId37"/>
                      <a:stretch>
                        <a:fillRect b="-14815"/>
                      </a:stretch>
                    </a:blipFill>
                  </p:spPr>
                  <p:txBody>
                    <a:bodyPr/>
                    <a:lstStyle/>
                    <a:p>
                      <a:r>
                        <a:rPr lang="en-US">
                          <a:noFill/>
                        </a:rPr>
                        <a:t> </a:t>
                      </a:r>
                    </a:p>
                  </p:txBody>
                </p:sp>
              </mc:Fallback>
            </mc:AlternateContent>
            <p:sp>
              <p:nvSpPr>
                <p:cNvPr id="115" name="TextBox 114">
                  <a:extLst>
                    <a:ext uri="{FF2B5EF4-FFF2-40B4-BE49-F238E27FC236}">
                      <a16:creationId xmlns:a16="http://schemas.microsoft.com/office/drawing/2014/main" id="{18712CA9-73B8-1FF1-A58D-152B9FC91BE1}"/>
                    </a:ext>
                  </a:extLst>
                </p:cNvPr>
                <p:cNvSpPr txBox="1"/>
                <p:nvPr/>
              </p:nvSpPr>
              <p:spPr>
                <a:xfrm>
                  <a:off x="5299223" y="19984677"/>
                  <a:ext cx="356923" cy="442902"/>
                </a:xfrm>
                <a:prstGeom prst="rect">
                  <a:avLst/>
                </a:prstGeom>
                <a:noFill/>
              </p:spPr>
              <p:txBody>
                <a:bodyPr wrap="none" rtlCol="0">
                  <a:spAutoFit/>
                </a:bodyPr>
                <a:lstStyle/>
                <a:p>
                  <a:r>
                    <a:rPr lang="en-US" sz="1600" dirty="0"/>
                    <a:t>x</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59B15E2-E786-53CB-12B9-FECB01A97A10}"/>
                        </a:ext>
                      </a:extLst>
                    </p:cNvPr>
                    <p:cNvSpPr txBox="1"/>
                    <p:nvPr/>
                  </p:nvSpPr>
                  <p:spPr>
                    <a:xfrm>
                      <a:off x="5573541" y="20662016"/>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16" name="TextBox 115">
                      <a:extLst>
                        <a:ext uri="{FF2B5EF4-FFF2-40B4-BE49-F238E27FC236}">
                          <a16:creationId xmlns:a16="http://schemas.microsoft.com/office/drawing/2014/main" id="{459B15E2-E786-53CB-12B9-FECB01A97A10}"/>
                        </a:ext>
                      </a:extLst>
                    </p:cNvPr>
                    <p:cNvSpPr txBox="1">
                      <a:spLocks noRot="1" noChangeAspect="1" noMove="1" noResize="1" noEditPoints="1" noAdjustHandles="1" noChangeArrowheads="1" noChangeShapeType="1" noTextEdit="1"/>
                    </p:cNvSpPr>
                    <p:nvPr/>
                  </p:nvSpPr>
                  <p:spPr>
                    <a:xfrm>
                      <a:off x="5573541" y="20662016"/>
                      <a:ext cx="1026117" cy="439681"/>
                    </a:xfrm>
                    <a:prstGeom prst="rect">
                      <a:avLst/>
                    </a:prstGeom>
                    <a:blipFill>
                      <a:blip r:embed="rId38"/>
                      <a:stretch>
                        <a:fillRect r="-4839" b="-18519"/>
                      </a:stretch>
                    </a:blipFill>
                  </p:spPr>
                  <p:txBody>
                    <a:bodyPr/>
                    <a:lstStyle/>
                    <a:p>
                      <a:r>
                        <a:rPr lang="en-US">
                          <a:noFill/>
                        </a:rPr>
                        <a:t> </a:t>
                      </a:r>
                    </a:p>
                  </p:txBody>
                </p:sp>
              </mc:Fallback>
            </mc:AlternateContent>
            <p:sp>
              <p:nvSpPr>
                <p:cNvPr id="117" name="TextBox 116">
                  <a:extLst>
                    <a:ext uri="{FF2B5EF4-FFF2-40B4-BE49-F238E27FC236}">
                      <a16:creationId xmlns:a16="http://schemas.microsoft.com/office/drawing/2014/main" id="{16A19664-94E1-F3D1-1AEA-D903CDD3800C}"/>
                    </a:ext>
                  </a:extLst>
                </p:cNvPr>
                <p:cNvSpPr txBox="1"/>
                <p:nvPr/>
              </p:nvSpPr>
              <p:spPr>
                <a:xfrm>
                  <a:off x="1899279" y="12176198"/>
                  <a:ext cx="373699" cy="442902"/>
                </a:xfrm>
                <a:prstGeom prst="rect">
                  <a:avLst/>
                </a:prstGeom>
                <a:noFill/>
              </p:spPr>
              <p:txBody>
                <a:bodyPr wrap="none" rtlCol="0">
                  <a:spAutoFit/>
                </a:bodyPr>
                <a:lstStyle/>
                <a:p>
                  <a:r>
                    <a:rPr lang="en-US" sz="1600" dirty="0"/>
                    <a:t>E</a:t>
                  </a:r>
                </a:p>
              </p:txBody>
            </p:sp>
            <p:sp>
              <p:nvSpPr>
                <p:cNvPr id="118" name="TextBox 117">
                  <a:extLst>
                    <a:ext uri="{FF2B5EF4-FFF2-40B4-BE49-F238E27FC236}">
                      <a16:creationId xmlns:a16="http://schemas.microsoft.com/office/drawing/2014/main" id="{862DCB2E-BF13-6968-927A-0EEDE0C4134E}"/>
                    </a:ext>
                  </a:extLst>
                </p:cNvPr>
                <p:cNvSpPr txBox="1"/>
                <p:nvPr/>
              </p:nvSpPr>
              <p:spPr>
                <a:xfrm>
                  <a:off x="6634683" y="12097063"/>
                  <a:ext cx="373700" cy="442902"/>
                </a:xfrm>
                <a:prstGeom prst="rect">
                  <a:avLst/>
                </a:prstGeom>
                <a:noFill/>
              </p:spPr>
              <p:txBody>
                <a:bodyPr wrap="none" rtlCol="0">
                  <a:spAutoFit/>
                </a:bodyPr>
                <a:lstStyle/>
                <a:p>
                  <a:r>
                    <a:rPr lang="en-US" sz="1600" dirty="0"/>
                    <a:t>E</a:t>
                  </a:r>
                </a:p>
              </p:txBody>
            </p:sp>
            <p:sp>
              <p:nvSpPr>
                <p:cNvPr id="119" name="TextBox 118">
                  <a:extLst>
                    <a:ext uri="{FF2B5EF4-FFF2-40B4-BE49-F238E27FC236}">
                      <a16:creationId xmlns:a16="http://schemas.microsoft.com/office/drawing/2014/main" id="{CF46B4E5-BC58-0A8E-A31D-90A0BD565BFA}"/>
                    </a:ext>
                  </a:extLst>
                </p:cNvPr>
                <p:cNvSpPr txBox="1"/>
                <p:nvPr/>
              </p:nvSpPr>
              <p:spPr>
                <a:xfrm>
                  <a:off x="1955828" y="16854657"/>
                  <a:ext cx="373700" cy="442902"/>
                </a:xfrm>
                <a:prstGeom prst="rect">
                  <a:avLst/>
                </a:prstGeom>
                <a:noFill/>
              </p:spPr>
              <p:txBody>
                <a:bodyPr wrap="none" rtlCol="0">
                  <a:spAutoFit/>
                </a:bodyPr>
                <a:lstStyle/>
                <a:p>
                  <a:r>
                    <a:rPr lang="en-US" sz="1600" dirty="0"/>
                    <a:t>E</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2FB1FABE-2E95-1A53-587D-5601486BAD0B}"/>
                        </a:ext>
                      </a:extLst>
                    </p:cNvPr>
                    <p:cNvSpPr txBox="1"/>
                    <p:nvPr/>
                  </p:nvSpPr>
                  <p:spPr>
                    <a:xfrm>
                      <a:off x="10474205" y="20561611"/>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20" name="TextBox 119">
                      <a:extLst>
                        <a:ext uri="{FF2B5EF4-FFF2-40B4-BE49-F238E27FC236}">
                          <a16:creationId xmlns:a16="http://schemas.microsoft.com/office/drawing/2014/main" id="{2FB1FABE-2E95-1A53-587D-5601486BAD0B}"/>
                        </a:ext>
                      </a:extLst>
                    </p:cNvPr>
                    <p:cNvSpPr txBox="1">
                      <a:spLocks noRot="1" noChangeAspect="1" noMove="1" noResize="1" noEditPoints="1" noAdjustHandles="1" noChangeArrowheads="1" noChangeShapeType="1" noTextEdit="1"/>
                    </p:cNvSpPr>
                    <p:nvPr/>
                  </p:nvSpPr>
                  <p:spPr>
                    <a:xfrm>
                      <a:off x="10474205" y="20561611"/>
                      <a:ext cx="1026117" cy="439681"/>
                    </a:xfrm>
                    <a:prstGeom prst="rect">
                      <a:avLst/>
                    </a:prstGeom>
                    <a:blipFill>
                      <a:blip r:embed="rId39"/>
                      <a:stretch>
                        <a:fillRect r="-6452" b="-14815"/>
                      </a:stretch>
                    </a:blipFill>
                  </p:spPr>
                  <p:txBody>
                    <a:bodyPr/>
                    <a:lstStyle/>
                    <a:p>
                      <a:r>
                        <a:rPr lang="en-US">
                          <a:noFill/>
                        </a:rPr>
                        <a:t> </a:t>
                      </a:r>
                    </a:p>
                  </p:txBody>
                </p:sp>
              </mc:Fallback>
            </mc:AlternateContent>
          </p:grpSp>
          <p:sp>
            <p:nvSpPr>
              <p:cNvPr id="87" name="TextBox 86">
                <a:extLst>
                  <a:ext uri="{FF2B5EF4-FFF2-40B4-BE49-F238E27FC236}">
                    <a16:creationId xmlns:a16="http://schemas.microsoft.com/office/drawing/2014/main" id="{0565E3E5-101A-2B62-1824-FC8D34AEF5B5}"/>
                  </a:ext>
                </a:extLst>
              </p:cNvPr>
              <p:cNvSpPr txBox="1"/>
              <p:nvPr/>
            </p:nvSpPr>
            <p:spPr>
              <a:xfrm>
                <a:off x="14786766" y="28256726"/>
                <a:ext cx="4297492" cy="439681"/>
              </a:xfrm>
              <a:prstGeom prst="rect">
                <a:avLst/>
              </a:prstGeom>
              <a:noFill/>
            </p:spPr>
            <p:txBody>
              <a:bodyPr wrap="square" rtlCol="0">
                <a:spAutoFit/>
              </a:bodyPr>
              <a:lstStyle/>
              <a:p>
                <a:r>
                  <a:rPr lang="en-US" sz="1600" b="1" dirty="0"/>
                  <a:t>Figure 4: </a:t>
                </a:r>
                <a:r>
                  <a:rPr lang="en-US" sz="1600" dirty="0"/>
                  <a:t>x-E dependent MMS</a:t>
                </a:r>
              </a:p>
            </p:txBody>
          </p:sp>
        </p:grpSp>
        <p:grpSp>
          <p:nvGrpSpPr>
            <p:cNvPr id="121" name="Group 120">
              <a:extLst>
                <a:ext uri="{FF2B5EF4-FFF2-40B4-BE49-F238E27FC236}">
                  <a16:creationId xmlns:a16="http://schemas.microsoft.com/office/drawing/2014/main" id="{BE534EC3-0BBF-B622-E5F7-A5D6E3087DF0}"/>
                </a:ext>
              </a:extLst>
            </p:cNvPr>
            <p:cNvGrpSpPr>
              <a:grpSpLocks noChangeAspect="1"/>
            </p:cNvGrpSpPr>
            <p:nvPr/>
          </p:nvGrpSpPr>
          <p:grpSpPr>
            <a:xfrm>
              <a:off x="22136744" y="9283909"/>
              <a:ext cx="7568246" cy="7493620"/>
              <a:chOff x="13675730" y="1188689"/>
              <a:chExt cx="9674907" cy="9918979"/>
            </a:xfrm>
          </p:grpSpPr>
          <p:grpSp>
            <p:nvGrpSpPr>
              <p:cNvPr id="122" name="Group 121">
                <a:extLst>
                  <a:ext uri="{FF2B5EF4-FFF2-40B4-BE49-F238E27FC236}">
                    <a16:creationId xmlns:a16="http://schemas.microsoft.com/office/drawing/2014/main" id="{1C31F056-ACD3-B535-3262-804BD9D8170F}"/>
                  </a:ext>
                </a:extLst>
              </p:cNvPr>
              <p:cNvGrpSpPr/>
              <p:nvPr/>
            </p:nvGrpSpPr>
            <p:grpSpPr>
              <a:xfrm>
                <a:off x="13675730" y="1188689"/>
                <a:ext cx="9674907" cy="9425654"/>
                <a:chOff x="13675730" y="1188689"/>
                <a:chExt cx="9674907" cy="9425654"/>
              </a:xfrm>
            </p:grpSpPr>
            <p:pic>
              <p:nvPicPr>
                <p:cNvPr id="124" name="Picture 123" descr="A chart of different colors&#10;&#10;AI-generated content may be incorrect.">
                  <a:extLst>
                    <a:ext uri="{FF2B5EF4-FFF2-40B4-BE49-F238E27FC236}">
                      <a16:creationId xmlns:a16="http://schemas.microsoft.com/office/drawing/2014/main" id="{7690FBF8-F921-B7CE-B638-7EC44C5C39F4}"/>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13874467" y="1188689"/>
                  <a:ext cx="4540517" cy="4315968"/>
                </a:xfrm>
                <a:prstGeom prst="rect">
                  <a:avLst/>
                </a:prstGeom>
              </p:spPr>
            </p:pic>
            <p:pic>
              <p:nvPicPr>
                <p:cNvPr id="125" name="Picture 124" descr="A close-up of a color chart&#10;&#10;AI-generated content may be incorrect.">
                  <a:extLst>
                    <a:ext uri="{FF2B5EF4-FFF2-40B4-BE49-F238E27FC236}">
                      <a16:creationId xmlns:a16="http://schemas.microsoft.com/office/drawing/2014/main" id="{442F7621-A8A6-6B6C-4D14-98D5C5D843F9}"/>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18635401" y="1188689"/>
                  <a:ext cx="4524460" cy="4315968"/>
                </a:xfrm>
                <a:prstGeom prst="rect">
                  <a:avLst/>
                </a:prstGeom>
              </p:spPr>
            </p:pic>
            <p:pic>
              <p:nvPicPr>
                <p:cNvPr id="126" name="Picture 125" descr="A chart of different colors&#10;&#10;AI-generated content may be incorrect.">
                  <a:extLst>
                    <a:ext uri="{FF2B5EF4-FFF2-40B4-BE49-F238E27FC236}">
                      <a16:creationId xmlns:a16="http://schemas.microsoft.com/office/drawing/2014/main" id="{F3908173-C8B0-6A17-054C-68B8BA17BF74}"/>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13927457" y="6012009"/>
                  <a:ext cx="4540517" cy="4315968"/>
                </a:xfrm>
                <a:prstGeom prst="rect">
                  <a:avLst/>
                </a:prstGeom>
              </p:spPr>
            </p:pic>
            <p:pic>
              <p:nvPicPr>
                <p:cNvPr id="127" name="Picture 126" descr="A colorful grid with black lines&#10;&#10;AI-generated content may be incorrect.">
                  <a:extLst>
                    <a:ext uri="{FF2B5EF4-FFF2-40B4-BE49-F238E27FC236}">
                      <a16:creationId xmlns:a16="http://schemas.microsoft.com/office/drawing/2014/main" id="{DF1DB642-A8F4-281B-ADA8-DB05ED7834B9}"/>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18449889" y="5977413"/>
                  <a:ext cx="4688324" cy="4011414"/>
                </a:xfrm>
                <a:prstGeom prst="rect">
                  <a:avLst/>
                </a:prstGeom>
              </p:spPr>
            </p:pic>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C54F6C0E-4CA6-1F0B-1F54-CBB2587A0034}"/>
                        </a:ext>
                      </a:extLst>
                    </p:cNvPr>
                    <p:cNvSpPr txBox="1"/>
                    <p:nvPr/>
                  </p:nvSpPr>
                  <p:spPr>
                    <a:xfrm>
                      <a:off x="13940673" y="4983571"/>
                      <a:ext cx="3226489" cy="4481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28" name="TextBox 127">
                      <a:extLst>
                        <a:ext uri="{FF2B5EF4-FFF2-40B4-BE49-F238E27FC236}">
                          <a16:creationId xmlns:a16="http://schemas.microsoft.com/office/drawing/2014/main" id="{C54F6C0E-4CA6-1F0B-1F54-CBB2587A0034}"/>
                        </a:ext>
                      </a:extLst>
                    </p:cNvPr>
                    <p:cNvSpPr txBox="1">
                      <a:spLocks noRot="1" noChangeAspect="1" noMove="1" noResize="1" noEditPoints="1" noAdjustHandles="1" noChangeArrowheads="1" noChangeShapeType="1" noTextEdit="1"/>
                    </p:cNvSpPr>
                    <p:nvPr/>
                  </p:nvSpPr>
                  <p:spPr>
                    <a:xfrm>
                      <a:off x="13940673" y="4983571"/>
                      <a:ext cx="3226489" cy="448129"/>
                    </a:xfrm>
                    <a:prstGeom prst="rect">
                      <a:avLst/>
                    </a:prstGeom>
                    <a:blipFill>
                      <a:blip r:embed="rId44"/>
                      <a:stretch>
                        <a:fillRect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17B31A79-4326-0E3D-0282-FABBFBCE6713}"/>
                        </a:ext>
                      </a:extLst>
                    </p:cNvPr>
                    <p:cNvSpPr txBox="1"/>
                    <p:nvPr/>
                  </p:nvSpPr>
                  <p:spPr>
                    <a:xfrm>
                      <a:off x="18765518" y="5007087"/>
                      <a:ext cx="3223645" cy="4478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𝜓</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𝐸</m:t>
                            </m:r>
                            <m:r>
                              <a:rPr lang="en-US" sz="1600" i="1">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29" name="TextBox 128">
                      <a:extLst>
                        <a:ext uri="{FF2B5EF4-FFF2-40B4-BE49-F238E27FC236}">
                          <a16:creationId xmlns:a16="http://schemas.microsoft.com/office/drawing/2014/main" id="{17B31A79-4326-0E3D-0282-FABBFBCE6713}"/>
                        </a:ext>
                      </a:extLst>
                    </p:cNvPr>
                    <p:cNvSpPr txBox="1">
                      <a:spLocks noRot="1" noChangeAspect="1" noMove="1" noResize="1" noEditPoints="1" noAdjustHandles="1" noChangeArrowheads="1" noChangeShapeType="1" noTextEdit="1"/>
                    </p:cNvSpPr>
                    <p:nvPr/>
                  </p:nvSpPr>
                  <p:spPr>
                    <a:xfrm>
                      <a:off x="18765518" y="5007087"/>
                      <a:ext cx="3223645" cy="447823"/>
                    </a:xfrm>
                    <a:prstGeom prst="rect">
                      <a:avLst/>
                    </a:prstGeom>
                    <a:blipFill>
                      <a:blip r:embed="rId4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C98E07AA-C80D-D542-64EE-9C49D421500B}"/>
                        </a:ext>
                      </a:extLst>
                    </p:cNvPr>
                    <p:cNvSpPr txBox="1"/>
                    <p:nvPr/>
                  </p:nvSpPr>
                  <p:spPr>
                    <a:xfrm>
                      <a:off x="17417588" y="10166520"/>
                      <a:ext cx="1026116" cy="4478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30" name="TextBox 129">
                      <a:extLst>
                        <a:ext uri="{FF2B5EF4-FFF2-40B4-BE49-F238E27FC236}">
                          <a16:creationId xmlns:a16="http://schemas.microsoft.com/office/drawing/2014/main" id="{C98E07AA-C80D-D542-64EE-9C49D421500B}"/>
                        </a:ext>
                      </a:extLst>
                    </p:cNvPr>
                    <p:cNvSpPr txBox="1">
                      <a:spLocks noRot="1" noChangeAspect="1" noMove="1" noResize="1" noEditPoints="1" noAdjustHandles="1" noChangeArrowheads="1" noChangeShapeType="1" noTextEdit="1"/>
                    </p:cNvSpPr>
                    <p:nvPr/>
                  </p:nvSpPr>
                  <p:spPr>
                    <a:xfrm>
                      <a:off x="17417588" y="10166520"/>
                      <a:ext cx="1026116" cy="447823"/>
                    </a:xfrm>
                    <a:prstGeom prst="rect">
                      <a:avLst/>
                    </a:prstGeom>
                    <a:blipFill>
                      <a:blip r:embed="rId46"/>
                      <a:stretch>
                        <a:fillRect r="-3077"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0A5E03E0-F8EA-CC9B-E177-DF15F239127D}"/>
                        </a:ext>
                      </a:extLst>
                    </p:cNvPr>
                    <p:cNvSpPr txBox="1"/>
                    <p:nvPr/>
                  </p:nvSpPr>
                  <p:spPr>
                    <a:xfrm>
                      <a:off x="22192318" y="5408284"/>
                      <a:ext cx="1158319" cy="4478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31" name="TextBox 130">
                      <a:extLst>
                        <a:ext uri="{FF2B5EF4-FFF2-40B4-BE49-F238E27FC236}">
                          <a16:creationId xmlns:a16="http://schemas.microsoft.com/office/drawing/2014/main" id="{0A5E03E0-F8EA-CC9B-E177-DF15F239127D}"/>
                        </a:ext>
                      </a:extLst>
                    </p:cNvPr>
                    <p:cNvSpPr txBox="1">
                      <a:spLocks noRot="1" noChangeAspect="1" noMove="1" noResize="1" noEditPoints="1" noAdjustHandles="1" noChangeArrowheads="1" noChangeShapeType="1" noTextEdit="1"/>
                    </p:cNvSpPr>
                    <p:nvPr/>
                  </p:nvSpPr>
                  <p:spPr>
                    <a:xfrm>
                      <a:off x="22192318" y="5408284"/>
                      <a:ext cx="1158319" cy="447823"/>
                    </a:xfrm>
                    <a:prstGeom prst="rect">
                      <a:avLst/>
                    </a:prstGeom>
                    <a:blipFill>
                      <a:blip r:embed="rId47"/>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F310F3A2-0A44-0490-E674-34ADF3DE012E}"/>
                        </a:ext>
                      </a:extLst>
                    </p:cNvPr>
                    <p:cNvSpPr txBox="1"/>
                    <p:nvPr/>
                  </p:nvSpPr>
                  <p:spPr>
                    <a:xfrm>
                      <a:off x="17330828" y="5380897"/>
                      <a:ext cx="1158319" cy="4478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32" name="TextBox 131">
                      <a:extLst>
                        <a:ext uri="{FF2B5EF4-FFF2-40B4-BE49-F238E27FC236}">
                          <a16:creationId xmlns:a16="http://schemas.microsoft.com/office/drawing/2014/main" id="{F310F3A2-0A44-0490-E674-34ADF3DE012E}"/>
                        </a:ext>
                      </a:extLst>
                    </p:cNvPr>
                    <p:cNvSpPr txBox="1">
                      <a:spLocks noRot="1" noChangeAspect="1" noMove="1" noResize="1" noEditPoints="1" noAdjustHandles="1" noChangeArrowheads="1" noChangeShapeType="1" noTextEdit="1"/>
                    </p:cNvSpPr>
                    <p:nvPr/>
                  </p:nvSpPr>
                  <p:spPr>
                    <a:xfrm>
                      <a:off x="17330828" y="5380897"/>
                      <a:ext cx="1158319" cy="447823"/>
                    </a:xfrm>
                    <a:prstGeom prst="rect">
                      <a:avLst/>
                    </a:prstGeom>
                    <a:blipFill>
                      <a:blip r:embed="rId48"/>
                      <a:stretch>
                        <a:fillRect b="-14815"/>
                      </a:stretch>
                    </a:blipFill>
                  </p:spPr>
                  <p:txBody>
                    <a:bodyPr/>
                    <a:lstStyle/>
                    <a:p>
                      <a:r>
                        <a:rPr lang="en-US">
                          <a:noFill/>
                        </a:rPr>
                        <a:t> </a:t>
                      </a:r>
                    </a:p>
                  </p:txBody>
                </p:sp>
              </mc:Fallback>
            </mc:AlternateContent>
            <p:sp>
              <p:nvSpPr>
                <p:cNvPr id="133" name="TextBox 132">
                  <a:extLst>
                    <a:ext uri="{FF2B5EF4-FFF2-40B4-BE49-F238E27FC236}">
                      <a16:creationId xmlns:a16="http://schemas.microsoft.com/office/drawing/2014/main" id="{61A7059F-8A53-7A0F-65B0-185DF3C1ADC1}"/>
                    </a:ext>
                  </a:extLst>
                </p:cNvPr>
                <p:cNvSpPr txBox="1"/>
                <p:nvPr/>
              </p:nvSpPr>
              <p:spPr>
                <a:xfrm>
                  <a:off x="22320058" y="8778120"/>
                  <a:ext cx="360889" cy="447823"/>
                </a:xfrm>
                <a:prstGeom prst="rect">
                  <a:avLst/>
                </a:prstGeom>
                <a:noFill/>
              </p:spPr>
              <p:txBody>
                <a:bodyPr wrap="none" rtlCol="0">
                  <a:spAutoFit/>
                </a:bodyPr>
                <a:lstStyle/>
                <a:p>
                  <a:r>
                    <a:rPr lang="en-US" sz="1600" dirty="0"/>
                    <a:t>x</a:t>
                  </a:r>
                </a:p>
              </p:txBody>
            </p:sp>
            <p:sp>
              <p:nvSpPr>
                <p:cNvPr id="134" name="TextBox 133">
                  <a:extLst>
                    <a:ext uri="{FF2B5EF4-FFF2-40B4-BE49-F238E27FC236}">
                      <a16:creationId xmlns:a16="http://schemas.microsoft.com/office/drawing/2014/main" id="{85BF40CA-B6A5-F00E-2113-197EEEA5E1EA}"/>
                    </a:ext>
                  </a:extLst>
                </p:cNvPr>
                <p:cNvSpPr txBox="1"/>
                <p:nvPr/>
              </p:nvSpPr>
              <p:spPr>
                <a:xfrm>
                  <a:off x="21837839" y="4658774"/>
                  <a:ext cx="360889" cy="447823"/>
                </a:xfrm>
                <a:prstGeom prst="rect">
                  <a:avLst/>
                </a:prstGeom>
                <a:noFill/>
              </p:spPr>
              <p:txBody>
                <a:bodyPr wrap="none" rtlCol="0">
                  <a:spAutoFit/>
                </a:bodyPr>
                <a:lstStyle/>
                <a:p>
                  <a:r>
                    <a:rPr lang="en-US" sz="1600" dirty="0"/>
                    <a:t>x</a:t>
                  </a:r>
                </a:p>
              </p:txBody>
            </p:sp>
            <p:sp>
              <p:nvSpPr>
                <p:cNvPr id="135" name="TextBox 134">
                  <a:extLst>
                    <a:ext uri="{FF2B5EF4-FFF2-40B4-BE49-F238E27FC236}">
                      <a16:creationId xmlns:a16="http://schemas.microsoft.com/office/drawing/2014/main" id="{3E6A9741-92B1-D49B-D4A1-7151DA445B3D}"/>
                    </a:ext>
                  </a:extLst>
                </p:cNvPr>
                <p:cNvSpPr txBox="1"/>
                <p:nvPr/>
              </p:nvSpPr>
              <p:spPr>
                <a:xfrm>
                  <a:off x="17124349" y="4683014"/>
                  <a:ext cx="360889" cy="447823"/>
                </a:xfrm>
                <a:prstGeom prst="rect">
                  <a:avLst/>
                </a:prstGeom>
                <a:noFill/>
              </p:spPr>
              <p:txBody>
                <a:bodyPr wrap="none" rtlCol="0">
                  <a:spAutoFit/>
                </a:bodyPr>
                <a:lstStyle/>
                <a:p>
                  <a:r>
                    <a:rPr lang="en-US" sz="1600" dirty="0"/>
                    <a:t>x</a:t>
                  </a:r>
                </a:p>
              </p:txBody>
            </p:sp>
            <p:sp>
              <p:nvSpPr>
                <p:cNvPr id="136" name="TextBox 135">
                  <a:extLst>
                    <a:ext uri="{FF2B5EF4-FFF2-40B4-BE49-F238E27FC236}">
                      <a16:creationId xmlns:a16="http://schemas.microsoft.com/office/drawing/2014/main" id="{E78D0042-C00D-E4D6-7C61-CD15E1798F1A}"/>
                    </a:ext>
                  </a:extLst>
                </p:cNvPr>
                <p:cNvSpPr txBox="1"/>
                <p:nvPr/>
              </p:nvSpPr>
              <p:spPr>
                <a:xfrm>
                  <a:off x="17169095" y="9392293"/>
                  <a:ext cx="360889" cy="447823"/>
                </a:xfrm>
                <a:prstGeom prst="rect">
                  <a:avLst/>
                </a:prstGeom>
                <a:noFill/>
              </p:spPr>
              <p:txBody>
                <a:bodyPr wrap="none" rtlCol="0">
                  <a:spAutoFit/>
                </a:bodyPr>
                <a:lstStyle/>
                <a:p>
                  <a:r>
                    <a:rPr lang="en-US" sz="1600" dirty="0"/>
                    <a:t>x</a:t>
                  </a:r>
                </a:p>
              </p:txBody>
            </p:sp>
            <p:sp>
              <p:nvSpPr>
                <p:cNvPr id="137" name="TextBox 136">
                  <a:extLst>
                    <a:ext uri="{FF2B5EF4-FFF2-40B4-BE49-F238E27FC236}">
                      <a16:creationId xmlns:a16="http://schemas.microsoft.com/office/drawing/2014/main" id="{7838B90C-5354-C5D0-2F6A-EC179C06E371}"/>
                    </a:ext>
                  </a:extLst>
                </p:cNvPr>
                <p:cNvSpPr txBox="1"/>
                <p:nvPr/>
              </p:nvSpPr>
              <p:spPr>
                <a:xfrm>
                  <a:off x="18482549" y="1519953"/>
                  <a:ext cx="377852" cy="447823"/>
                </a:xfrm>
                <a:prstGeom prst="rect">
                  <a:avLst/>
                </a:prstGeom>
                <a:noFill/>
              </p:spPr>
              <p:txBody>
                <a:bodyPr wrap="none" rtlCol="0">
                  <a:spAutoFit/>
                </a:bodyPr>
                <a:lstStyle/>
                <a:p>
                  <a:r>
                    <a:rPr lang="en-US" sz="1600" dirty="0"/>
                    <a:t>E</a:t>
                  </a:r>
                </a:p>
              </p:txBody>
            </p:sp>
            <p:sp>
              <p:nvSpPr>
                <p:cNvPr id="138" name="TextBox 137">
                  <a:extLst>
                    <a:ext uri="{FF2B5EF4-FFF2-40B4-BE49-F238E27FC236}">
                      <a16:creationId xmlns:a16="http://schemas.microsoft.com/office/drawing/2014/main" id="{4C5633FC-7F98-0FF0-97B3-5B3FA9B50147}"/>
                    </a:ext>
                  </a:extLst>
                </p:cNvPr>
                <p:cNvSpPr txBox="1"/>
                <p:nvPr/>
              </p:nvSpPr>
              <p:spPr>
                <a:xfrm>
                  <a:off x="13698650" y="1533235"/>
                  <a:ext cx="377852" cy="447823"/>
                </a:xfrm>
                <a:prstGeom prst="rect">
                  <a:avLst/>
                </a:prstGeom>
                <a:noFill/>
              </p:spPr>
              <p:txBody>
                <a:bodyPr wrap="none" rtlCol="0">
                  <a:spAutoFit/>
                </a:bodyPr>
                <a:lstStyle/>
                <a:p>
                  <a:r>
                    <a:rPr lang="en-US" sz="1600" dirty="0"/>
                    <a:t>E</a:t>
                  </a:r>
                </a:p>
              </p:txBody>
            </p:sp>
            <p:sp>
              <p:nvSpPr>
                <p:cNvPr id="139" name="TextBox 138">
                  <a:extLst>
                    <a:ext uri="{FF2B5EF4-FFF2-40B4-BE49-F238E27FC236}">
                      <a16:creationId xmlns:a16="http://schemas.microsoft.com/office/drawing/2014/main" id="{16927145-AC08-9491-BD08-4EC1BC19B75C}"/>
                    </a:ext>
                  </a:extLst>
                </p:cNvPr>
                <p:cNvSpPr txBox="1"/>
                <p:nvPr/>
              </p:nvSpPr>
              <p:spPr>
                <a:xfrm>
                  <a:off x="13675730" y="6242740"/>
                  <a:ext cx="377852" cy="447823"/>
                </a:xfrm>
                <a:prstGeom prst="rect">
                  <a:avLst/>
                </a:prstGeom>
                <a:noFill/>
              </p:spPr>
              <p:txBody>
                <a:bodyPr wrap="none" rtlCol="0">
                  <a:spAutoFit/>
                </a:bodyPr>
                <a:lstStyle/>
                <a:p>
                  <a:r>
                    <a:rPr lang="en-US" sz="1600" dirty="0"/>
                    <a:t>E</a:t>
                  </a:r>
                </a:p>
              </p:txBody>
            </p:sp>
            <p:sp>
              <p:nvSpPr>
                <p:cNvPr id="140" name="TextBox 139">
                  <a:extLst>
                    <a:ext uri="{FF2B5EF4-FFF2-40B4-BE49-F238E27FC236}">
                      <a16:creationId xmlns:a16="http://schemas.microsoft.com/office/drawing/2014/main" id="{9809419B-DD1D-C8BD-4EAF-0A60743274BE}"/>
                    </a:ext>
                  </a:extLst>
                </p:cNvPr>
                <p:cNvSpPr txBox="1"/>
                <p:nvPr/>
              </p:nvSpPr>
              <p:spPr>
                <a:xfrm>
                  <a:off x="18603795" y="8678900"/>
                  <a:ext cx="377852" cy="447823"/>
                </a:xfrm>
                <a:prstGeom prst="rect">
                  <a:avLst/>
                </a:prstGeom>
                <a:noFill/>
              </p:spPr>
              <p:txBody>
                <a:bodyPr wrap="none" rtlCol="0">
                  <a:spAutoFit/>
                </a:bodyPr>
                <a:lstStyle/>
                <a:p>
                  <a:r>
                    <a:rPr lang="en-US" sz="1600" dirty="0"/>
                    <a:t>E</a:t>
                  </a: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0ACA93E3-8518-B1C9-EA21-A5F1BCC59AC6}"/>
                        </a:ext>
                      </a:extLst>
                    </p:cNvPr>
                    <p:cNvSpPr txBox="1"/>
                    <p:nvPr/>
                  </p:nvSpPr>
                  <p:spPr>
                    <a:xfrm>
                      <a:off x="20118235" y="5759725"/>
                      <a:ext cx="1026117" cy="4478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oMath>
                        </m:oMathPara>
                      </a14:m>
                      <a:endParaRPr lang="en-US" sz="1600" dirty="0"/>
                    </a:p>
                  </p:txBody>
                </p:sp>
              </mc:Choice>
              <mc:Fallback xmlns="">
                <p:sp>
                  <p:nvSpPr>
                    <p:cNvPr id="141" name="TextBox 140">
                      <a:extLst>
                        <a:ext uri="{FF2B5EF4-FFF2-40B4-BE49-F238E27FC236}">
                          <a16:creationId xmlns:a16="http://schemas.microsoft.com/office/drawing/2014/main" id="{0ACA93E3-8518-B1C9-EA21-A5F1BCC59AC6}"/>
                        </a:ext>
                      </a:extLst>
                    </p:cNvPr>
                    <p:cNvSpPr txBox="1">
                      <a:spLocks noRot="1" noChangeAspect="1" noMove="1" noResize="1" noEditPoints="1" noAdjustHandles="1" noChangeArrowheads="1" noChangeShapeType="1" noTextEdit="1"/>
                    </p:cNvSpPr>
                    <p:nvPr/>
                  </p:nvSpPr>
                  <p:spPr>
                    <a:xfrm>
                      <a:off x="20118235" y="5759725"/>
                      <a:ext cx="1026117" cy="447823"/>
                    </a:xfrm>
                    <a:prstGeom prst="rect">
                      <a:avLst/>
                    </a:prstGeom>
                    <a:blipFill>
                      <a:blip r:embed="rId49"/>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7338C182-2B28-4251-5B68-762ECDAEB0B4}"/>
                        </a:ext>
                      </a:extLst>
                    </p:cNvPr>
                    <p:cNvSpPr txBox="1"/>
                    <p:nvPr/>
                  </p:nvSpPr>
                  <p:spPr>
                    <a:xfrm>
                      <a:off x="22192318" y="10121448"/>
                      <a:ext cx="1016194" cy="4478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42" name="TextBox 141">
                      <a:extLst>
                        <a:ext uri="{FF2B5EF4-FFF2-40B4-BE49-F238E27FC236}">
                          <a16:creationId xmlns:a16="http://schemas.microsoft.com/office/drawing/2014/main" id="{7338C182-2B28-4251-5B68-762ECDAEB0B4}"/>
                        </a:ext>
                      </a:extLst>
                    </p:cNvPr>
                    <p:cNvSpPr txBox="1">
                      <a:spLocks noRot="1" noChangeAspect="1" noMove="1" noResize="1" noEditPoints="1" noAdjustHandles="1" noChangeArrowheads="1" noChangeShapeType="1" noTextEdit="1"/>
                    </p:cNvSpPr>
                    <p:nvPr/>
                  </p:nvSpPr>
                  <p:spPr>
                    <a:xfrm>
                      <a:off x="22192318" y="10121448"/>
                      <a:ext cx="1016194" cy="447823"/>
                    </a:xfrm>
                    <a:prstGeom prst="rect">
                      <a:avLst/>
                    </a:prstGeom>
                    <a:blipFill>
                      <a:blip r:embed="rId50"/>
                      <a:stretch>
                        <a:fillRect r="-3175" b="-14815"/>
                      </a:stretch>
                    </a:blipFill>
                  </p:spPr>
                  <p:txBody>
                    <a:bodyPr/>
                    <a:lstStyle/>
                    <a:p>
                      <a:r>
                        <a:rPr lang="en-US">
                          <a:noFill/>
                        </a:rPr>
                        <a:t> </a:t>
                      </a:r>
                    </a:p>
                  </p:txBody>
                </p:sp>
              </mc:Fallback>
            </mc:AlternateContent>
          </p:grpSp>
          <p:sp>
            <p:nvSpPr>
              <p:cNvPr id="123" name="TextBox 122">
                <a:extLst>
                  <a:ext uri="{FF2B5EF4-FFF2-40B4-BE49-F238E27FC236}">
                    <a16:creationId xmlns:a16="http://schemas.microsoft.com/office/drawing/2014/main" id="{307A23FD-BA62-1133-087B-8235E34C859C}"/>
                  </a:ext>
                </a:extLst>
              </p:cNvPr>
              <p:cNvSpPr txBox="1"/>
              <p:nvPr/>
            </p:nvSpPr>
            <p:spPr>
              <a:xfrm>
                <a:off x="16333804" y="10659845"/>
                <a:ext cx="4297491" cy="447823"/>
              </a:xfrm>
              <a:prstGeom prst="rect">
                <a:avLst/>
              </a:prstGeom>
              <a:noFill/>
            </p:spPr>
            <p:txBody>
              <a:bodyPr wrap="square" rtlCol="0">
                <a:spAutoFit/>
              </a:bodyPr>
              <a:lstStyle/>
              <a:p>
                <a:r>
                  <a:rPr lang="en-US" sz="1600" b="1" dirty="0"/>
                  <a:t>Figure 2: </a:t>
                </a:r>
                <a:r>
                  <a:rPr lang="en-US" sz="1600" dirty="0"/>
                  <a:t>x-dependent MMS</a:t>
                </a:r>
              </a:p>
            </p:txBody>
          </p:sp>
        </p:grpSp>
        <p:grpSp>
          <p:nvGrpSpPr>
            <p:cNvPr id="165" name="Group 164">
              <a:extLst>
                <a:ext uri="{FF2B5EF4-FFF2-40B4-BE49-F238E27FC236}">
                  <a16:creationId xmlns:a16="http://schemas.microsoft.com/office/drawing/2014/main" id="{A3E98DFF-A4AC-5A04-E829-76EE12772981}"/>
                </a:ext>
              </a:extLst>
            </p:cNvPr>
            <p:cNvGrpSpPr>
              <a:grpSpLocks noChangeAspect="1"/>
            </p:cNvGrpSpPr>
            <p:nvPr/>
          </p:nvGrpSpPr>
          <p:grpSpPr>
            <a:xfrm>
              <a:off x="17929174" y="24437148"/>
              <a:ext cx="7217963" cy="7562088"/>
              <a:chOff x="26846619" y="16221427"/>
              <a:chExt cx="9471200" cy="9922751"/>
            </a:xfrm>
          </p:grpSpPr>
          <p:grpSp>
            <p:nvGrpSpPr>
              <p:cNvPr id="166" name="Group 165">
                <a:extLst>
                  <a:ext uri="{FF2B5EF4-FFF2-40B4-BE49-F238E27FC236}">
                    <a16:creationId xmlns:a16="http://schemas.microsoft.com/office/drawing/2014/main" id="{4AFD168F-71FB-7CBD-4F8D-16451B4A6489}"/>
                  </a:ext>
                </a:extLst>
              </p:cNvPr>
              <p:cNvGrpSpPr/>
              <p:nvPr/>
            </p:nvGrpSpPr>
            <p:grpSpPr>
              <a:xfrm>
                <a:off x="26846619" y="16221427"/>
                <a:ext cx="9471200" cy="9413633"/>
                <a:chOff x="13810401" y="11865136"/>
                <a:chExt cx="9471200" cy="9413633"/>
              </a:xfrm>
            </p:grpSpPr>
            <p:pic>
              <p:nvPicPr>
                <p:cNvPr id="168" name="Picture 167" descr="A blue and brown squares&#10;&#10;AI-generated content may be incorrect.">
                  <a:extLst>
                    <a:ext uri="{FF2B5EF4-FFF2-40B4-BE49-F238E27FC236}">
                      <a16:creationId xmlns:a16="http://schemas.microsoft.com/office/drawing/2014/main" id="{83FD0BE7-5676-D5C7-B9D9-0DE4B279B15C}"/>
                    </a:ext>
                  </a:extLst>
                </p:cNvPr>
                <p:cNvPicPr>
                  <a:picLocks noChangeAspect="1"/>
                </p:cNvPicPr>
                <p:nvPr/>
              </p:nvPicPr>
              <p:blipFill>
                <a:blip r:embed="rId51">
                  <a:extLst>
                    <a:ext uri="{28A0092B-C50C-407E-A947-70E740481C1C}">
                      <a14:useLocalDpi xmlns:a14="http://schemas.microsoft.com/office/drawing/2010/main" val="0"/>
                    </a:ext>
                  </a:extLst>
                </a:blip>
                <a:stretch>
                  <a:fillRect/>
                </a:stretch>
              </p:blipFill>
              <p:spPr>
                <a:xfrm>
                  <a:off x="13990606" y="16523119"/>
                  <a:ext cx="4489704" cy="4315968"/>
                </a:xfrm>
                <a:prstGeom prst="rect">
                  <a:avLst/>
                </a:prstGeom>
              </p:spPr>
            </p:pic>
            <p:pic>
              <p:nvPicPr>
                <p:cNvPr id="169" name="Picture 168" descr="A diagram of a rainbow colored curve&#10;&#10;AI-generated content may be incorrect.">
                  <a:extLst>
                    <a:ext uri="{FF2B5EF4-FFF2-40B4-BE49-F238E27FC236}">
                      <a16:creationId xmlns:a16="http://schemas.microsoft.com/office/drawing/2014/main" id="{AB9CC4ED-4486-308E-E3A1-5BEAB39F0129}"/>
                    </a:ext>
                  </a:extLst>
                </p:cNvPr>
                <p:cNvPicPr>
                  <a:picLocks noChangeAspect="1"/>
                </p:cNvPicPr>
                <p:nvPr/>
              </p:nvPicPr>
              <p:blipFill>
                <a:blip r:embed="rId52">
                  <a:extLst>
                    <a:ext uri="{28A0092B-C50C-407E-A947-70E740481C1C}">
                      <a14:useLocalDpi xmlns:a14="http://schemas.microsoft.com/office/drawing/2010/main" val="0"/>
                    </a:ext>
                  </a:extLst>
                </a:blip>
                <a:stretch>
                  <a:fillRect/>
                </a:stretch>
              </p:blipFill>
              <p:spPr>
                <a:xfrm>
                  <a:off x="18675002" y="16693877"/>
                  <a:ext cx="4489704" cy="3968495"/>
                </a:xfrm>
                <a:prstGeom prst="rect">
                  <a:avLst/>
                </a:prstGeom>
              </p:spPr>
            </p:pic>
            <p:sp>
              <p:nvSpPr>
                <p:cNvPr id="170" name="TextBox 169">
                  <a:extLst>
                    <a:ext uri="{FF2B5EF4-FFF2-40B4-BE49-F238E27FC236}">
                      <a16:creationId xmlns:a16="http://schemas.microsoft.com/office/drawing/2014/main" id="{D6942A38-6CCA-6270-E717-5FD43841FD85}"/>
                    </a:ext>
                  </a:extLst>
                </p:cNvPr>
                <p:cNvSpPr txBox="1"/>
                <p:nvPr/>
              </p:nvSpPr>
              <p:spPr>
                <a:xfrm>
                  <a:off x="17158765" y="20027932"/>
                  <a:ext cx="356923" cy="442902"/>
                </a:xfrm>
                <a:prstGeom prst="rect">
                  <a:avLst/>
                </a:prstGeom>
                <a:noFill/>
              </p:spPr>
              <p:txBody>
                <a:bodyPr wrap="none" rtlCol="0">
                  <a:spAutoFit/>
                </a:bodyPr>
                <a:lstStyle/>
                <a:p>
                  <a:r>
                    <a:rPr lang="en-US" sz="1600" dirty="0"/>
                    <a:t>x</a:t>
                  </a:r>
                </a:p>
              </p:txBody>
            </p:sp>
            <p:sp>
              <p:nvSpPr>
                <p:cNvPr id="171" name="TextBox 170">
                  <a:extLst>
                    <a:ext uri="{FF2B5EF4-FFF2-40B4-BE49-F238E27FC236}">
                      <a16:creationId xmlns:a16="http://schemas.microsoft.com/office/drawing/2014/main" id="{178E3586-1CCF-79F1-E701-03958555EC3B}"/>
                    </a:ext>
                  </a:extLst>
                </p:cNvPr>
                <p:cNvSpPr txBox="1"/>
                <p:nvPr/>
              </p:nvSpPr>
              <p:spPr>
                <a:xfrm>
                  <a:off x="22199271" y="19731339"/>
                  <a:ext cx="356924" cy="442902"/>
                </a:xfrm>
                <a:prstGeom prst="rect">
                  <a:avLst/>
                </a:prstGeom>
                <a:noFill/>
              </p:spPr>
              <p:txBody>
                <a:bodyPr wrap="none" rtlCol="0">
                  <a:spAutoFit/>
                </a:bodyPr>
                <a:lstStyle/>
                <a:p>
                  <a:r>
                    <a:rPr lang="en-US" sz="1600" dirty="0"/>
                    <a:t>x</a:t>
                  </a:r>
                </a:p>
              </p:txBody>
            </p:sp>
            <p:sp>
              <p:nvSpPr>
                <p:cNvPr id="172" name="TextBox 171">
                  <a:extLst>
                    <a:ext uri="{FF2B5EF4-FFF2-40B4-BE49-F238E27FC236}">
                      <a16:creationId xmlns:a16="http://schemas.microsoft.com/office/drawing/2014/main" id="{78BE5D1D-AF81-F9C2-DF96-777AA24C4820}"/>
                    </a:ext>
                  </a:extLst>
                </p:cNvPr>
                <p:cNvSpPr txBox="1"/>
                <p:nvPr/>
              </p:nvSpPr>
              <p:spPr>
                <a:xfrm>
                  <a:off x="18549175" y="19260452"/>
                  <a:ext cx="373700" cy="442902"/>
                </a:xfrm>
                <a:prstGeom prst="rect">
                  <a:avLst/>
                </a:prstGeom>
                <a:noFill/>
              </p:spPr>
              <p:txBody>
                <a:bodyPr wrap="none" rtlCol="0">
                  <a:spAutoFit/>
                </a:bodyPr>
                <a:lstStyle/>
                <a:p>
                  <a:r>
                    <a:rPr lang="en-US" sz="1600" dirty="0"/>
                    <a:t>E</a:t>
                  </a:r>
                </a:p>
              </p:txBody>
            </p:sp>
            <p:sp>
              <p:nvSpPr>
                <p:cNvPr id="173" name="TextBox 172">
                  <a:extLst>
                    <a:ext uri="{FF2B5EF4-FFF2-40B4-BE49-F238E27FC236}">
                      <a16:creationId xmlns:a16="http://schemas.microsoft.com/office/drawing/2014/main" id="{F5FD4BC9-F292-FC77-2DD5-CF43E63A8A57}"/>
                    </a:ext>
                  </a:extLst>
                </p:cNvPr>
                <p:cNvSpPr txBox="1"/>
                <p:nvPr/>
              </p:nvSpPr>
              <p:spPr>
                <a:xfrm>
                  <a:off x="13876436" y="16875752"/>
                  <a:ext cx="373700" cy="442902"/>
                </a:xfrm>
                <a:prstGeom prst="rect">
                  <a:avLst/>
                </a:prstGeom>
                <a:noFill/>
              </p:spPr>
              <p:txBody>
                <a:bodyPr wrap="none" rtlCol="0">
                  <a:spAutoFit/>
                </a:bodyPr>
                <a:lstStyle/>
                <a:p>
                  <a:r>
                    <a:rPr lang="en-US" sz="1600" dirty="0"/>
                    <a:t>E</a:t>
                  </a:r>
                </a:p>
              </p:txBody>
            </p:sp>
            <p:pic>
              <p:nvPicPr>
                <p:cNvPr id="174" name="Picture 173" descr="A blue and red squares&#10;&#10;AI-generated content may be incorrect.">
                  <a:extLst>
                    <a:ext uri="{FF2B5EF4-FFF2-40B4-BE49-F238E27FC236}">
                      <a16:creationId xmlns:a16="http://schemas.microsoft.com/office/drawing/2014/main" id="{35167DAE-FF77-DCF0-A83E-34669C29E25A}"/>
                    </a:ext>
                  </a:extLst>
                </p:cNvPr>
                <p:cNvPicPr>
                  <a:picLocks noChangeAspect="1"/>
                </p:cNvPicPr>
                <p:nvPr/>
              </p:nvPicPr>
              <p:blipFill>
                <a:blip r:embed="rId53">
                  <a:extLst>
                    <a:ext uri="{28A0092B-C50C-407E-A947-70E740481C1C}">
                      <a14:useLocalDpi xmlns:a14="http://schemas.microsoft.com/office/drawing/2010/main" val="0"/>
                    </a:ext>
                  </a:extLst>
                </a:blip>
                <a:stretch>
                  <a:fillRect/>
                </a:stretch>
              </p:blipFill>
              <p:spPr>
                <a:xfrm>
                  <a:off x="18675003" y="11869842"/>
                  <a:ext cx="4489704" cy="4314917"/>
                </a:xfrm>
                <a:prstGeom prst="rect">
                  <a:avLst/>
                </a:prstGeom>
              </p:spPr>
            </p:pic>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1A36FAC5-DC30-1D38-537F-046A52A4DEA0}"/>
                        </a:ext>
                      </a:extLst>
                    </p:cNvPr>
                    <p:cNvSpPr txBox="1"/>
                    <p:nvPr/>
                  </p:nvSpPr>
                  <p:spPr>
                    <a:xfrm>
                      <a:off x="18836192" y="15776892"/>
                      <a:ext cx="3223645"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𝜓</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𝐸</m:t>
                            </m:r>
                            <m:r>
                              <a:rPr lang="en-US" sz="1600" i="1">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75" name="TextBox 174">
                      <a:extLst>
                        <a:ext uri="{FF2B5EF4-FFF2-40B4-BE49-F238E27FC236}">
                          <a16:creationId xmlns:a16="http://schemas.microsoft.com/office/drawing/2014/main" id="{1A36FAC5-DC30-1D38-537F-046A52A4DEA0}"/>
                        </a:ext>
                      </a:extLst>
                    </p:cNvPr>
                    <p:cNvSpPr txBox="1">
                      <a:spLocks noRot="1" noChangeAspect="1" noMove="1" noResize="1" noEditPoints="1" noAdjustHandles="1" noChangeArrowheads="1" noChangeShapeType="1" noTextEdit="1"/>
                    </p:cNvSpPr>
                    <p:nvPr/>
                  </p:nvSpPr>
                  <p:spPr>
                    <a:xfrm>
                      <a:off x="18836192" y="15776892"/>
                      <a:ext cx="3223645" cy="439681"/>
                    </a:xfrm>
                    <a:prstGeom prst="rect">
                      <a:avLst/>
                    </a:prstGeom>
                    <a:blipFill>
                      <a:blip r:embed="rId54"/>
                      <a:stretch>
                        <a:fillRect b="-18519"/>
                      </a:stretch>
                    </a:blipFill>
                  </p:spPr>
                  <p:txBody>
                    <a:bodyPr/>
                    <a:lstStyle/>
                    <a:p>
                      <a:r>
                        <a:rPr lang="en-US">
                          <a:noFill/>
                        </a:rPr>
                        <a:t> </a:t>
                      </a:r>
                    </a:p>
                  </p:txBody>
                </p:sp>
              </mc:Fallback>
            </mc:AlternateContent>
            <p:pic>
              <p:nvPicPr>
                <p:cNvPr id="176" name="Picture 175" descr="A blue and red squares&#10;&#10;AI-generated content may be incorrect.">
                  <a:extLst>
                    <a:ext uri="{FF2B5EF4-FFF2-40B4-BE49-F238E27FC236}">
                      <a16:creationId xmlns:a16="http://schemas.microsoft.com/office/drawing/2014/main" id="{EE51847A-1127-6BAE-7039-8F3F0E6A5F62}"/>
                    </a:ext>
                  </a:extLst>
                </p:cNvPr>
                <p:cNvPicPr>
                  <a:picLocks noChangeAspect="1"/>
                </p:cNvPicPr>
                <p:nvPr/>
              </p:nvPicPr>
              <p:blipFill>
                <a:blip r:embed="rId55">
                  <a:extLst>
                    <a:ext uri="{28A0092B-C50C-407E-A947-70E740481C1C}">
                      <a14:useLocalDpi xmlns:a14="http://schemas.microsoft.com/office/drawing/2010/main" val="0"/>
                    </a:ext>
                  </a:extLst>
                </a:blip>
                <a:stretch>
                  <a:fillRect/>
                </a:stretch>
              </p:blipFill>
              <p:spPr>
                <a:xfrm>
                  <a:off x="13990606" y="11865136"/>
                  <a:ext cx="4489704" cy="4314917"/>
                </a:xfrm>
                <a:prstGeom prst="rect">
                  <a:avLst/>
                </a:prstGeom>
              </p:spPr>
            </p:pic>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F517A64A-1F07-433E-3C3B-B51D68109586}"/>
                        </a:ext>
                      </a:extLst>
                    </p:cNvPr>
                    <p:cNvSpPr txBox="1"/>
                    <p:nvPr/>
                  </p:nvSpPr>
                  <p:spPr>
                    <a:xfrm>
                      <a:off x="14117154" y="15776892"/>
                      <a:ext cx="3032984" cy="4442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𝑓𝑜𝑟</m:t>
                            </m:r>
                            <m:r>
                              <a:rPr lang="en-US" sz="1600" b="0" i="1" smtClean="0">
                                <a:latin typeface="Cambria Math" panose="02040503050406030204" pitchFamily="18" charset="0"/>
                                <a:ea typeface="Cambria Math" panose="02040503050406030204" pitchFamily="18" charset="0"/>
                              </a:rPr>
                              <m:t> </m:t>
                            </m:r>
                            <m:r>
                              <a:rPr lang="en-US" sz="1600" i="1" smtClean="0">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+ 0.577</m:t>
                            </m:r>
                          </m:oMath>
                        </m:oMathPara>
                      </a14:m>
                      <a:endParaRPr lang="en-US" sz="1600" dirty="0"/>
                    </a:p>
                  </p:txBody>
                </p:sp>
              </mc:Choice>
              <mc:Fallback xmlns="">
                <p:sp>
                  <p:nvSpPr>
                    <p:cNvPr id="177" name="TextBox 176">
                      <a:extLst>
                        <a:ext uri="{FF2B5EF4-FFF2-40B4-BE49-F238E27FC236}">
                          <a16:creationId xmlns:a16="http://schemas.microsoft.com/office/drawing/2014/main" id="{F517A64A-1F07-433E-3C3B-B51D68109586}"/>
                        </a:ext>
                      </a:extLst>
                    </p:cNvPr>
                    <p:cNvSpPr txBox="1">
                      <a:spLocks noRot="1" noChangeAspect="1" noMove="1" noResize="1" noEditPoints="1" noAdjustHandles="1" noChangeArrowheads="1" noChangeShapeType="1" noTextEdit="1"/>
                    </p:cNvSpPr>
                    <p:nvPr/>
                  </p:nvSpPr>
                  <p:spPr>
                    <a:xfrm>
                      <a:off x="14117154" y="15776892"/>
                      <a:ext cx="3032984" cy="444241"/>
                    </a:xfrm>
                    <a:prstGeom prst="rect">
                      <a:avLst/>
                    </a:prstGeom>
                    <a:blipFill>
                      <a:blip r:embed="rId5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562B9824-BA2A-C47B-85C6-319614CECADA}"/>
                        </a:ext>
                      </a:extLst>
                    </p:cNvPr>
                    <p:cNvSpPr txBox="1"/>
                    <p:nvPr/>
                  </p:nvSpPr>
                  <p:spPr>
                    <a:xfrm>
                      <a:off x="21008957" y="16900372"/>
                      <a:ext cx="1026118" cy="4442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oMath>
                        </m:oMathPara>
                      </a14:m>
                      <a:endParaRPr lang="en-US" sz="1600" dirty="0"/>
                    </a:p>
                  </p:txBody>
                </p:sp>
              </mc:Choice>
              <mc:Fallback xmlns="">
                <p:sp>
                  <p:nvSpPr>
                    <p:cNvPr id="178" name="TextBox 177">
                      <a:extLst>
                        <a:ext uri="{FF2B5EF4-FFF2-40B4-BE49-F238E27FC236}">
                          <a16:creationId xmlns:a16="http://schemas.microsoft.com/office/drawing/2014/main" id="{562B9824-BA2A-C47B-85C6-319614CECADA}"/>
                        </a:ext>
                      </a:extLst>
                    </p:cNvPr>
                    <p:cNvSpPr txBox="1">
                      <a:spLocks noRot="1" noChangeAspect="1" noMove="1" noResize="1" noEditPoints="1" noAdjustHandles="1" noChangeArrowheads="1" noChangeShapeType="1" noTextEdit="1"/>
                    </p:cNvSpPr>
                    <p:nvPr/>
                  </p:nvSpPr>
                  <p:spPr>
                    <a:xfrm>
                      <a:off x="21008957" y="16900372"/>
                      <a:ext cx="1026118" cy="444241"/>
                    </a:xfrm>
                    <a:prstGeom prst="rect">
                      <a:avLst/>
                    </a:prstGeom>
                    <a:blipFill>
                      <a:blip r:embed="rId57"/>
                      <a:stretch>
                        <a:fillRect b="-7407"/>
                      </a:stretch>
                    </a:blipFill>
                  </p:spPr>
                  <p:txBody>
                    <a:bodyPr/>
                    <a:lstStyle/>
                    <a:p>
                      <a:r>
                        <a:rPr lang="en-US">
                          <a:noFill/>
                        </a:rPr>
                        <a:t> </a:t>
                      </a:r>
                    </a:p>
                  </p:txBody>
                </p:sp>
              </mc:Fallback>
            </mc:AlternateContent>
            <p:sp>
              <p:nvSpPr>
                <p:cNvPr id="179" name="TextBox 178">
                  <a:extLst>
                    <a:ext uri="{FF2B5EF4-FFF2-40B4-BE49-F238E27FC236}">
                      <a16:creationId xmlns:a16="http://schemas.microsoft.com/office/drawing/2014/main" id="{8B0BEE93-0A6B-1DD9-AFEB-B11400C6531D}"/>
                    </a:ext>
                  </a:extLst>
                </p:cNvPr>
                <p:cNvSpPr txBox="1"/>
                <p:nvPr/>
              </p:nvSpPr>
              <p:spPr>
                <a:xfrm>
                  <a:off x="21809628" y="15333990"/>
                  <a:ext cx="356924" cy="442902"/>
                </a:xfrm>
                <a:prstGeom prst="rect">
                  <a:avLst/>
                </a:prstGeom>
                <a:noFill/>
              </p:spPr>
              <p:txBody>
                <a:bodyPr wrap="none" rtlCol="0">
                  <a:spAutoFit/>
                </a:bodyPr>
                <a:lstStyle/>
                <a:p>
                  <a:r>
                    <a:rPr lang="en-US" sz="1600" dirty="0"/>
                    <a:t>x</a:t>
                  </a:r>
                </a:p>
              </p:txBody>
            </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8160FED9-C4CA-E203-559F-670F6367F24E}"/>
                        </a:ext>
                      </a:extLst>
                    </p:cNvPr>
                    <p:cNvSpPr txBox="1"/>
                    <p:nvPr/>
                  </p:nvSpPr>
                  <p:spPr>
                    <a:xfrm>
                      <a:off x="17500785" y="20839088"/>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80" name="TextBox 179">
                      <a:extLst>
                        <a:ext uri="{FF2B5EF4-FFF2-40B4-BE49-F238E27FC236}">
                          <a16:creationId xmlns:a16="http://schemas.microsoft.com/office/drawing/2014/main" id="{8160FED9-C4CA-E203-559F-670F6367F24E}"/>
                        </a:ext>
                      </a:extLst>
                    </p:cNvPr>
                    <p:cNvSpPr txBox="1">
                      <a:spLocks noRot="1" noChangeAspect="1" noMove="1" noResize="1" noEditPoints="1" noAdjustHandles="1" noChangeArrowheads="1" noChangeShapeType="1" noTextEdit="1"/>
                    </p:cNvSpPr>
                    <p:nvPr/>
                  </p:nvSpPr>
                  <p:spPr>
                    <a:xfrm>
                      <a:off x="17500785" y="20839088"/>
                      <a:ext cx="1026117" cy="439681"/>
                    </a:xfrm>
                    <a:prstGeom prst="rect">
                      <a:avLst/>
                    </a:prstGeom>
                    <a:blipFill>
                      <a:blip r:embed="rId58"/>
                      <a:stretch>
                        <a:fillRect r="-4762"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AFC0E572-9BC8-1C41-7B7B-665F600D3780}"/>
                        </a:ext>
                      </a:extLst>
                    </p:cNvPr>
                    <p:cNvSpPr txBox="1"/>
                    <p:nvPr/>
                  </p:nvSpPr>
                  <p:spPr>
                    <a:xfrm>
                      <a:off x="22132171" y="16157742"/>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81" name="TextBox 180">
                      <a:extLst>
                        <a:ext uri="{FF2B5EF4-FFF2-40B4-BE49-F238E27FC236}">
                          <a16:creationId xmlns:a16="http://schemas.microsoft.com/office/drawing/2014/main" id="{AFC0E572-9BC8-1C41-7B7B-665F600D3780}"/>
                        </a:ext>
                      </a:extLst>
                    </p:cNvPr>
                    <p:cNvSpPr txBox="1">
                      <a:spLocks noRot="1" noChangeAspect="1" noMove="1" noResize="1" noEditPoints="1" noAdjustHandles="1" noChangeArrowheads="1" noChangeShapeType="1" noTextEdit="1"/>
                    </p:cNvSpPr>
                    <p:nvPr/>
                  </p:nvSpPr>
                  <p:spPr>
                    <a:xfrm>
                      <a:off x="22132171" y="16157742"/>
                      <a:ext cx="1149430" cy="439681"/>
                    </a:xfrm>
                    <a:prstGeom prst="rect">
                      <a:avLst/>
                    </a:prstGeom>
                    <a:blipFill>
                      <a:blip r:embed="rId59"/>
                      <a:stretch>
                        <a:fillRect b="-14815"/>
                      </a:stretch>
                    </a:blipFill>
                  </p:spPr>
                  <p:txBody>
                    <a:bodyPr/>
                    <a:lstStyle/>
                    <a:p>
                      <a:r>
                        <a:rPr lang="en-US">
                          <a:noFill/>
                        </a:rPr>
                        <a:t> </a:t>
                      </a:r>
                    </a:p>
                  </p:txBody>
                </p:sp>
              </mc:Fallback>
            </mc:AlternateContent>
            <p:sp>
              <p:nvSpPr>
                <p:cNvPr id="182" name="TextBox 181">
                  <a:extLst>
                    <a:ext uri="{FF2B5EF4-FFF2-40B4-BE49-F238E27FC236}">
                      <a16:creationId xmlns:a16="http://schemas.microsoft.com/office/drawing/2014/main" id="{57A97CF6-3ACA-5690-6C85-C14DA4A41C21}"/>
                    </a:ext>
                  </a:extLst>
                </p:cNvPr>
                <p:cNvSpPr txBox="1"/>
                <p:nvPr/>
              </p:nvSpPr>
              <p:spPr>
                <a:xfrm>
                  <a:off x="17111712" y="15333990"/>
                  <a:ext cx="356924" cy="442902"/>
                </a:xfrm>
                <a:prstGeom prst="rect">
                  <a:avLst/>
                </a:prstGeom>
                <a:noFill/>
              </p:spPr>
              <p:txBody>
                <a:bodyPr wrap="none" rtlCol="0">
                  <a:spAutoFit/>
                </a:bodyPr>
                <a:lstStyle/>
                <a:p>
                  <a:r>
                    <a:rPr lang="en-US" sz="1600" dirty="0"/>
                    <a:t>x</a:t>
                  </a:r>
                </a:p>
              </p:txBody>
            </p:sp>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BD57B180-3B49-C28C-A47C-42605EC2E339}"/>
                        </a:ext>
                      </a:extLst>
                    </p:cNvPr>
                    <p:cNvSpPr txBox="1"/>
                    <p:nvPr/>
                  </p:nvSpPr>
                  <p:spPr>
                    <a:xfrm>
                      <a:off x="17483030" y="16119994"/>
                      <a:ext cx="1149430" cy="4396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𝜓</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𝑥</m:t>
                            </m:r>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𝐸</m:t>
                            </m:r>
                            <m:r>
                              <a:rPr lang="en-US" sz="160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83" name="TextBox 182">
                      <a:extLst>
                        <a:ext uri="{FF2B5EF4-FFF2-40B4-BE49-F238E27FC236}">
                          <a16:creationId xmlns:a16="http://schemas.microsoft.com/office/drawing/2014/main" id="{BD57B180-3B49-C28C-A47C-42605EC2E339}"/>
                        </a:ext>
                      </a:extLst>
                    </p:cNvPr>
                    <p:cNvSpPr txBox="1">
                      <a:spLocks noRot="1" noChangeAspect="1" noMove="1" noResize="1" noEditPoints="1" noAdjustHandles="1" noChangeArrowheads="1" noChangeShapeType="1" noTextEdit="1"/>
                    </p:cNvSpPr>
                    <p:nvPr/>
                  </p:nvSpPr>
                  <p:spPr>
                    <a:xfrm>
                      <a:off x="17483030" y="16119994"/>
                      <a:ext cx="1149430" cy="439681"/>
                    </a:xfrm>
                    <a:prstGeom prst="rect">
                      <a:avLst/>
                    </a:prstGeom>
                    <a:blipFill>
                      <a:blip r:embed="rId60"/>
                      <a:stretch>
                        <a:fillRect b="-14815"/>
                      </a:stretch>
                    </a:blipFill>
                  </p:spPr>
                  <p:txBody>
                    <a:bodyPr/>
                    <a:lstStyle/>
                    <a:p>
                      <a:r>
                        <a:rPr lang="en-US">
                          <a:noFill/>
                        </a:rPr>
                        <a:t> </a:t>
                      </a:r>
                    </a:p>
                  </p:txBody>
                </p:sp>
              </mc:Fallback>
            </mc:AlternateContent>
            <p:sp>
              <p:nvSpPr>
                <p:cNvPr id="184" name="TextBox 183">
                  <a:extLst>
                    <a:ext uri="{FF2B5EF4-FFF2-40B4-BE49-F238E27FC236}">
                      <a16:creationId xmlns:a16="http://schemas.microsoft.com/office/drawing/2014/main" id="{B7560B92-8EE6-309F-1C17-7FEE4C6703EC}"/>
                    </a:ext>
                  </a:extLst>
                </p:cNvPr>
                <p:cNvSpPr txBox="1"/>
                <p:nvPr/>
              </p:nvSpPr>
              <p:spPr>
                <a:xfrm>
                  <a:off x="18580268" y="12314448"/>
                  <a:ext cx="373700" cy="442902"/>
                </a:xfrm>
                <a:prstGeom prst="rect">
                  <a:avLst/>
                </a:prstGeom>
                <a:noFill/>
              </p:spPr>
              <p:txBody>
                <a:bodyPr wrap="none" rtlCol="0">
                  <a:spAutoFit/>
                </a:bodyPr>
                <a:lstStyle/>
                <a:p>
                  <a:r>
                    <a:rPr lang="en-US" sz="1600" dirty="0"/>
                    <a:t>E</a:t>
                  </a:r>
                </a:p>
              </p:txBody>
            </p:sp>
            <p:sp>
              <p:nvSpPr>
                <p:cNvPr id="185" name="TextBox 184">
                  <a:extLst>
                    <a:ext uri="{FF2B5EF4-FFF2-40B4-BE49-F238E27FC236}">
                      <a16:creationId xmlns:a16="http://schemas.microsoft.com/office/drawing/2014/main" id="{49837976-97E4-234C-7D9B-2BA1B98E1E9A}"/>
                    </a:ext>
                  </a:extLst>
                </p:cNvPr>
                <p:cNvSpPr txBox="1"/>
                <p:nvPr/>
              </p:nvSpPr>
              <p:spPr>
                <a:xfrm>
                  <a:off x="13810401" y="12241340"/>
                  <a:ext cx="373700" cy="442902"/>
                </a:xfrm>
                <a:prstGeom prst="rect">
                  <a:avLst/>
                </a:prstGeom>
                <a:noFill/>
              </p:spPr>
              <p:txBody>
                <a:bodyPr wrap="none" rtlCol="0">
                  <a:spAutoFit/>
                </a:bodyPr>
                <a:lstStyle/>
                <a:p>
                  <a:r>
                    <a:rPr lang="en-US" sz="1600" dirty="0"/>
                    <a:t>E</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6A3270AF-2E28-33AA-5094-CEA5E080104F}"/>
                        </a:ext>
                      </a:extLst>
                    </p:cNvPr>
                    <p:cNvSpPr txBox="1"/>
                    <p:nvPr/>
                  </p:nvSpPr>
                  <p:spPr>
                    <a:xfrm>
                      <a:off x="22121408" y="20788773"/>
                      <a:ext cx="1026117" cy="4396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𝐸</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186" name="TextBox 185">
                      <a:extLst>
                        <a:ext uri="{FF2B5EF4-FFF2-40B4-BE49-F238E27FC236}">
                          <a16:creationId xmlns:a16="http://schemas.microsoft.com/office/drawing/2014/main" id="{6A3270AF-2E28-33AA-5094-CEA5E080104F}"/>
                        </a:ext>
                      </a:extLst>
                    </p:cNvPr>
                    <p:cNvSpPr txBox="1">
                      <a:spLocks noRot="1" noChangeAspect="1" noMove="1" noResize="1" noEditPoints="1" noAdjustHandles="1" noChangeArrowheads="1" noChangeShapeType="1" noTextEdit="1"/>
                    </p:cNvSpPr>
                    <p:nvPr/>
                  </p:nvSpPr>
                  <p:spPr>
                    <a:xfrm>
                      <a:off x="22121408" y="20788773"/>
                      <a:ext cx="1026117" cy="439681"/>
                    </a:xfrm>
                    <a:prstGeom prst="rect">
                      <a:avLst/>
                    </a:prstGeom>
                    <a:blipFill>
                      <a:blip r:embed="rId61"/>
                      <a:stretch>
                        <a:fillRect r="-4762" b="-14815"/>
                      </a:stretch>
                    </a:blipFill>
                  </p:spPr>
                  <p:txBody>
                    <a:bodyPr/>
                    <a:lstStyle/>
                    <a:p>
                      <a:r>
                        <a:rPr lang="en-US">
                          <a:noFill/>
                        </a:rPr>
                        <a:t> </a:t>
                      </a:r>
                    </a:p>
                  </p:txBody>
                </p:sp>
              </mc:Fallback>
            </mc:AlternateContent>
          </p:grpSp>
          <p:sp>
            <p:nvSpPr>
              <p:cNvPr id="167" name="TextBox 166">
                <a:extLst>
                  <a:ext uri="{FF2B5EF4-FFF2-40B4-BE49-F238E27FC236}">
                    <a16:creationId xmlns:a16="http://schemas.microsoft.com/office/drawing/2014/main" id="{635434EB-CD5D-21B5-D08A-3F97D64DDF2B}"/>
                  </a:ext>
                </a:extLst>
              </p:cNvPr>
              <p:cNvSpPr txBox="1"/>
              <p:nvPr/>
            </p:nvSpPr>
            <p:spPr>
              <a:xfrm>
                <a:off x="28669865" y="25704497"/>
                <a:ext cx="6074171" cy="439681"/>
              </a:xfrm>
              <a:prstGeom prst="rect">
                <a:avLst/>
              </a:prstGeom>
              <a:noFill/>
            </p:spPr>
            <p:txBody>
              <a:bodyPr wrap="square" rtlCol="0">
                <a:spAutoFit/>
              </a:bodyPr>
              <a:lstStyle/>
              <a:p>
                <a:r>
                  <a:rPr lang="en-US" sz="1600" b="1" dirty="0"/>
                  <a:t>Figure 5: </a:t>
                </a:r>
                <a:r>
                  <a:rPr lang="en-US" sz="1600" dirty="0"/>
                  <a:t>x-dependent exponential attenuation MMS</a:t>
                </a:r>
              </a:p>
            </p:txBody>
          </p:sp>
        </p:grpSp>
      </p:grpSp>
      <p:sp>
        <p:nvSpPr>
          <p:cNvPr id="8" name="TextBox 7">
            <a:extLst>
              <a:ext uri="{FF2B5EF4-FFF2-40B4-BE49-F238E27FC236}">
                <a16:creationId xmlns:a16="http://schemas.microsoft.com/office/drawing/2014/main" id="{3AF9F05F-9011-9047-4B34-E06C87F841D4}"/>
              </a:ext>
            </a:extLst>
          </p:cNvPr>
          <p:cNvSpPr txBox="1"/>
          <p:nvPr/>
        </p:nvSpPr>
        <p:spPr>
          <a:xfrm>
            <a:off x="24844474" y="19586802"/>
            <a:ext cx="272277" cy="337866"/>
          </a:xfrm>
          <a:prstGeom prst="rect">
            <a:avLst/>
          </a:prstGeom>
          <a:noFill/>
        </p:spPr>
        <p:txBody>
          <a:bodyPr wrap="none" rtlCol="0">
            <a:spAutoFit/>
          </a:bodyPr>
          <a:lstStyle/>
          <a:p>
            <a:r>
              <a:rPr lang="en-US" sz="1600" dirty="0"/>
              <a:t>x</a:t>
            </a:r>
          </a:p>
        </p:txBody>
      </p:sp>
      <p:sp>
        <p:nvSpPr>
          <p:cNvPr id="9" name="TextBox 8">
            <a:extLst>
              <a:ext uri="{FF2B5EF4-FFF2-40B4-BE49-F238E27FC236}">
                <a16:creationId xmlns:a16="http://schemas.microsoft.com/office/drawing/2014/main" id="{5E98930C-4A86-F047-953E-0FA20F22601C}"/>
              </a:ext>
            </a:extLst>
          </p:cNvPr>
          <p:cNvSpPr txBox="1"/>
          <p:nvPr/>
        </p:nvSpPr>
        <p:spPr>
          <a:xfrm>
            <a:off x="28526612" y="19586802"/>
            <a:ext cx="272277" cy="337866"/>
          </a:xfrm>
          <a:prstGeom prst="rect">
            <a:avLst/>
          </a:prstGeom>
          <a:noFill/>
        </p:spPr>
        <p:txBody>
          <a:bodyPr wrap="none" rtlCol="0">
            <a:spAutoFit/>
          </a:bodyPr>
          <a:lstStyle/>
          <a:p>
            <a:r>
              <a:rPr lang="en-US" sz="1600" dirty="0"/>
              <a:t>x</a:t>
            </a:r>
          </a:p>
        </p:txBody>
      </p:sp>
    </p:spTree>
    <p:extLst>
      <p:ext uri="{BB962C8B-B14F-4D97-AF65-F5344CB8AC3E}">
        <p14:creationId xmlns:p14="http://schemas.microsoft.com/office/powerpoint/2010/main" val="2365619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FAC6F4B9-763A-C2BF-3762-5344AC99C8CF}"/>
              </a:ext>
            </a:extLst>
          </p:cNvPr>
          <p:cNvGrpSpPr/>
          <p:nvPr/>
        </p:nvGrpSpPr>
        <p:grpSpPr>
          <a:xfrm>
            <a:off x="2717801" y="17090487"/>
            <a:ext cx="15771042" cy="14725249"/>
            <a:chOff x="2313214" y="17200342"/>
            <a:chExt cx="15895684" cy="14871575"/>
          </a:xfrm>
        </p:grpSpPr>
        <p:pic>
          <p:nvPicPr>
            <p:cNvPr id="19" name="Picture 18" descr="A diagram of different colors&#10;&#10;AI-generated content may be incorrect.">
              <a:extLst>
                <a:ext uri="{FF2B5EF4-FFF2-40B4-BE49-F238E27FC236}">
                  <a16:creationId xmlns:a16="http://schemas.microsoft.com/office/drawing/2014/main" id="{BBDC14C9-2ED5-6EDD-E25E-B030A9745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498" y="17269120"/>
              <a:ext cx="7772400" cy="7185199"/>
            </a:xfrm>
            <a:prstGeom prst="rect">
              <a:avLst/>
            </a:prstGeom>
          </p:spPr>
        </p:pic>
        <p:pic>
          <p:nvPicPr>
            <p:cNvPr id="21" name="Picture 20" descr="A diagram of a color spectrum&#10;&#10;AI-generated content may be incorrect.">
              <a:extLst>
                <a:ext uri="{FF2B5EF4-FFF2-40B4-BE49-F238E27FC236}">
                  <a16:creationId xmlns:a16="http://schemas.microsoft.com/office/drawing/2014/main" id="{1DFE2C3A-126A-0842-EA7A-5A38B0C8B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214" y="17200342"/>
              <a:ext cx="7772400" cy="7322757"/>
            </a:xfrm>
            <a:prstGeom prst="rect">
              <a:avLst/>
            </a:prstGeom>
          </p:spPr>
        </p:pic>
        <p:pic>
          <p:nvPicPr>
            <p:cNvPr id="23" name="Picture 22" descr="A diagram of different colors&#10;&#10;AI-generated content may be incorrect.">
              <a:extLst>
                <a:ext uri="{FF2B5EF4-FFF2-40B4-BE49-F238E27FC236}">
                  <a16:creationId xmlns:a16="http://schemas.microsoft.com/office/drawing/2014/main" id="{304E8E72-07B1-0709-32A2-5D47537EA6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214" y="24802689"/>
              <a:ext cx="7772400" cy="7269228"/>
            </a:xfrm>
            <a:prstGeom prst="rect">
              <a:avLst/>
            </a:prstGeom>
          </p:spPr>
        </p:pic>
        <p:pic>
          <p:nvPicPr>
            <p:cNvPr id="25" name="Picture 24" descr="A diagram of a prism&#10;&#10;AI-generated content may be incorrect.">
              <a:extLst>
                <a:ext uri="{FF2B5EF4-FFF2-40B4-BE49-F238E27FC236}">
                  <a16:creationId xmlns:a16="http://schemas.microsoft.com/office/drawing/2014/main" id="{B4F04B3B-B38B-3F60-8203-C6CC63AEC4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85698" y="24975158"/>
              <a:ext cx="7772400" cy="6924290"/>
            </a:xfrm>
            <a:prstGeom prst="rect">
              <a:avLst/>
            </a:prstGeom>
          </p:spPr>
        </p:pic>
      </p:grpSp>
      <p:grpSp>
        <p:nvGrpSpPr>
          <p:cNvPr id="29" name="Group 28">
            <a:extLst>
              <a:ext uri="{FF2B5EF4-FFF2-40B4-BE49-F238E27FC236}">
                <a16:creationId xmlns:a16="http://schemas.microsoft.com/office/drawing/2014/main" id="{D851CF33-0475-9CCA-4FD3-0D264FFF285E}"/>
              </a:ext>
            </a:extLst>
          </p:cNvPr>
          <p:cNvGrpSpPr/>
          <p:nvPr/>
        </p:nvGrpSpPr>
        <p:grpSpPr>
          <a:xfrm>
            <a:off x="2717800" y="1655542"/>
            <a:ext cx="15720641" cy="14919231"/>
            <a:chOff x="2717801" y="1628444"/>
            <a:chExt cx="15595600" cy="14613477"/>
          </a:xfrm>
        </p:grpSpPr>
        <p:pic>
          <p:nvPicPr>
            <p:cNvPr id="5" name="Picture 4" descr="A chart of different colors&#10;&#10;AI-generated content may be incorrect.">
              <a:extLst>
                <a:ext uri="{FF2B5EF4-FFF2-40B4-BE49-F238E27FC236}">
                  <a16:creationId xmlns:a16="http://schemas.microsoft.com/office/drawing/2014/main" id="{BFB84F60-0C1F-B2B6-65D2-730CD96AB8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17801" y="1628444"/>
              <a:ext cx="7772400" cy="7321514"/>
            </a:xfrm>
            <a:prstGeom prst="rect">
              <a:avLst/>
            </a:prstGeom>
          </p:spPr>
        </p:pic>
        <p:pic>
          <p:nvPicPr>
            <p:cNvPr id="7" name="Picture 6" descr="A close-up of a color chart&#10;&#10;AI-generated content may be incorrect.">
              <a:extLst>
                <a:ext uri="{FF2B5EF4-FFF2-40B4-BE49-F238E27FC236}">
                  <a16:creationId xmlns:a16="http://schemas.microsoft.com/office/drawing/2014/main" id="{6946E8B0-15F6-77BF-B9BE-E584D3D737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41001" y="1628444"/>
              <a:ext cx="7772400" cy="7291963"/>
            </a:xfrm>
            <a:prstGeom prst="rect">
              <a:avLst/>
            </a:prstGeom>
          </p:spPr>
        </p:pic>
        <p:pic>
          <p:nvPicPr>
            <p:cNvPr id="9" name="Picture 8" descr="A chart of different colors&#10;&#10;AI-generated content may be incorrect.">
              <a:extLst>
                <a:ext uri="{FF2B5EF4-FFF2-40B4-BE49-F238E27FC236}">
                  <a16:creationId xmlns:a16="http://schemas.microsoft.com/office/drawing/2014/main" id="{48AC5050-FD32-53AD-23E8-C738CB40A6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17801" y="8949958"/>
              <a:ext cx="7913012" cy="7291963"/>
            </a:xfrm>
            <a:prstGeom prst="rect">
              <a:avLst/>
            </a:prstGeom>
          </p:spPr>
        </p:pic>
        <p:pic>
          <p:nvPicPr>
            <p:cNvPr id="28" name="Picture 27" descr="A colorful grid with black lines&#10;&#10;AI-generated content may be incorrect.">
              <a:extLst>
                <a:ext uri="{FF2B5EF4-FFF2-40B4-BE49-F238E27FC236}">
                  <a16:creationId xmlns:a16="http://schemas.microsoft.com/office/drawing/2014/main" id="{E3E508F1-425A-AF01-2131-D9FA584149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90201" y="9722106"/>
              <a:ext cx="7772400" cy="6226112"/>
            </a:xfrm>
            <a:prstGeom prst="rect">
              <a:avLst/>
            </a:prstGeom>
          </p:spPr>
        </p:pic>
      </p:grpSp>
      <p:grpSp>
        <p:nvGrpSpPr>
          <p:cNvPr id="32" name="Group 31">
            <a:extLst>
              <a:ext uri="{FF2B5EF4-FFF2-40B4-BE49-F238E27FC236}">
                <a16:creationId xmlns:a16="http://schemas.microsoft.com/office/drawing/2014/main" id="{C289CFF0-99E1-24F4-1DB1-F28A8034736C}"/>
              </a:ext>
            </a:extLst>
          </p:cNvPr>
          <p:cNvGrpSpPr/>
          <p:nvPr/>
        </p:nvGrpSpPr>
        <p:grpSpPr>
          <a:xfrm>
            <a:off x="22101798" y="1562951"/>
            <a:ext cx="16054987" cy="14896249"/>
            <a:chOff x="20205155" y="1462858"/>
            <a:chExt cx="15743828" cy="14659301"/>
          </a:xfrm>
        </p:grpSpPr>
        <p:pic>
          <p:nvPicPr>
            <p:cNvPr id="12" name="Picture 11" descr="A chart of different colors&#10;&#10;AI-generated content may be incorrect.">
              <a:extLst>
                <a:ext uri="{FF2B5EF4-FFF2-40B4-BE49-F238E27FC236}">
                  <a16:creationId xmlns:a16="http://schemas.microsoft.com/office/drawing/2014/main" id="{3889ADD4-788A-8BF5-0550-8A4A6FE6D77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977555" y="1462858"/>
              <a:ext cx="7772400" cy="7258522"/>
            </a:xfrm>
            <a:prstGeom prst="rect">
              <a:avLst/>
            </a:prstGeom>
          </p:spPr>
        </p:pic>
        <p:pic>
          <p:nvPicPr>
            <p:cNvPr id="14" name="Picture 13" descr="A chart of different colors&#10;&#10;AI-generated content may be incorrect.">
              <a:extLst>
                <a:ext uri="{FF2B5EF4-FFF2-40B4-BE49-F238E27FC236}">
                  <a16:creationId xmlns:a16="http://schemas.microsoft.com/office/drawing/2014/main" id="{B51BB723-9ECA-6BC9-A5D6-88DD304E30E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205155" y="1462858"/>
              <a:ext cx="7772400" cy="7109800"/>
            </a:xfrm>
            <a:prstGeom prst="rect">
              <a:avLst/>
            </a:prstGeom>
          </p:spPr>
        </p:pic>
        <p:pic>
          <p:nvPicPr>
            <p:cNvPr id="16" name="Picture 15" descr="A chart of different colors&#10;&#10;AI-generated content may be incorrect.">
              <a:extLst>
                <a:ext uri="{FF2B5EF4-FFF2-40B4-BE49-F238E27FC236}">
                  <a16:creationId xmlns:a16="http://schemas.microsoft.com/office/drawing/2014/main" id="{422CF42D-B73C-A63C-055D-26FE12D676D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205155" y="8920407"/>
              <a:ext cx="7772400" cy="7163846"/>
            </a:xfrm>
            <a:prstGeom prst="rect">
              <a:avLst/>
            </a:prstGeom>
          </p:spPr>
        </p:pic>
        <p:pic>
          <p:nvPicPr>
            <p:cNvPr id="31" name="Picture 30" descr="A colorful grid with black lines&#10;&#10;AI-generated content may be incorrect.">
              <a:extLst>
                <a:ext uri="{FF2B5EF4-FFF2-40B4-BE49-F238E27FC236}">
                  <a16:creationId xmlns:a16="http://schemas.microsoft.com/office/drawing/2014/main" id="{22093308-3FC3-46DA-921E-790FCB9A95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977555" y="9397599"/>
              <a:ext cx="7971428" cy="6724560"/>
            </a:xfrm>
            <a:prstGeom prst="rect">
              <a:avLst/>
            </a:prstGeom>
          </p:spPr>
        </p:pic>
      </p:grpSp>
      <p:grpSp>
        <p:nvGrpSpPr>
          <p:cNvPr id="41" name="Group 40">
            <a:extLst>
              <a:ext uri="{FF2B5EF4-FFF2-40B4-BE49-F238E27FC236}">
                <a16:creationId xmlns:a16="http://schemas.microsoft.com/office/drawing/2014/main" id="{56C6B848-011B-0A49-763D-7EA7C87658CD}"/>
              </a:ext>
            </a:extLst>
          </p:cNvPr>
          <p:cNvGrpSpPr/>
          <p:nvPr/>
        </p:nvGrpSpPr>
        <p:grpSpPr>
          <a:xfrm>
            <a:off x="21945600" y="17525924"/>
            <a:ext cx="16211186" cy="14702776"/>
            <a:chOff x="21945600" y="17525924"/>
            <a:chExt cx="16211186" cy="14702776"/>
          </a:xfrm>
        </p:grpSpPr>
        <p:pic>
          <p:nvPicPr>
            <p:cNvPr id="34" name="Picture 33" descr="A blue and red squares&#10;&#10;AI-generated content may be incorrect.">
              <a:extLst>
                <a:ext uri="{FF2B5EF4-FFF2-40B4-BE49-F238E27FC236}">
                  <a16:creationId xmlns:a16="http://schemas.microsoft.com/office/drawing/2014/main" id="{DA2ED033-F54F-27A1-121A-7DEEA1AF420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1945600" y="17525924"/>
              <a:ext cx="7928599" cy="7325220"/>
            </a:xfrm>
            <a:prstGeom prst="rect">
              <a:avLst/>
            </a:prstGeom>
          </p:spPr>
        </p:pic>
        <p:pic>
          <p:nvPicPr>
            <p:cNvPr id="36" name="Picture 35" descr="A blue and red squares&#10;&#10;AI-generated content may be incorrect.">
              <a:extLst>
                <a:ext uri="{FF2B5EF4-FFF2-40B4-BE49-F238E27FC236}">
                  <a16:creationId xmlns:a16="http://schemas.microsoft.com/office/drawing/2014/main" id="{E98A4618-6C5A-6C2A-3BB1-6264262F1E2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384386" y="17525924"/>
              <a:ext cx="7772400" cy="7325220"/>
            </a:xfrm>
            <a:prstGeom prst="rect">
              <a:avLst/>
            </a:prstGeom>
          </p:spPr>
        </p:pic>
        <p:pic>
          <p:nvPicPr>
            <p:cNvPr id="38" name="Picture 37" descr="A blue and brown squares&#10;&#10;AI-generated content may be incorrect.">
              <a:extLst>
                <a:ext uri="{FF2B5EF4-FFF2-40B4-BE49-F238E27FC236}">
                  <a16:creationId xmlns:a16="http://schemas.microsoft.com/office/drawing/2014/main" id="{61C0F33C-8302-A93C-7FC5-7424F3EFA3B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101799" y="25104872"/>
              <a:ext cx="7772400" cy="7123828"/>
            </a:xfrm>
            <a:prstGeom prst="rect">
              <a:avLst/>
            </a:prstGeom>
          </p:spPr>
        </p:pic>
        <p:pic>
          <p:nvPicPr>
            <p:cNvPr id="40" name="Picture 39" descr="A diagram of a rainbow colored curve&#10;&#10;AI-generated content may be incorrect.">
              <a:extLst>
                <a:ext uri="{FF2B5EF4-FFF2-40B4-BE49-F238E27FC236}">
                  <a16:creationId xmlns:a16="http://schemas.microsoft.com/office/drawing/2014/main" id="{A8297453-BDFC-E03C-27FA-ED1A22D56FD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0384386" y="25731882"/>
              <a:ext cx="7772400" cy="6496818"/>
            </a:xfrm>
            <a:prstGeom prst="rect">
              <a:avLst/>
            </a:prstGeom>
          </p:spPr>
        </p:pic>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BFDEFA-A3A3-1724-7A18-A74DC82CFA80}"/>
                  </a:ext>
                </a:extLst>
              </p:cNvPr>
              <p:cNvSpPr txBox="1"/>
              <p:nvPr/>
            </p:nvSpPr>
            <p:spPr>
              <a:xfrm>
                <a:off x="10429256" y="39083779"/>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2" name="TextBox 1">
                <a:extLst>
                  <a:ext uri="{FF2B5EF4-FFF2-40B4-BE49-F238E27FC236}">
                    <a16:creationId xmlns:a16="http://schemas.microsoft.com/office/drawing/2014/main" id="{C2BFDEFA-A3A3-1724-7A18-A74DC82CFA80}"/>
                  </a:ext>
                </a:extLst>
              </p:cNvPr>
              <p:cNvSpPr txBox="1">
                <a:spLocks noRot="1" noChangeAspect="1" noMove="1" noResize="1" noEditPoints="1" noAdjustHandles="1" noChangeArrowheads="1" noChangeShapeType="1" noTextEdit="1"/>
              </p:cNvSpPr>
              <p:nvPr/>
            </p:nvSpPr>
            <p:spPr>
              <a:xfrm>
                <a:off x="10429256" y="39083779"/>
                <a:ext cx="2867186" cy="400110"/>
              </a:xfrm>
              <a:prstGeom prst="rect">
                <a:avLst/>
              </a:prstGeom>
              <a:blipFill>
                <a:blip r:embed="rId18"/>
                <a:stretch>
                  <a:fillRect l="-442"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AF3BBF-446A-368D-43CB-32495BB43C0F}"/>
                  </a:ext>
                </a:extLst>
              </p:cNvPr>
              <p:cNvSpPr txBox="1"/>
              <p:nvPr/>
            </p:nvSpPr>
            <p:spPr>
              <a:xfrm>
                <a:off x="13796537" y="39083779"/>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2DAF3BBF-446A-368D-43CB-32495BB43C0F}"/>
                  </a:ext>
                </a:extLst>
              </p:cNvPr>
              <p:cNvSpPr txBox="1">
                <a:spLocks noRot="1" noChangeAspect="1" noMove="1" noResize="1" noEditPoints="1" noAdjustHandles="1" noChangeArrowheads="1" noChangeShapeType="1" noTextEdit="1"/>
              </p:cNvSpPr>
              <p:nvPr/>
            </p:nvSpPr>
            <p:spPr>
              <a:xfrm>
                <a:off x="13796537" y="39083779"/>
                <a:ext cx="1026117" cy="400110"/>
              </a:xfrm>
              <a:prstGeom prst="rect">
                <a:avLst/>
              </a:prstGeom>
              <a:blipFill>
                <a:blip r:embed="rId19"/>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A90402C-ADE6-AA20-A79C-C37D4499F14E}"/>
                  </a:ext>
                </a:extLst>
              </p:cNvPr>
              <p:cNvSpPr txBox="1"/>
              <p:nvPr/>
            </p:nvSpPr>
            <p:spPr>
              <a:xfrm>
                <a:off x="15436384" y="39088858"/>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 name="TextBox 3">
                <a:extLst>
                  <a:ext uri="{FF2B5EF4-FFF2-40B4-BE49-F238E27FC236}">
                    <a16:creationId xmlns:a16="http://schemas.microsoft.com/office/drawing/2014/main" id="{AA90402C-ADE6-AA20-A79C-C37D4499F14E}"/>
                  </a:ext>
                </a:extLst>
              </p:cNvPr>
              <p:cNvSpPr txBox="1">
                <a:spLocks noRot="1" noChangeAspect="1" noMove="1" noResize="1" noEditPoints="1" noAdjustHandles="1" noChangeArrowheads="1" noChangeShapeType="1" noTextEdit="1"/>
              </p:cNvSpPr>
              <p:nvPr/>
            </p:nvSpPr>
            <p:spPr>
              <a:xfrm>
                <a:off x="15436384" y="39088858"/>
                <a:ext cx="1048877" cy="400110"/>
              </a:xfrm>
              <a:prstGeom prst="rect">
                <a:avLst/>
              </a:prstGeom>
              <a:blipFill>
                <a:blip r:embed="rId20"/>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D5470B7-8422-0E7F-0654-A2C3C6654C0D}"/>
                  </a:ext>
                </a:extLst>
              </p:cNvPr>
              <p:cNvSpPr txBox="1"/>
              <p:nvPr/>
            </p:nvSpPr>
            <p:spPr>
              <a:xfrm>
                <a:off x="16751609" y="39070960"/>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6" name="TextBox 5">
                <a:extLst>
                  <a:ext uri="{FF2B5EF4-FFF2-40B4-BE49-F238E27FC236}">
                    <a16:creationId xmlns:a16="http://schemas.microsoft.com/office/drawing/2014/main" id="{8D5470B7-8422-0E7F-0654-A2C3C6654C0D}"/>
                  </a:ext>
                </a:extLst>
              </p:cNvPr>
              <p:cNvSpPr txBox="1">
                <a:spLocks noRot="1" noChangeAspect="1" noMove="1" noResize="1" noEditPoints="1" noAdjustHandles="1" noChangeArrowheads="1" noChangeShapeType="1" noTextEdit="1"/>
              </p:cNvSpPr>
              <p:nvPr/>
            </p:nvSpPr>
            <p:spPr>
              <a:xfrm>
                <a:off x="16751609" y="39070960"/>
                <a:ext cx="3223646" cy="400110"/>
              </a:xfrm>
              <a:prstGeom prst="rect">
                <a:avLst/>
              </a:prstGeom>
              <a:blipFill>
                <a:blip r:embed="rId21"/>
                <a:stretch>
                  <a:fillRect b="-1875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D196C58-66F7-4927-2D35-E60330537B9E}"/>
              </a:ext>
            </a:extLst>
          </p:cNvPr>
          <p:cNvSpPr txBox="1"/>
          <p:nvPr/>
        </p:nvSpPr>
        <p:spPr>
          <a:xfrm>
            <a:off x="20512479" y="39046338"/>
            <a:ext cx="319318" cy="424732"/>
          </a:xfrm>
          <a:prstGeom prst="rect">
            <a:avLst/>
          </a:prstGeom>
          <a:noFill/>
        </p:spPr>
        <p:txBody>
          <a:bodyPr wrap="none" rtlCol="0">
            <a:spAutoFit/>
          </a:bodyPr>
          <a:lstStyle/>
          <a:p>
            <a:r>
              <a:rPr lang="en-US" dirty="0"/>
              <a:t>E</a:t>
            </a:r>
          </a:p>
        </p:txBody>
      </p:sp>
      <p:sp>
        <p:nvSpPr>
          <p:cNvPr id="10" name="TextBox 9">
            <a:extLst>
              <a:ext uri="{FF2B5EF4-FFF2-40B4-BE49-F238E27FC236}">
                <a16:creationId xmlns:a16="http://schemas.microsoft.com/office/drawing/2014/main" id="{3B791A6F-25FF-77BE-8784-752A66956F99}"/>
              </a:ext>
            </a:extLst>
          </p:cNvPr>
          <p:cNvSpPr txBox="1"/>
          <p:nvPr/>
        </p:nvSpPr>
        <p:spPr>
          <a:xfrm>
            <a:off x="21369021" y="39046338"/>
            <a:ext cx="304892" cy="424732"/>
          </a:xfrm>
          <a:prstGeom prst="rect">
            <a:avLst/>
          </a:prstGeom>
          <a:noFill/>
        </p:spPr>
        <p:txBody>
          <a:bodyPr wrap="none" rtlCol="0">
            <a:spAutoFit/>
          </a:bodyPr>
          <a:lstStyle/>
          <a:p>
            <a:r>
              <a:rPr lang="en-US" dirty="0"/>
              <a:t>x</a:t>
            </a:r>
          </a:p>
        </p:txBody>
      </p:sp>
    </p:spTree>
    <p:extLst>
      <p:ext uri="{BB962C8B-B14F-4D97-AF65-F5344CB8AC3E}">
        <p14:creationId xmlns:p14="http://schemas.microsoft.com/office/powerpoint/2010/main" val="74169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7C36E72-338B-1E37-E97E-47AEC6231A07}"/>
                  </a:ext>
                </a:extLst>
              </p:cNvPr>
              <p:cNvSpPr txBox="1"/>
              <p:nvPr/>
            </p:nvSpPr>
            <p:spPr>
              <a:xfrm>
                <a:off x="16624434" y="42620110"/>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3" name="TextBox 32">
                <a:extLst>
                  <a:ext uri="{FF2B5EF4-FFF2-40B4-BE49-F238E27FC236}">
                    <a16:creationId xmlns:a16="http://schemas.microsoft.com/office/drawing/2014/main" id="{67C36E72-338B-1E37-E97E-47AEC6231A07}"/>
                  </a:ext>
                </a:extLst>
              </p:cNvPr>
              <p:cNvSpPr txBox="1">
                <a:spLocks noRot="1" noChangeAspect="1" noMove="1" noResize="1" noEditPoints="1" noAdjustHandles="1" noChangeArrowheads="1" noChangeShapeType="1" noTextEdit="1"/>
              </p:cNvSpPr>
              <p:nvPr/>
            </p:nvSpPr>
            <p:spPr>
              <a:xfrm>
                <a:off x="16624434" y="42620110"/>
                <a:ext cx="1048877" cy="400110"/>
              </a:xfrm>
              <a:prstGeom prst="rect">
                <a:avLst/>
              </a:prstGeom>
              <a:blipFill>
                <a:blip r:embed="rId2"/>
                <a:stretch>
                  <a:fillRect b="-12121"/>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23FC6989-F66F-2759-8F4D-F823F4F9CCE5}"/>
              </a:ext>
            </a:extLst>
          </p:cNvPr>
          <p:cNvSpPr txBox="1"/>
          <p:nvPr/>
        </p:nvSpPr>
        <p:spPr>
          <a:xfrm>
            <a:off x="24474106" y="44487956"/>
            <a:ext cx="319318" cy="424732"/>
          </a:xfrm>
          <a:prstGeom prst="rect">
            <a:avLst/>
          </a:prstGeom>
          <a:noFill/>
        </p:spPr>
        <p:txBody>
          <a:bodyPr wrap="none" rtlCol="0">
            <a:spAutoFit/>
          </a:bodyPr>
          <a:lstStyle/>
          <a:p>
            <a:r>
              <a:rPr lang="en-US" dirty="0"/>
              <a:t>E</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3D3F535-C847-4798-4263-776E5793F39E}"/>
                  </a:ext>
                </a:extLst>
              </p:cNvPr>
              <p:cNvSpPr txBox="1"/>
              <p:nvPr/>
            </p:nvSpPr>
            <p:spPr>
              <a:xfrm>
                <a:off x="11617306" y="43710406"/>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97" name="TextBox 96">
                <a:extLst>
                  <a:ext uri="{FF2B5EF4-FFF2-40B4-BE49-F238E27FC236}">
                    <a16:creationId xmlns:a16="http://schemas.microsoft.com/office/drawing/2014/main" id="{A3D3F535-C847-4798-4263-776E5793F39E}"/>
                  </a:ext>
                </a:extLst>
              </p:cNvPr>
              <p:cNvSpPr txBox="1">
                <a:spLocks noRot="1" noChangeAspect="1" noMove="1" noResize="1" noEditPoints="1" noAdjustHandles="1" noChangeArrowheads="1" noChangeShapeType="1" noTextEdit="1"/>
              </p:cNvSpPr>
              <p:nvPr/>
            </p:nvSpPr>
            <p:spPr>
              <a:xfrm>
                <a:off x="11617306" y="43710406"/>
                <a:ext cx="2867186" cy="400110"/>
              </a:xfrm>
              <a:prstGeom prst="rect">
                <a:avLst/>
              </a:prstGeom>
              <a:blipFill>
                <a:blip r:embed="rId3"/>
                <a:stretch>
                  <a:fillRect l="-441"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008B182-E998-F1B9-6C49-8F370FD71AB3}"/>
                  </a:ext>
                </a:extLst>
              </p:cNvPr>
              <p:cNvSpPr txBox="1"/>
              <p:nvPr/>
            </p:nvSpPr>
            <p:spPr>
              <a:xfrm>
                <a:off x="17939659" y="43697587"/>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100" name="TextBox 99">
                <a:extLst>
                  <a:ext uri="{FF2B5EF4-FFF2-40B4-BE49-F238E27FC236}">
                    <a16:creationId xmlns:a16="http://schemas.microsoft.com/office/drawing/2014/main" id="{9008B182-E998-F1B9-6C49-8F370FD71AB3}"/>
                  </a:ext>
                </a:extLst>
              </p:cNvPr>
              <p:cNvSpPr txBox="1">
                <a:spLocks noRot="1" noChangeAspect="1" noMove="1" noResize="1" noEditPoints="1" noAdjustHandles="1" noChangeArrowheads="1" noChangeShapeType="1" noTextEdit="1"/>
              </p:cNvSpPr>
              <p:nvPr/>
            </p:nvSpPr>
            <p:spPr>
              <a:xfrm>
                <a:off x="17939659" y="43697587"/>
                <a:ext cx="3223646" cy="400110"/>
              </a:xfrm>
              <a:prstGeom prst="rect">
                <a:avLst/>
              </a:prstGeom>
              <a:blipFill>
                <a:blip r:embed="rId4"/>
                <a:stretch>
                  <a:fillRect b="-18182"/>
                </a:stretch>
              </a:blipFill>
            </p:spPr>
            <p:txBody>
              <a:bodyPr/>
              <a:lstStyle/>
              <a:p>
                <a:r>
                  <a:rPr lang="en-US">
                    <a:noFill/>
                  </a:rPr>
                  <a:t> </a:t>
                </a:r>
              </a:p>
            </p:txBody>
          </p:sp>
        </mc:Fallback>
      </mc:AlternateContent>
      <p:sp>
        <p:nvSpPr>
          <p:cNvPr id="101" name="TextBox 100">
            <a:extLst>
              <a:ext uri="{FF2B5EF4-FFF2-40B4-BE49-F238E27FC236}">
                <a16:creationId xmlns:a16="http://schemas.microsoft.com/office/drawing/2014/main" id="{CE538C8A-8AAA-CE35-5CF2-DCB70F0B3A8F}"/>
              </a:ext>
            </a:extLst>
          </p:cNvPr>
          <p:cNvSpPr txBox="1"/>
          <p:nvPr/>
        </p:nvSpPr>
        <p:spPr>
          <a:xfrm>
            <a:off x="22557071" y="43672965"/>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4C1D0DBD-5B0E-5BDC-FD09-4F7757EC76ED}"/>
                  </a:ext>
                </a:extLst>
              </p:cNvPr>
              <p:cNvSpPr txBox="1"/>
              <p:nvPr/>
            </p:nvSpPr>
            <p:spPr>
              <a:xfrm>
                <a:off x="13392125" y="38312808"/>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0" name="TextBox 109">
                <a:extLst>
                  <a:ext uri="{FF2B5EF4-FFF2-40B4-BE49-F238E27FC236}">
                    <a16:creationId xmlns:a16="http://schemas.microsoft.com/office/drawing/2014/main" id="{4C1D0DBD-5B0E-5BDC-FD09-4F7757EC76ED}"/>
                  </a:ext>
                </a:extLst>
              </p:cNvPr>
              <p:cNvSpPr txBox="1">
                <a:spLocks noRot="1" noChangeAspect="1" noMove="1" noResize="1" noEditPoints="1" noAdjustHandles="1" noChangeArrowheads="1" noChangeShapeType="1" noTextEdit="1"/>
              </p:cNvSpPr>
              <p:nvPr/>
            </p:nvSpPr>
            <p:spPr>
              <a:xfrm>
                <a:off x="13392125" y="38312808"/>
                <a:ext cx="1026117" cy="400110"/>
              </a:xfrm>
              <a:prstGeom prst="rect">
                <a:avLst/>
              </a:prstGeom>
              <a:blipFill>
                <a:blip r:embed="rId5"/>
                <a:stretch>
                  <a:fillRect b="-12121"/>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82856143-D5BF-024E-4E14-5C75E3D4B0BF}"/>
              </a:ext>
            </a:extLst>
          </p:cNvPr>
          <p:cNvSpPr txBox="1"/>
          <p:nvPr/>
        </p:nvSpPr>
        <p:spPr>
          <a:xfrm>
            <a:off x="19376630" y="38377209"/>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CC1BEFF8-FB80-5F77-A81A-1F634E04AD82}"/>
                  </a:ext>
                </a:extLst>
              </p:cNvPr>
              <p:cNvSpPr txBox="1"/>
              <p:nvPr/>
            </p:nvSpPr>
            <p:spPr>
              <a:xfrm>
                <a:off x="27931170" y="37318098"/>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5" name="TextBox 114">
                <a:extLst>
                  <a:ext uri="{FF2B5EF4-FFF2-40B4-BE49-F238E27FC236}">
                    <a16:creationId xmlns:a16="http://schemas.microsoft.com/office/drawing/2014/main" id="{CC1BEFF8-FB80-5F77-A81A-1F634E04AD82}"/>
                  </a:ext>
                </a:extLst>
              </p:cNvPr>
              <p:cNvSpPr txBox="1">
                <a:spLocks noRot="1" noChangeAspect="1" noMove="1" noResize="1" noEditPoints="1" noAdjustHandles="1" noChangeArrowheads="1" noChangeShapeType="1" noTextEdit="1"/>
              </p:cNvSpPr>
              <p:nvPr/>
            </p:nvSpPr>
            <p:spPr>
              <a:xfrm>
                <a:off x="27931170" y="37318098"/>
                <a:ext cx="1048877" cy="400110"/>
              </a:xfrm>
              <a:prstGeom prst="rect">
                <a:avLst/>
              </a:prstGeom>
              <a:blipFill>
                <a:blip r:embed="rId6"/>
                <a:stretch>
                  <a:fillRect b="-15625"/>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999263DF-E65A-251A-DD4D-1CC0CF86AF27}"/>
              </a:ext>
            </a:extLst>
          </p:cNvPr>
          <p:cNvSpPr txBox="1"/>
          <p:nvPr/>
        </p:nvSpPr>
        <p:spPr>
          <a:xfrm>
            <a:off x="19529030" y="38529609"/>
            <a:ext cx="304892" cy="424732"/>
          </a:xfrm>
          <a:prstGeom prst="rect">
            <a:avLst/>
          </a:prstGeom>
          <a:noFill/>
        </p:spPr>
        <p:txBody>
          <a:bodyPr wrap="none" rtlCol="0">
            <a:spAutoFit/>
          </a:bodyPr>
          <a:lstStyle/>
          <a:p>
            <a:r>
              <a:rPr lang="en-US" dirty="0"/>
              <a:t>x</a:t>
            </a:r>
          </a:p>
        </p:txBody>
      </p:sp>
      <p:sp>
        <p:nvSpPr>
          <p:cNvPr id="128" name="TextBox 127">
            <a:extLst>
              <a:ext uri="{FF2B5EF4-FFF2-40B4-BE49-F238E27FC236}">
                <a16:creationId xmlns:a16="http://schemas.microsoft.com/office/drawing/2014/main" id="{DAB261DE-F418-AC3B-62E0-B461F6700889}"/>
              </a:ext>
            </a:extLst>
          </p:cNvPr>
          <p:cNvSpPr txBox="1"/>
          <p:nvPr/>
        </p:nvSpPr>
        <p:spPr>
          <a:xfrm>
            <a:off x="21899181" y="38043794"/>
            <a:ext cx="319318" cy="424732"/>
          </a:xfrm>
          <a:prstGeom prst="rect">
            <a:avLst/>
          </a:prstGeom>
          <a:noFill/>
        </p:spPr>
        <p:txBody>
          <a:bodyPr wrap="none" rtlCol="0">
            <a:spAutoFit/>
          </a:bodyPr>
          <a:lstStyle/>
          <a:p>
            <a:r>
              <a:rPr lang="en-US" dirty="0"/>
              <a:t>E</a:t>
            </a:r>
          </a:p>
        </p:txBody>
      </p:sp>
      <p:grpSp>
        <p:nvGrpSpPr>
          <p:cNvPr id="152" name="Group 151">
            <a:extLst>
              <a:ext uri="{FF2B5EF4-FFF2-40B4-BE49-F238E27FC236}">
                <a16:creationId xmlns:a16="http://schemas.microsoft.com/office/drawing/2014/main" id="{56EDCF4C-261E-43E3-BAE6-0C8824538F09}"/>
              </a:ext>
            </a:extLst>
          </p:cNvPr>
          <p:cNvGrpSpPr/>
          <p:nvPr/>
        </p:nvGrpSpPr>
        <p:grpSpPr>
          <a:xfrm>
            <a:off x="12425351" y="18783411"/>
            <a:ext cx="9447042" cy="9898047"/>
            <a:chOff x="12425351" y="18783411"/>
            <a:chExt cx="9447042" cy="9898047"/>
          </a:xfrm>
        </p:grpSpPr>
        <p:grpSp>
          <p:nvGrpSpPr>
            <p:cNvPr id="145" name="Group 144">
              <a:extLst>
                <a:ext uri="{FF2B5EF4-FFF2-40B4-BE49-F238E27FC236}">
                  <a16:creationId xmlns:a16="http://schemas.microsoft.com/office/drawing/2014/main" id="{99769A35-4D3F-19E1-5C8F-05C32E0D5576}"/>
                </a:ext>
              </a:extLst>
            </p:cNvPr>
            <p:cNvGrpSpPr/>
            <p:nvPr/>
          </p:nvGrpSpPr>
          <p:grpSpPr>
            <a:xfrm>
              <a:off x="12425351" y="18783411"/>
              <a:ext cx="9447042" cy="9385768"/>
              <a:chOff x="1864024" y="11786692"/>
              <a:chExt cx="9447042" cy="9385768"/>
            </a:xfrm>
          </p:grpSpPr>
          <p:pic>
            <p:nvPicPr>
              <p:cNvPr id="107" name="Picture 106" descr="A diagram of a prism&#10;&#10;AI-generated content may be incorrect.">
                <a:extLst>
                  <a:ext uri="{FF2B5EF4-FFF2-40B4-BE49-F238E27FC236}">
                    <a16:creationId xmlns:a16="http://schemas.microsoft.com/office/drawing/2014/main" id="{E615AFFF-62BE-6421-7544-8649332598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05191" y="16753820"/>
                <a:ext cx="4507167" cy="3967439"/>
              </a:xfrm>
              <a:prstGeom prst="rect">
                <a:avLst/>
              </a:prstGeom>
            </p:spPr>
          </p:pic>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7D4B847F-B5BB-8594-F52D-C881CE402FBE}"/>
                      </a:ext>
                    </a:extLst>
                  </p:cNvPr>
                  <p:cNvSpPr txBox="1"/>
                  <p:nvPr/>
                </p:nvSpPr>
                <p:spPr>
                  <a:xfrm>
                    <a:off x="9511859" y="17219923"/>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9" name="TextBox 118">
                    <a:extLst>
                      <a:ext uri="{FF2B5EF4-FFF2-40B4-BE49-F238E27FC236}">
                        <a16:creationId xmlns:a16="http://schemas.microsoft.com/office/drawing/2014/main" id="{7D4B847F-B5BB-8594-F52D-C881CE402FBE}"/>
                      </a:ext>
                    </a:extLst>
                  </p:cNvPr>
                  <p:cNvSpPr txBox="1">
                    <a:spLocks noRot="1" noChangeAspect="1" noMove="1" noResize="1" noEditPoints="1" noAdjustHandles="1" noChangeArrowheads="1" noChangeShapeType="1" noTextEdit="1"/>
                  </p:cNvSpPr>
                  <p:nvPr/>
                </p:nvSpPr>
                <p:spPr>
                  <a:xfrm>
                    <a:off x="9511859" y="17219923"/>
                    <a:ext cx="1026117" cy="400110"/>
                  </a:xfrm>
                  <a:prstGeom prst="rect">
                    <a:avLst/>
                  </a:prstGeom>
                  <a:blipFill>
                    <a:blip r:embed="rId8"/>
                    <a:stretch>
                      <a:fillRect b="-12500"/>
                    </a:stretch>
                  </a:blipFill>
                </p:spPr>
                <p:txBody>
                  <a:bodyPr/>
                  <a:lstStyle/>
                  <a:p>
                    <a:r>
                      <a:rPr lang="en-US">
                        <a:noFill/>
                      </a:rPr>
                      <a:t> </a:t>
                    </a:r>
                  </a:p>
                </p:txBody>
              </p:sp>
            </mc:Fallback>
          </mc:AlternateContent>
          <p:sp>
            <p:nvSpPr>
              <p:cNvPr id="114" name="TextBox 113">
                <a:extLst>
                  <a:ext uri="{FF2B5EF4-FFF2-40B4-BE49-F238E27FC236}">
                    <a16:creationId xmlns:a16="http://schemas.microsoft.com/office/drawing/2014/main" id="{EF11998C-03BA-EC71-03E4-0FD2619FDA61}"/>
                  </a:ext>
                </a:extLst>
              </p:cNvPr>
              <p:cNvSpPr txBox="1"/>
              <p:nvPr/>
            </p:nvSpPr>
            <p:spPr>
              <a:xfrm>
                <a:off x="7080973" y="19087846"/>
                <a:ext cx="319318" cy="424732"/>
              </a:xfrm>
              <a:prstGeom prst="rect">
                <a:avLst/>
              </a:prstGeom>
              <a:noFill/>
            </p:spPr>
            <p:txBody>
              <a:bodyPr wrap="none" rtlCol="0">
                <a:spAutoFit/>
              </a:bodyPr>
              <a:lstStyle/>
              <a:p>
                <a:r>
                  <a:rPr lang="en-US" dirty="0"/>
                  <a:t>E</a:t>
                </a:r>
              </a:p>
            </p:txBody>
          </p:sp>
          <p:sp>
            <p:nvSpPr>
              <p:cNvPr id="126" name="TextBox 125">
                <a:extLst>
                  <a:ext uri="{FF2B5EF4-FFF2-40B4-BE49-F238E27FC236}">
                    <a16:creationId xmlns:a16="http://schemas.microsoft.com/office/drawing/2014/main" id="{69F749D9-F4FF-D133-ECF9-AA67001CF40F}"/>
                  </a:ext>
                </a:extLst>
              </p:cNvPr>
              <p:cNvSpPr txBox="1"/>
              <p:nvPr/>
            </p:nvSpPr>
            <p:spPr>
              <a:xfrm>
                <a:off x="9579915" y="19815566"/>
                <a:ext cx="304892" cy="424732"/>
              </a:xfrm>
              <a:prstGeom prst="rect">
                <a:avLst/>
              </a:prstGeom>
              <a:noFill/>
            </p:spPr>
            <p:txBody>
              <a:bodyPr wrap="none" rtlCol="0">
                <a:spAutoFit/>
              </a:bodyPr>
              <a:lstStyle/>
              <a:p>
                <a:r>
                  <a:rPr lang="en-US" dirty="0"/>
                  <a:t>x</a:t>
                </a:r>
              </a:p>
            </p:txBody>
          </p:sp>
          <p:pic>
            <p:nvPicPr>
              <p:cNvPr id="104" name="Picture 103" descr="A diagram of different colors&#10;&#10;AI-generated content may be incorrect.">
                <a:extLst>
                  <a:ext uri="{FF2B5EF4-FFF2-40B4-BE49-F238E27FC236}">
                    <a16:creationId xmlns:a16="http://schemas.microsoft.com/office/drawing/2014/main" id="{CA587BCE-1266-657E-1449-5BB548D4C0D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82534" y="11815732"/>
                <a:ext cx="4489705" cy="4315968"/>
              </a:xfrm>
              <a:prstGeom prst="rect">
                <a:avLst/>
              </a:prstGeom>
            </p:spPr>
          </p:pic>
          <p:pic>
            <p:nvPicPr>
              <p:cNvPr id="105" name="Picture 104" descr="A diagram of a color spectrum&#10;&#10;AI-generated content may be incorrect.">
                <a:extLst>
                  <a:ext uri="{FF2B5EF4-FFF2-40B4-BE49-F238E27FC236}">
                    <a16:creationId xmlns:a16="http://schemas.microsoft.com/office/drawing/2014/main" id="{AE24A428-366C-7996-D4D6-F659B26BAFC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15350" y="11786692"/>
                <a:ext cx="4489704" cy="4318000"/>
              </a:xfrm>
              <a:prstGeom prst="rect">
                <a:avLst/>
              </a:prstGeom>
            </p:spPr>
          </p:pic>
          <p:pic>
            <p:nvPicPr>
              <p:cNvPr id="106" name="Picture 105" descr="A diagram of different colors&#10;&#10;AI-generated content may be incorrect.">
                <a:extLst>
                  <a:ext uri="{FF2B5EF4-FFF2-40B4-BE49-F238E27FC236}">
                    <a16:creationId xmlns:a16="http://schemas.microsoft.com/office/drawing/2014/main" id="{F426D72C-6BB1-BF54-9CAA-4634D619916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15486" y="16470773"/>
                <a:ext cx="4489705" cy="4318000"/>
              </a:xfrm>
              <a:prstGeom prst="rect">
                <a:avLst/>
              </a:prstGeom>
            </p:spPr>
          </p:pic>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3618261-87C6-2EEA-AE54-5A5F024D87DF}"/>
                      </a:ext>
                    </a:extLst>
                  </p:cNvPr>
                  <p:cNvSpPr txBox="1"/>
                  <p:nvPr/>
                </p:nvSpPr>
                <p:spPr>
                  <a:xfrm>
                    <a:off x="2293015" y="15647408"/>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108" name="TextBox 107">
                    <a:extLst>
                      <a:ext uri="{FF2B5EF4-FFF2-40B4-BE49-F238E27FC236}">
                        <a16:creationId xmlns:a16="http://schemas.microsoft.com/office/drawing/2014/main" id="{03618261-87C6-2EEA-AE54-5A5F024D87DF}"/>
                      </a:ext>
                    </a:extLst>
                  </p:cNvPr>
                  <p:cNvSpPr txBox="1">
                    <a:spLocks noRot="1" noChangeAspect="1" noMove="1" noResize="1" noEditPoints="1" noAdjustHandles="1" noChangeArrowheads="1" noChangeShapeType="1" noTextEdit="1"/>
                  </p:cNvSpPr>
                  <p:nvPr/>
                </p:nvSpPr>
                <p:spPr>
                  <a:xfrm>
                    <a:off x="2293015" y="15647408"/>
                    <a:ext cx="2867186" cy="400110"/>
                  </a:xfrm>
                  <a:prstGeom prst="rect">
                    <a:avLst/>
                  </a:prstGeom>
                  <a:blipFill>
                    <a:blip r:embed="rId12"/>
                    <a:stretch>
                      <a:fillRect l="-442"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D8B7540F-81D9-9730-3A7C-D4F420F00D6B}"/>
                      </a:ext>
                    </a:extLst>
                  </p:cNvPr>
                  <p:cNvSpPr txBox="1"/>
                  <p:nvPr/>
                </p:nvSpPr>
                <p:spPr>
                  <a:xfrm>
                    <a:off x="6823275" y="15647408"/>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109" name="TextBox 108">
                    <a:extLst>
                      <a:ext uri="{FF2B5EF4-FFF2-40B4-BE49-F238E27FC236}">
                        <a16:creationId xmlns:a16="http://schemas.microsoft.com/office/drawing/2014/main" id="{D8B7540F-81D9-9730-3A7C-D4F420F00D6B}"/>
                      </a:ext>
                    </a:extLst>
                  </p:cNvPr>
                  <p:cNvSpPr txBox="1">
                    <a:spLocks noRot="1" noChangeAspect="1" noMove="1" noResize="1" noEditPoints="1" noAdjustHandles="1" noChangeArrowheads="1" noChangeShapeType="1" noTextEdit="1"/>
                  </p:cNvSpPr>
                  <p:nvPr/>
                </p:nvSpPr>
                <p:spPr>
                  <a:xfrm>
                    <a:off x="6823275" y="15647408"/>
                    <a:ext cx="3223646" cy="400110"/>
                  </a:xfrm>
                  <a:prstGeom prst="rect">
                    <a:avLst/>
                  </a:prstGeom>
                  <a:blipFill>
                    <a:blip r:embed="rId13"/>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9A3E12F-D34B-A928-FBA3-F7B49C5C2287}"/>
                      </a:ext>
                    </a:extLst>
                  </p:cNvPr>
                  <p:cNvSpPr txBox="1"/>
                  <p:nvPr/>
                </p:nvSpPr>
                <p:spPr>
                  <a:xfrm>
                    <a:off x="10262189" y="16080052"/>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6" name="TextBox 115">
                    <a:extLst>
                      <a:ext uri="{FF2B5EF4-FFF2-40B4-BE49-F238E27FC236}">
                        <a16:creationId xmlns:a16="http://schemas.microsoft.com/office/drawing/2014/main" id="{59A3E12F-D34B-A928-FBA3-F7B49C5C2287}"/>
                      </a:ext>
                    </a:extLst>
                  </p:cNvPr>
                  <p:cNvSpPr txBox="1">
                    <a:spLocks noRot="1" noChangeAspect="1" noMove="1" noResize="1" noEditPoints="1" noAdjustHandles="1" noChangeArrowheads="1" noChangeShapeType="1" noTextEdit="1"/>
                  </p:cNvSpPr>
                  <p:nvPr/>
                </p:nvSpPr>
                <p:spPr>
                  <a:xfrm>
                    <a:off x="10262189" y="16080052"/>
                    <a:ext cx="1048877" cy="400110"/>
                  </a:xfrm>
                  <a:prstGeom prst="rect">
                    <a:avLst/>
                  </a:prstGeom>
                  <a:blipFill>
                    <a:blip r:embed="rId14"/>
                    <a:stretch>
                      <a:fillRect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3CC9546-EFFC-7F90-6429-D5E348E5ACBE}"/>
                      </a:ext>
                    </a:extLst>
                  </p:cNvPr>
                  <p:cNvSpPr txBox="1"/>
                  <p:nvPr/>
                </p:nvSpPr>
                <p:spPr>
                  <a:xfrm>
                    <a:off x="5478422" y="16047518"/>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7" name="TextBox 116">
                    <a:extLst>
                      <a:ext uri="{FF2B5EF4-FFF2-40B4-BE49-F238E27FC236}">
                        <a16:creationId xmlns:a16="http://schemas.microsoft.com/office/drawing/2014/main" id="{43CC9546-EFFC-7F90-6429-D5E348E5ACBE}"/>
                      </a:ext>
                    </a:extLst>
                  </p:cNvPr>
                  <p:cNvSpPr txBox="1">
                    <a:spLocks noRot="1" noChangeAspect="1" noMove="1" noResize="1" noEditPoints="1" noAdjustHandles="1" noChangeArrowheads="1" noChangeShapeType="1" noTextEdit="1"/>
                  </p:cNvSpPr>
                  <p:nvPr/>
                </p:nvSpPr>
                <p:spPr>
                  <a:xfrm>
                    <a:off x="5478422" y="16047518"/>
                    <a:ext cx="1048877" cy="400110"/>
                  </a:xfrm>
                  <a:prstGeom prst="rect">
                    <a:avLst/>
                  </a:prstGeom>
                  <a:blipFill>
                    <a:blip r:embed="rId15"/>
                    <a:stretch>
                      <a:fillRect b="-12121"/>
                    </a:stretch>
                  </a:blipFill>
                </p:spPr>
                <p:txBody>
                  <a:bodyPr/>
                  <a:lstStyle/>
                  <a:p>
                    <a:r>
                      <a:rPr lang="en-US">
                        <a:noFill/>
                      </a:rPr>
                      <a:t> </a:t>
                    </a:r>
                  </a:p>
                </p:txBody>
              </p:sp>
            </mc:Fallback>
          </mc:AlternateContent>
          <p:sp>
            <p:nvSpPr>
              <p:cNvPr id="127" name="TextBox 126">
                <a:extLst>
                  <a:ext uri="{FF2B5EF4-FFF2-40B4-BE49-F238E27FC236}">
                    <a16:creationId xmlns:a16="http://schemas.microsoft.com/office/drawing/2014/main" id="{6D8A9CEF-D055-BEE7-A57C-FEE75B65F2ED}"/>
                  </a:ext>
                </a:extLst>
              </p:cNvPr>
              <p:cNvSpPr txBox="1"/>
              <p:nvPr/>
            </p:nvSpPr>
            <p:spPr>
              <a:xfrm>
                <a:off x="5249869" y="19902415"/>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9C439134-EE84-FD8F-9DA2-E3A79BFB3A05}"/>
                      </a:ext>
                    </a:extLst>
                  </p:cNvPr>
                  <p:cNvSpPr txBox="1"/>
                  <p:nvPr/>
                </p:nvSpPr>
                <p:spPr>
                  <a:xfrm>
                    <a:off x="5554761" y="20772350"/>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0" name="TextBox 119">
                    <a:extLst>
                      <a:ext uri="{FF2B5EF4-FFF2-40B4-BE49-F238E27FC236}">
                        <a16:creationId xmlns:a16="http://schemas.microsoft.com/office/drawing/2014/main" id="{9C439134-EE84-FD8F-9DA2-E3A79BFB3A05}"/>
                      </a:ext>
                    </a:extLst>
                  </p:cNvPr>
                  <p:cNvSpPr txBox="1">
                    <a:spLocks noRot="1" noChangeAspect="1" noMove="1" noResize="1" noEditPoints="1" noAdjustHandles="1" noChangeArrowheads="1" noChangeShapeType="1" noTextEdit="1"/>
                  </p:cNvSpPr>
                  <p:nvPr/>
                </p:nvSpPr>
                <p:spPr>
                  <a:xfrm>
                    <a:off x="5554761" y="20772350"/>
                    <a:ext cx="1026117" cy="400110"/>
                  </a:xfrm>
                  <a:prstGeom prst="rect">
                    <a:avLst/>
                  </a:prstGeom>
                  <a:blipFill>
                    <a:blip r:embed="rId16"/>
                    <a:stretch>
                      <a:fillRect l="-1235" b="-12121"/>
                    </a:stretch>
                  </a:blipFill>
                </p:spPr>
                <p:txBody>
                  <a:bodyPr/>
                  <a:lstStyle/>
                  <a:p>
                    <a:r>
                      <a:rPr lang="en-US">
                        <a:noFill/>
                      </a:rPr>
                      <a:t> </a:t>
                    </a:r>
                  </a:p>
                </p:txBody>
              </p:sp>
            </mc:Fallback>
          </mc:AlternateContent>
          <p:sp>
            <p:nvSpPr>
              <p:cNvPr id="129" name="TextBox 128">
                <a:extLst>
                  <a:ext uri="{FF2B5EF4-FFF2-40B4-BE49-F238E27FC236}">
                    <a16:creationId xmlns:a16="http://schemas.microsoft.com/office/drawing/2014/main" id="{1535836C-D0A4-4D70-5450-AC9F0BAC174B}"/>
                  </a:ext>
                </a:extLst>
              </p:cNvPr>
              <p:cNvSpPr txBox="1"/>
              <p:nvPr/>
            </p:nvSpPr>
            <p:spPr>
              <a:xfrm>
                <a:off x="1864024" y="12093937"/>
                <a:ext cx="319318" cy="424732"/>
              </a:xfrm>
              <a:prstGeom prst="rect">
                <a:avLst/>
              </a:prstGeom>
              <a:noFill/>
            </p:spPr>
            <p:txBody>
              <a:bodyPr wrap="none" rtlCol="0">
                <a:spAutoFit/>
              </a:bodyPr>
              <a:lstStyle/>
              <a:p>
                <a:r>
                  <a:rPr lang="en-US" dirty="0"/>
                  <a:t>E</a:t>
                </a:r>
              </a:p>
            </p:txBody>
          </p:sp>
          <p:sp>
            <p:nvSpPr>
              <p:cNvPr id="130" name="TextBox 129">
                <a:extLst>
                  <a:ext uri="{FF2B5EF4-FFF2-40B4-BE49-F238E27FC236}">
                    <a16:creationId xmlns:a16="http://schemas.microsoft.com/office/drawing/2014/main" id="{81EA27EE-3184-155F-9199-78425D468D98}"/>
                  </a:ext>
                </a:extLst>
              </p:cNvPr>
              <p:cNvSpPr txBox="1"/>
              <p:nvPr/>
            </p:nvSpPr>
            <p:spPr>
              <a:xfrm>
                <a:off x="6460342" y="12093937"/>
                <a:ext cx="319318" cy="424732"/>
              </a:xfrm>
              <a:prstGeom prst="rect">
                <a:avLst/>
              </a:prstGeom>
              <a:noFill/>
            </p:spPr>
            <p:txBody>
              <a:bodyPr wrap="none" rtlCol="0">
                <a:spAutoFit/>
              </a:bodyPr>
              <a:lstStyle/>
              <a:p>
                <a:r>
                  <a:rPr lang="en-US" dirty="0"/>
                  <a:t>E</a:t>
                </a:r>
              </a:p>
            </p:txBody>
          </p:sp>
          <p:sp>
            <p:nvSpPr>
              <p:cNvPr id="131" name="TextBox 130">
                <a:extLst>
                  <a:ext uri="{FF2B5EF4-FFF2-40B4-BE49-F238E27FC236}">
                    <a16:creationId xmlns:a16="http://schemas.microsoft.com/office/drawing/2014/main" id="{F34F818A-8ACE-7727-B6FE-EEA2C9AB3FF4}"/>
                  </a:ext>
                </a:extLst>
              </p:cNvPr>
              <p:cNvSpPr txBox="1"/>
              <p:nvPr/>
            </p:nvSpPr>
            <p:spPr>
              <a:xfrm>
                <a:off x="1955827" y="16854656"/>
                <a:ext cx="319318" cy="424732"/>
              </a:xfrm>
              <a:prstGeom prst="rect">
                <a:avLst/>
              </a:prstGeom>
              <a:noFill/>
            </p:spPr>
            <p:txBody>
              <a:bodyPr wrap="none" rtlCol="0">
                <a:spAutoFit/>
              </a:bodyPr>
              <a:lstStyle/>
              <a:p>
                <a:r>
                  <a:rPr lang="en-US" dirty="0"/>
                  <a:t>E</a:t>
                </a:r>
              </a:p>
            </p:txBody>
          </p:sp>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90FE37D4-584C-E512-C12C-2B38142EA0B2}"/>
                      </a:ext>
                    </a:extLst>
                  </p:cNvPr>
                  <p:cNvSpPr txBox="1"/>
                  <p:nvPr/>
                </p:nvSpPr>
                <p:spPr>
                  <a:xfrm>
                    <a:off x="10151941" y="20735480"/>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8" name="TextBox 117">
                    <a:extLst>
                      <a:ext uri="{FF2B5EF4-FFF2-40B4-BE49-F238E27FC236}">
                        <a16:creationId xmlns:a16="http://schemas.microsoft.com/office/drawing/2014/main" id="{90FE37D4-584C-E512-C12C-2B38142EA0B2}"/>
                      </a:ext>
                    </a:extLst>
                  </p:cNvPr>
                  <p:cNvSpPr txBox="1">
                    <a:spLocks noRot="1" noChangeAspect="1" noMove="1" noResize="1" noEditPoints="1" noAdjustHandles="1" noChangeArrowheads="1" noChangeShapeType="1" noTextEdit="1"/>
                  </p:cNvSpPr>
                  <p:nvPr/>
                </p:nvSpPr>
                <p:spPr>
                  <a:xfrm>
                    <a:off x="10151941" y="20735480"/>
                    <a:ext cx="1026117" cy="400110"/>
                  </a:xfrm>
                  <a:prstGeom prst="rect">
                    <a:avLst/>
                  </a:prstGeom>
                  <a:blipFill>
                    <a:blip r:embed="rId17"/>
                    <a:stretch>
                      <a:fillRect b="-12121"/>
                    </a:stretch>
                  </a:blipFill>
                </p:spPr>
                <p:txBody>
                  <a:bodyPr/>
                  <a:lstStyle/>
                  <a:p>
                    <a:r>
                      <a:rPr lang="en-US">
                        <a:noFill/>
                      </a:rPr>
                      <a:t> </a:t>
                    </a:r>
                  </a:p>
                </p:txBody>
              </p:sp>
            </mc:Fallback>
          </mc:AlternateContent>
        </p:grpSp>
        <p:sp>
          <p:nvSpPr>
            <p:cNvPr id="147" name="TextBox 146">
              <a:extLst>
                <a:ext uri="{FF2B5EF4-FFF2-40B4-BE49-F238E27FC236}">
                  <a16:creationId xmlns:a16="http://schemas.microsoft.com/office/drawing/2014/main" id="{5BED3612-F5CC-B272-7454-659742670728}"/>
                </a:ext>
              </a:extLst>
            </p:cNvPr>
            <p:cNvSpPr txBox="1"/>
            <p:nvPr/>
          </p:nvSpPr>
          <p:spPr>
            <a:xfrm>
              <a:off x="14786766" y="28256726"/>
              <a:ext cx="4297491" cy="424732"/>
            </a:xfrm>
            <a:prstGeom prst="rect">
              <a:avLst/>
            </a:prstGeom>
            <a:noFill/>
          </p:spPr>
          <p:txBody>
            <a:bodyPr wrap="square" rtlCol="0">
              <a:spAutoFit/>
            </a:bodyPr>
            <a:lstStyle/>
            <a:p>
              <a:r>
                <a:rPr lang="en-US" b="1" dirty="0"/>
                <a:t>Figure 4: </a:t>
              </a:r>
              <a:r>
                <a:rPr lang="en-US" dirty="0"/>
                <a:t>x-E dependent MMS</a:t>
              </a:r>
            </a:p>
          </p:txBody>
        </p:sp>
      </p:grpSp>
      <p:grpSp>
        <p:nvGrpSpPr>
          <p:cNvPr id="154" name="Group 153">
            <a:extLst>
              <a:ext uri="{FF2B5EF4-FFF2-40B4-BE49-F238E27FC236}">
                <a16:creationId xmlns:a16="http://schemas.microsoft.com/office/drawing/2014/main" id="{31687EC2-B4E6-DF5E-3879-06D0BA08E906}"/>
              </a:ext>
            </a:extLst>
          </p:cNvPr>
          <p:cNvGrpSpPr/>
          <p:nvPr/>
        </p:nvGrpSpPr>
        <p:grpSpPr>
          <a:xfrm>
            <a:off x="13675730" y="1098061"/>
            <a:ext cx="9609313" cy="9986516"/>
            <a:chOff x="13675730" y="1098061"/>
            <a:chExt cx="9609313" cy="9986516"/>
          </a:xfrm>
        </p:grpSpPr>
        <p:grpSp>
          <p:nvGrpSpPr>
            <p:cNvPr id="146" name="Group 145">
              <a:extLst>
                <a:ext uri="{FF2B5EF4-FFF2-40B4-BE49-F238E27FC236}">
                  <a16:creationId xmlns:a16="http://schemas.microsoft.com/office/drawing/2014/main" id="{239EF491-66D2-5D0C-7CCF-3F7F5C73DD10}"/>
                </a:ext>
              </a:extLst>
            </p:cNvPr>
            <p:cNvGrpSpPr/>
            <p:nvPr/>
          </p:nvGrpSpPr>
          <p:grpSpPr>
            <a:xfrm>
              <a:off x="13675730" y="1098061"/>
              <a:ext cx="9609313" cy="9468569"/>
              <a:chOff x="13675730" y="1098061"/>
              <a:chExt cx="9609313" cy="9468569"/>
            </a:xfrm>
          </p:grpSpPr>
          <p:pic>
            <p:nvPicPr>
              <p:cNvPr id="39" name="Picture 38" descr="A chart of different colors&#10;&#10;AI-generated content may be incorrect.">
                <a:extLst>
                  <a:ext uri="{FF2B5EF4-FFF2-40B4-BE49-F238E27FC236}">
                    <a16:creationId xmlns:a16="http://schemas.microsoft.com/office/drawing/2014/main" id="{78688803-E037-E96D-F3E9-28C50C8A397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874483" y="1098061"/>
                <a:ext cx="4540517" cy="4315968"/>
              </a:xfrm>
              <a:prstGeom prst="rect">
                <a:avLst/>
              </a:prstGeom>
            </p:spPr>
          </p:pic>
          <p:pic>
            <p:nvPicPr>
              <p:cNvPr id="40" name="Picture 39" descr="A close-up of a color chart&#10;&#10;AI-generated content may be incorrect.">
                <a:extLst>
                  <a:ext uri="{FF2B5EF4-FFF2-40B4-BE49-F238E27FC236}">
                    <a16:creationId xmlns:a16="http://schemas.microsoft.com/office/drawing/2014/main" id="{CB8F055F-B5B8-E788-40D6-7BC6D774576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8613753" y="1098061"/>
                <a:ext cx="4524460" cy="4315968"/>
              </a:xfrm>
              <a:prstGeom prst="rect">
                <a:avLst/>
              </a:prstGeom>
            </p:spPr>
          </p:pic>
          <p:pic>
            <p:nvPicPr>
              <p:cNvPr id="41" name="Picture 40" descr="A chart of different colors&#10;&#10;AI-generated content may be incorrect.">
                <a:extLst>
                  <a:ext uri="{FF2B5EF4-FFF2-40B4-BE49-F238E27FC236}">
                    <a16:creationId xmlns:a16="http://schemas.microsoft.com/office/drawing/2014/main" id="{B0DE0822-F9EF-4D30-7B07-F0E41E8FCA1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3874483" y="5941600"/>
                <a:ext cx="4540517" cy="4315968"/>
              </a:xfrm>
              <a:prstGeom prst="rect">
                <a:avLst/>
              </a:prstGeom>
            </p:spPr>
          </p:pic>
          <p:pic>
            <p:nvPicPr>
              <p:cNvPr id="42" name="Picture 41" descr="A colorful grid with black lines&#10;&#10;AI-generated content may be incorrect.">
                <a:extLst>
                  <a:ext uri="{FF2B5EF4-FFF2-40B4-BE49-F238E27FC236}">
                    <a16:creationId xmlns:a16="http://schemas.microsoft.com/office/drawing/2014/main" id="{A93DEFAA-13D2-8A72-4E12-9C799D27499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8449889" y="5977413"/>
                <a:ext cx="4688324" cy="4011414"/>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3EFF582-CEB4-8047-A1EF-E69DFD1CAF4A}"/>
                      </a:ext>
                    </a:extLst>
                  </p:cNvPr>
                  <p:cNvSpPr txBox="1"/>
                  <p:nvPr/>
                </p:nvSpPr>
                <p:spPr>
                  <a:xfrm>
                    <a:off x="14154776" y="4948113"/>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43" name="TextBox 42">
                    <a:extLst>
                      <a:ext uri="{FF2B5EF4-FFF2-40B4-BE49-F238E27FC236}">
                        <a16:creationId xmlns:a16="http://schemas.microsoft.com/office/drawing/2014/main" id="{C3EFF582-CEB4-8047-A1EF-E69DFD1CAF4A}"/>
                      </a:ext>
                    </a:extLst>
                  </p:cNvPr>
                  <p:cNvSpPr txBox="1">
                    <a:spLocks noRot="1" noChangeAspect="1" noMove="1" noResize="1" noEditPoints="1" noAdjustHandles="1" noChangeArrowheads="1" noChangeShapeType="1" noTextEdit="1"/>
                  </p:cNvSpPr>
                  <p:nvPr/>
                </p:nvSpPr>
                <p:spPr>
                  <a:xfrm>
                    <a:off x="14154776" y="4948113"/>
                    <a:ext cx="2867186" cy="400110"/>
                  </a:xfrm>
                  <a:prstGeom prst="rect">
                    <a:avLst/>
                  </a:prstGeom>
                  <a:blipFill>
                    <a:blip r:embed="rId22"/>
                    <a:stretch>
                      <a:fillRect l="-441"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624DBCD-9FD6-242C-A136-99C0C49F340D}"/>
                      </a:ext>
                    </a:extLst>
                  </p:cNvPr>
                  <p:cNvSpPr txBox="1"/>
                  <p:nvPr/>
                </p:nvSpPr>
                <p:spPr>
                  <a:xfrm>
                    <a:off x="18765518" y="5007088"/>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44" name="TextBox 43">
                    <a:extLst>
                      <a:ext uri="{FF2B5EF4-FFF2-40B4-BE49-F238E27FC236}">
                        <a16:creationId xmlns:a16="http://schemas.microsoft.com/office/drawing/2014/main" id="{2624DBCD-9FD6-242C-A136-99C0C49F340D}"/>
                      </a:ext>
                    </a:extLst>
                  </p:cNvPr>
                  <p:cNvSpPr txBox="1">
                    <a:spLocks noRot="1" noChangeAspect="1" noMove="1" noResize="1" noEditPoints="1" noAdjustHandles="1" noChangeArrowheads="1" noChangeShapeType="1" noTextEdit="1"/>
                  </p:cNvSpPr>
                  <p:nvPr/>
                </p:nvSpPr>
                <p:spPr>
                  <a:xfrm>
                    <a:off x="18765518" y="5007088"/>
                    <a:ext cx="3223646" cy="400110"/>
                  </a:xfrm>
                  <a:prstGeom prst="rect">
                    <a:avLst/>
                  </a:prstGeom>
                  <a:blipFill>
                    <a:blip r:embed="rId23"/>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E33A848-14EF-7C93-04D4-8D9B5BEDC913}"/>
                      </a:ext>
                    </a:extLst>
                  </p:cNvPr>
                  <p:cNvSpPr txBox="1"/>
                  <p:nvPr/>
                </p:nvSpPr>
                <p:spPr>
                  <a:xfrm>
                    <a:off x="17417588" y="10166520"/>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BE33A848-14EF-7C93-04D4-8D9B5BEDC913}"/>
                      </a:ext>
                    </a:extLst>
                  </p:cNvPr>
                  <p:cNvSpPr txBox="1">
                    <a:spLocks noRot="1" noChangeAspect="1" noMove="1" noResize="1" noEditPoints="1" noAdjustHandles="1" noChangeArrowheads="1" noChangeShapeType="1" noTextEdit="1"/>
                  </p:cNvSpPr>
                  <p:nvPr/>
                </p:nvSpPr>
                <p:spPr>
                  <a:xfrm>
                    <a:off x="17417588" y="10166520"/>
                    <a:ext cx="1026117" cy="400110"/>
                  </a:xfrm>
                  <a:prstGeom prst="rect">
                    <a:avLst/>
                  </a:prstGeom>
                  <a:blipFill>
                    <a:blip r:embed="rId24"/>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409D523-297E-69E5-13CC-D09AC6D54F2A}"/>
                      </a:ext>
                    </a:extLst>
                  </p:cNvPr>
                  <p:cNvSpPr txBox="1"/>
                  <p:nvPr/>
                </p:nvSpPr>
                <p:spPr>
                  <a:xfrm>
                    <a:off x="22236166" y="5390607"/>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7" name="TextBox 46">
                    <a:extLst>
                      <a:ext uri="{FF2B5EF4-FFF2-40B4-BE49-F238E27FC236}">
                        <a16:creationId xmlns:a16="http://schemas.microsoft.com/office/drawing/2014/main" id="{B409D523-297E-69E5-13CC-D09AC6D54F2A}"/>
                      </a:ext>
                    </a:extLst>
                  </p:cNvPr>
                  <p:cNvSpPr txBox="1">
                    <a:spLocks noRot="1" noChangeAspect="1" noMove="1" noResize="1" noEditPoints="1" noAdjustHandles="1" noChangeArrowheads="1" noChangeShapeType="1" noTextEdit="1"/>
                  </p:cNvSpPr>
                  <p:nvPr/>
                </p:nvSpPr>
                <p:spPr>
                  <a:xfrm>
                    <a:off x="22236166" y="5390607"/>
                    <a:ext cx="1048877" cy="400110"/>
                  </a:xfrm>
                  <a:prstGeom prst="rect">
                    <a:avLst/>
                  </a:prstGeom>
                  <a:blipFill>
                    <a:blip r:embed="rId25"/>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C6BFE4D-1AAB-A414-FB34-D5B677F0A5F5}"/>
                      </a:ext>
                    </a:extLst>
                  </p:cNvPr>
                  <p:cNvSpPr txBox="1"/>
                  <p:nvPr/>
                </p:nvSpPr>
                <p:spPr>
                  <a:xfrm>
                    <a:off x="17376720" y="5363414"/>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8" name="TextBox 47">
                    <a:extLst>
                      <a:ext uri="{FF2B5EF4-FFF2-40B4-BE49-F238E27FC236}">
                        <a16:creationId xmlns:a16="http://schemas.microsoft.com/office/drawing/2014/main" id="{BC6BFE4D-1AAB-A414-FB34-D5B677F0A5F5}"/>
                      </a:ext>
                    </a:extLst>
                  </p:cNvPr>
                  <p:cNvSpPr txBox="1">
                    <a:spLocks noRot="1" noChangeAspect="1" noMove="1" noResize="1" noEditPoints="1" noAdjustHandles="1" noChangeArrowheads="1" noChangeShapeType="1" noTextEdit="1"/>
                  </p:cNvSpPr>
                  <p:nvPr/>
                </p:nvSpPr>
                <p:spPr>
                  <a:xfrm>
                    <a:off x="17376720" y="5363414"/>
                    <a:ext cx="1048877" cy="400110"/>
                  </a:xfrm>
                  <a:prstGeom prst="rect">
                    <a:avLst/>
                  </a:prstGeom>
                  <a:blipFill>
                    <a:blip r:embed="rId26"/>
                    <a:stretch>
                      <a:fillRect b="-12500"/>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3B58774A-028D-4B65-FDC6-90AFE3476320}"/>
                  </a:ext>
                </a:extLst>
              </p:cNvPr>
              <p:cNvSpPr txBox="1"/>
              <p:nvPr/>
            </p:nvSpPr>
            <p:spPr>
              <a:xfrm>
                <a:off x="22351718" y="8884916"/>
                <a:ext cx="304892" cy="424732"/>
              </a:xfrm>
              <a:prstGeom prst="rect">
                <a:avLst/>
              </a:prstGeom>
              <a:noFill/>
            </p:spPr>
            <p:txBody>
              <a:bodyPr wrap="none" rtlCol="0">
                <a:spAutoFit/>
              </a:bodyPr>
              <a:lstStyle/>
              <a:p>
                <a:r>
                  <a:rPr lang="en-US" dirty="0"/>
                  <a:t>x</a:t>
                </a:r>
              </a:p>
            </p:txBody>
          </p:sp>
          <p:sp>
            <p:nvSpPr>
              <p:cNvPr id="51" name="TextBox 50">
                <a:extLst>
                  <a:ext uri="{FF2B5EF4-FFF2-40B4-BE49-F238E27FC236}">
                    <a16:creationId xmlns:a16="http://schemas.microsoft.com/office/drawing/2014/main" id="{885BBE22-EBFA-51E2-0495-F60CF17254D7}"/>
                  </a:ext>
                </a:extLst>
              </p:cNvPr>
              <p:cNvSpPr txBox="1"/>
              <p:nvPr/>
            </p:nvSpPr>
            <p:spPr>
              <a:xfrm>
                <a:off x="22833321" y="4611309"/>
                <a:ext cx="304892" cy="424732"/>
              </a:xfrm>
              <a:prstGeom prst="rect">
                <a:avLst/>
              </a:prstGeom>
              <a:noFill/>
            </p:spPr>
            <p:txBody>
              <a:bodyPr wrap="none" rtlCol="0">
                <a:spAutoFit/>
              </a:bodyPr>
              <a:lstStyle/>
              <a:p>
                <a:r>
                  <a:rPr lang="en-US" dirty="0"/>
                  <a:t>x</a:t>
                </a:r>
              </a:p>
            </p:txBody>
          </p:sp>
          <p:sp>
            <p:nvSpPr>
              <p:cNvPr id="52" name="TextBox 51">
                <a:extLst>
                  <a:ext uri="{FF2B5EF4-FFF2-40B4-BE49-F238E27FC236}">
                    <a16:creationId xmlns:a16="http://schemas.microsoft.com/office/drawing/2014/main" id="{9D19699D-C0B0-D19A-F2F5-D73CD3A41D99}"/>
                  </a:ext>
                </a:extLst>
              </p:cNvPr>
              <p:cNvSpPr txBox="1"/>
              <p:nvPr/>
            </p:nvSpPr>
            <p:spPr>
              <a:xfrm>
                <a:off x="17169096" y="4611309"/>
                <a:ext cx="304892" cy="424732"/>
              </a:xfrm>
              <a:prstGeom prst="rect">
                <a:avLst/>
              </a:prstGeom>
              <a:noFill/>
            </p:spPr>
            <p:txBody>
              <a:bodyPr wrap="none" rtlCol="0">
                <a:spAutoFit/>
              </a:bodyPr>
              <a:lstStyle/>
              <a:p>
                <a:r>
                  <a:rPr lang="en-US" dirty="0"/>
                  <a:t>x</a:t>
                </a:r>
              </a:p>
            </p:txBody>
          </p:sp>
          <p:sp>
            <p:nvSpPr>
              <p:cNvPr id="53" name="TextBox 52">
                <a:extLst>
                  <a:ext uri="{FF2B5EF4-FFF2-40B4-BE49-F238E27FC236}">
                    <a16:creationId xmlns:a16="http://schemas.microsoft.com/office/drawing/2014/main" id="{FF234155-CC24-8AFD-68EF-818EC9F3701C}"/>
                  </a:ext>
                </a:extLst>
              </p:cNvPr>
              <p:cNvSpPr txBox="1"/>
              <p:nvPr/>
            </p:nvSpPr>
            <p:spPr>
              <a:xfrm>
                <a:off x="17169096" y="9392293"/>
                <a:ext cx="304892" cy="424732"/>
              </a:xfrm>
              <a:prstGeom prst="rect">
                <a:avLst/>
              </a:prstGeom>
              <a:noFill/>
            </p:spPr>
            <p:txBody>
              <a:bodyPr wrap="none" rtlCol="0">
                <a:spAutoFit/>
              </a:bodyPr>
              <a:lstStyle/>
              <a:p>
                <a:r>
                  <a:rPr lang="en-US" dirty="0"/>
                  <a:t>x</a:t>
                </a:r>
              </a:p>
            </p:txBody>
          </p:sp>
          <p:sp>
            <p:nvSpPr>
              <p:cNvPr id="54" name="TextBox 53">
                <a:extLst>
                  <a:ext uri="{FF2B5EF4-FFF2-40B4-BE49-F238E27FC236}">
                    <a16:creationId xmlns:a16="http://schemas.microsoft.com/office/drawing/2014/main" id="{7FB770AA-06E7-99EE-5A72-FB730175DC20}"/>
                  </a:ext>
                </a:extLst>
              </p:cNvPr>
              <p:cNvSpPr txBox="1"/>
              <p:nvPr/>
            </p:nvSpPr>
            <p:spPr>
              <a:xfrm>
                <a:off x="18454094" y="1440937"/>
                <a:ext cx="319318" cy="424732"/>
              </a:xfrm>
              <a:prstGeom prst="rect">
                <a:avLst/>
              </a:prstGeom>
              <a:noFill/>
            </p:spPr>
            <p:txBody>
              <a:bodyPr wrap="none" rtlCol="0">
                <a:spAutoFit/>
              </a:bodyPr>
              <a:lstStyle/>
              <a:p>
                <a:r>
                  <a:rPr lang="en-US" dirty="0"/>
                  <a:t>E</a:t>
                </a:r>
              </a:p>
            </p:txBody>
          </p:sp>
          <p:sp>
            <p:nvSpPr>
              <p:cNvPr id="55" name="TextBox 54">
                <a:extLst>
                  <a:ext uri="{FF2B5EF4-FFF2-40B4-BE49-F238E27FC236}">
                    <a16:creationId xmlns:a16="http://schemas.microsoft.com/office/drawing/2014/main" id="{6026EE9A-9C45-2BFA-52BF-19EEE489EAD4}"/>
                  </a:ext>
                </a:extLst>
              </p:cNvPr>
              <p:cNvSpPr txBox="1"/>
              <p:nvPr/>
            </p:nvSpPr>
            <p:spPr>
              <a:xfrm>
                <a:off x="13675730" y="1446382"/>
                <a:ext cx="319318" cy="424732"/>
              </a:xfrm>
              <a:prstGeom prst="rect">
                <a:avLst/>
              </a:prstGeom>
              <a:noFill/>
            </p:spPr>
            <p:txBody>
              <a:bodyPr wrap="none" rtlCol="0">
                <a:spAutoFit/>
              </a:bodyPr>
              <a:lstStyle/>
              <a:p>
                <a:r>
                  <a:rPr lang="en-US" dirty="0"/>
                  <a:t>E</a:t>
                </a:r>
              </a:p>
            </p:txBody>
          </p:sp>
          <p:sp>
            <p:nvSpPr>
              <p:cNvPr id="56" name="TextBox 55">
                <a:extLst>
                  <a:ext uri="{FF2B5EF4-FFF2-40B4-BE49-F238E27FC236}">
                    <a16:creationId xmlns:a16="http://schemas.microsoft.com/office/drawing/2014/main" id="{685C92C2-D4A0-9E0F-E65C-8BF1EA9833A2}"/>
                  </a:ext>
                </a:extLst>
              </p:cNvPr>
              <p:cNvSpPr txBox="1"/>
              <p:nvPr/>
            </p:nvSpPr>
            <p:spPr>
              <a:xfrm>
                <a:off x="13675730" y="6242739"/>
                <a:ext cx="319318" cy="424732"/>
              </a:xfrm>
              <a:prstGeom prst="rect">
                <a:avLst/>
              </a:prstGeom>
              <a:noFill/>
            </p:spPr>
            <p:txBody>
              <a:bodyPr wrap="none" rtlCol="0">
                <a:spAutoFit/>
              </a:bodyPr>
              <a:lstStyle/>
              <a:p>
                <a:r>
                  <a:rPr lang="en-US" dirty="0"/>
                  <a:t>E</a:t>
                </a:r>
              </a:p>
            </p:txBody>
          </p:sp>
          <p:sp>
            <p:nvSpPr>
              <p:cNvPr id="58" name="TextBox 57">
                <a:extLst>
                  <a:ext uri="{FF2B5EF4-FFF2-40B4-BE49-F238E27FC236}">
                    <a16:creationId xmlns:a16="http://schemas.microsoft.com/office/drawing/2014/main" id="{1510E927-236F-2F04-2254-813200EDA390}"/>
                  </a:ext>
                </a:extLst>
              </p:cNvPr>
              <p:cNvSpPr txBox="1"/>
              <p:nvPr/>
            </p:nvSpPr>
            <p:spPr>
              <a:xfrm>
                <a:off x="18764237" y="8785696"/>
                <a:ext cx="319318" cy="424732"/>
              </a:xfrm>
              <a:prstGeom prst="rect">
                <a:avLst/>
              </a:prstGeom>
              <a:noFill/>
            </p:spPr>
            <p:txBody>
              <a:bodyPr wrap="none" rtlCol="0">
                <a:spAutoFit/>
              </a:bodyPr>
              <a:lstStyle/>
              <a:p>
                <a:r>
                  <a:rPr lang="en-US" dirty="0"/>
                  <a:t>E</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E040E47-9242-5C84-A9F6-77EF42564B29}"/>
                      </a:ext>
                    </a:extLst>
                  </p:cNvPr>
                  <p:cNvSpPr txBox="1"/>
                  <p:nvPr/>
                </p:nvSpPr>
                <p:spPr>
                  <a:xfrm>
                    <a:off x="19863113" y="5829991"/>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9" name="TextBox 58">
                    <a:extLst>
                      <a:ext uri="{FF2B5EF4-FFF2-40B4-BE49-F238E27FC236}">
                        <a16:creationId xmlns:a16="http://schemas.microsoft.com/office/drawing/2014/main" id="{CE040E47-9242-5C84-A9F6-77EF42564B29}"/>
                      </a:ext>
                    </a:extLst>
                  </p:cNvPr>
                  <p:cNvSpPr txBox="1">
                    <a:spLocks noRot="1" noChangeAspect="1" noMove="1" noResize="1" noEditPoints="1" noAdjustHandles="1" noChangeArrowheads="1" noChangeShapeType="1" noTextEdit="1"/>
                  </p:cNvSpPr>
                  <p:nvPr/>
                </p:nvSpPr>
                <p:spPr>
                  <a:xfrm>
                    <a:off x="19863113" y="5829991"/>
                    <a:ext cx="1026117" cy="400110"/>
                  </a:xfrm>
                  <a:prstGeom prst="rect">
                    <a:avLst/>
                  </a:prstGeom>
                  <a:blipFill>
                    <a:blip r:embed="rId27"/>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9B83540-3323-82CB-442E-F8D47BA8E34C}"/>
                      </a:ext>
                    </a:extLst>
                  </p:cNvPr>
                  <p:cNvSpPr txBox="1"/>
                  <p:nvPr/>
                </p:nvSpPr>
                <p:spPr>
                  <a:xfrm>
                    <a:off x="22148513" y="10024640"/>
                    <a:ext cx="10161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2" name="TextBox 121">
                    <a:extLst>
                      <a:ext uri="{FF2B5EF4-FFF2-40B4-BE49-F238E27FC236}">
                        <a16:creationId xmlns:a16="http://schemas.microsoft.com/office/drawing/2014/main" id="{09B83540-3323-82CB-442E-F8D47BA8E34C}"/>
                      </a:ext>
                    </a:extLst>
                  </p:cNvPr>
                  <p:cNvSpPr txBox="1">
                    <a:spLocks noRot="1" noChangeAspect="1" noMove="1" noResize="1" noEditPoints="1" noAdjustHandles="1" noChangeArrowheads="1" noChangeShapeType="1" noTextEdit="1"/>
                  </p:cNvSpPr>
                  <p:nvPr/>
                </p:nvSpPr>
                <p:spPr>
                  <a:xfrm>
                    <a:off x="22148513" y="10024640"/>
                    <a:ext cx="1016194" cy="400110"/>
                  </a:xfrm>
                  <a:prstGeom prst="rect">
                    <a:avLst/>
                  </a:prstGeom>
                  <a:blipFill>
                    <a:blip r:embed="rId28"/>
                    <a:stretch>
                      <a:fillRect b="-15625"/>
                    </a:stretch>
                  </a:blipFill>
                </p:spPr>
                <p:txBody>
                  <a:bodyPr/>
                  <a:lstStyle/>
                  <a:p>
                    <a:r>
                      <a:rPr lang="en-US">
                        <a:noFill/>
                      </a:rPr>
                      <a:t> </a:t>
                    </a:r>
                  </a:p>
                </p:txBody>
              </p:sp>
            </mc:Fallback>
          </mc:AlternateContent>
        </p:grpSp>
        <p:sp>
          <p:nvSpPr>
            <p:cNvPr id="148" name="TextBox 147">
              <a:extLst>
                <a:ext uri="{FF2B5EF4-FFF2-40B4-BE49-F238E27FC236}">
                  <a16:creationId xmlns:a16="http://schemas.microsoft.com/office/drawing/2014/main" id="{17BD0D19-C691-1159-F1E6-0B8E218A27D5}"/>
                </a:ext>
              </a:extLst>
            </p:cNvPr>
            <p:cNvSpPr txBox="1"/>
            <p:nvPr/>
          </p:nvSpPr>
          <p:spPr>
            <a:xfrm>
              <a:off x="16333804" y="10659845"/>
              <a:ext cx="4297491" cy="424732"/>
            </a:xfrm>
            <a:prstGeom prst="rect">
              <a:avLst/>
            </a:prstGeom>
            <a:noFill/>
          </p:spPr>
          <p:txBody>
            <a:bodyPr wrap="square" rtlCol="0">
              <a:spAutoFit/>
            </a:bodyPr>
            <a:lstStyle/>
            <a:p>
              <a:r>
                <a:rPr lang="en-US" b="1" dirty="0"/>
                <a:t>Figure 2: </a:t>
              </a:r>
              <a:r>
                <a:rPr lang="en-US" dirty="0"/>
                <a:t>x-dependent MMS</a:t>
              </a:r>
            </a:p>
          </p:txBody>
        </p:sp>
      </p:grpSp>
      <p:grpSp>
        <p:nvGrpSpPr>
          <p:cNvPr id="155" name="Group 154">
            <a:extLst>
              <a:ext uri="{FF2B5EF4-FFF2-40B4-BE49-F238E27FC236}">
                <a16:creationId xmlns:a16="http://schemas.microsoft.com/office/drawing/2014/main" id="{B1718B9F-2B69-22EB-AF76-E5670C94FC77}"/>
              </a:ext>
            </a:extLst>
          </p:cNvPr>
          <p:cNvGrpSpPr/>
          <p:nvPr/>
        </p:nvGrpSpPr>
        <p:grpSpPr>
          <a:xfrm>
            <a:off x="27375532" y="1929636"/>
            <a:ext cx="9476537" cy="9775122"/>
            <a:chOff x="27375532" y="1929636"/>
            <a:chExt cx="9476537" cy="9775122"/>
          </a:xfrm>
        </p:grpSpPr>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71F0964-A40E-A70E-3186-6040ADBA0780}"/>
                    </a:ext>
                  </a:extLst>
                </p:cNvPr>
                <p:cNvSpPr txBox="1"/>
                <p:nvPr/>
              </p:nvSpPr>
              <p:spPr>
                <a:xfrm>
                  <a:off x="31076232" y="10839742"/>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9" name="TextBox 78">
                  <a:extLst>
                    <a:ext uri="{FF2B5EF4-FFF2-40B4-BE49-F238E27FC236}">
                      <a16:creationId xmlns:a16="http://schemas.microsoft.com/office/drawing/2014/main" id="{A71F0964-A40E-A70E-3186-6040ADBA0780}"/>
                    </a:ext>
                  </a:extLst>
                </p:cNvPr>
                <p:cNvSpPr txBox="1">
                  <a:spLocks noRot="1" noChangeAspect="1" noMove="1" noResize="1" noEditPoints="1" noAdjustHandles="1" noChangeArrowheads="1" noChangeShapeType="1" noTextEdit="1"/>
                </p:cNvSpPr>
                <p:nvPr/>
              </p:nvSpPr>
              <p:spPr>
                <a:xfrm>
                  <a:off x="31076232" y="10839742"/>
                  <a:ext cx="1026117" cy="400110"/>
                </a:xfrm>
                <a:prstGeom prst="rect">
                  <a:avLst/>
                </a:prstGeom>
                <a:blipFill>
                  <a:blip r:embed="rId29"/>
                  <a:stretch>
                    <a:fillRect b="-12121"/>
                  </a:stretch>
                </a:blipFill>
              </p:spPr>
              <p:txBody>
                <a:bodyPr/>
                <a:lstStyle/>
                <a:p>
                  <a:r>
                    <a:rPr lang="en-US">
                      <a:noFill/>
                    </a:rPr>
                    <a:t> </a:t>
                  </a:r>
                </a:p>
              </p:txBody>
            </p:sp>
          </mc:Fallback>
        </mc:AlternateContent>
        <p:grpSp>
          <p:nvGrpSpPr>
            <p:cNvPr id="144" name="Group 143">
              <a:extLst>
                <a:ext uri="{FF2B5EF4-FFF2-40B4-BE49-F238E27FC236}">
                  <a16:creationId xmlns:a16="http://schemas.microsoft.com/office/drawing/2014/main" id="{E45BCE30-CA69-0479-0153-CCB68E13BAAC}"/>
                </a:ext>
              </a:extLst>
            </p:cNvPr>
            <p:cNvGrpSpPr/>
            <p:nvPr/>
          </p:nvGrpSpPr>
          <p:grpSpPr>
            <a:xfrm>
              <a:off x="27375532" y="1929636"/>
              <a:ext cx="9476537" cy="9049835"/>
              <a:chOff x="27375532" y="1929636"/>
              <a:chExt cx="9476537" cy="9049835"/>
            </a:xfrm>
          </p:grpSpPr>
          <p:pic>
            <p:nvPicPr>
              <p:cNvPr id="65" name="Picture 64" descr="A colorful grid with black lines&#10;&#10;AI-generated content may be incorrect.">
                <a:extLst>
                  <a:ext uri="{FF2B5EF4-FFF2-40B4-BE49-F238E27FC236}">
                    <a16:creationId xmlns:a16="http://schemas.microsoft.com/office/drawing/2014/main" id="{613A5E06-1750-554E-30F3-A71BC4C555D5}"/>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2160309" y="6778588"/>
                <a:ext cx="4688324" cy="4014215"/>
              </a:xfrm>
              <a:prstGeom prst="rect">
                <a:avLst/>
              </a:prstGeom>
            </p:spPr>
          </p:pic>
          <p:sp>
            <p:nvSpPr>
              <p:cNvPr id="35" name="TextBox 34">
                <a:extLst>
                  <a:ext uri="{FF2B5EF4-FFF2-40B4-BE49-F238E27FC236}">
                    <a16:creationId xmlns:a16="http://schemas.microsoft.com/office/drawing/2014/main" id="{0AFA6528-CFD5-D2AB-F9EF-EBC4CECB6717}"/>
                  </a:ext>
                </a:extLst>
              </p:cNvPr>
              <p:cNvSpPr txBox="1"/>
              <p:nvPr/>
            </p:nvSpPr>
            <p:spPr>
              <a:xfrm>
                <a:off x="35960749" y="9392293"/>
                <a:ext cx="319318" cy="424732"/>
              </a:xfrm>
              <a:prstGeom prst="rect">
                <a:avLst/>
              </a:prstGeom>
              <a:noFill/>
            </p:spPr>
            <p:txBody>
              <a:bodyPr wrap="none" rtlCol="0">
                <a:spAutoFit/>
              </a:bodyPr>
              <a:lstStyle/>
              <a:p>
                <a:r>
                  <a:rPr lang="en-US" dirty="0"/>
                  <a:t>E</a:t>
                </a:r>
              </a:p>
            </p:txBody>
          </p:sp>
          <p:pic>
            <p:nvPicPr>
              <p:cNvPr id="62" name="Picture 61" descr="A chart of different colors&#10;&#10;AI-generated content may be incorrect.">
                <a:extLst>
                  <a:ext uri="{FF2B5EF4-FFF2-40B4-BE49-F238E27FC236}">
                    <a16:creationId xmlns:a16="http://schemas.microsoft.com/office/drawing/2014/main" id="{0BF235E3-E819-FCAC-BC5A-B951474B1648}"/>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32247647" y="1929636"/>
                <a:ext cx="4540517" cy="4315968"/>
              </a:xfrm>
              <a:prstGeom prst="rect">
                <a:avLst/>
              </a:prstGeom>
            </p:spPr>
          </p:pic>
          <p:pic>
            <p:nvPicPr>
              <p:cNvPr id="63" name="Picture 62" descr="A chart of different colors&#10;&#10;AI-generated content may be incorrect.">
                <a:extLst>
                  <a:ext uri="{FF2B5EF4-FFF2-40B4-BE49-F238E27FC236}">
                    <a16:creationId xmlns:a16="http://schemas.microsoft.com/office/drawing/2014/main" id="{62FE5497-9B7E-4D77-5AA2-D3E7819B1A65}"/>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7577889" y="1929636"/>
                <a:ext cx="4524460" cy="4315968"/>
              </a:xfrm>
              <a:prstGeom prst="rect">
                <a:avLst/>
              </a:prstGeom>
            </p:spPr>
          </p:pic>
          <p:pic>
            <p:nvPicPr>
              <p:cNvPr id="64" name="Picture 63" descr="A chart of different colors&#10;&#10;AI-generated content may be incorrect.">
                <a:extLst>
                  <a:ext uri="{FF2B5EF4-FFF2-40B4-BE49-F238E27FC236}">
                    <a16:creationId xmlns:a16="http://schemas.microsoft.com/office/drawing/2014/main" id="{09D58ABA-B142-E77E-7211-F200C9E3950F}"/>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7540719" y="6527774"/>
                <a:ext cx="4540518" cy="4315968"/>
              </a:xfrm>
              <a:prstGeom prst="rect">
                <a:avLst/>
              </a:prstGeom>
            </p:spPr>
          </p:pic>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1735BA1-D4EE-805B-64D8-253FF798E3D2}"/>
                      </a:ext>
                    </a:extLst>
                  </p:cNvPr>
                  <p:cNvSpPr txBox="1"/>
                  <p:nvPr/>
                </p:nvSpPr>
                <p:spPr>
                  <a:xfrm>
                    <a:off x="27826911" y="5729085"/>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66" name="TextBox 65">
                    <a:extLst>
                      <a:ext uri="{FF2B5EF4-FFF2-40B4-BE49-F238E27FC236}">
                        <a16:creationId xmlns:a16="http://schemas.microsoft.com/office/drawing/2014/main" id="{01735BA1-D4EE-805B-64D8-253FF798E3D2}"/>
                      </a:ext>
                    </a:extLst>
                  </p:cNvPr>
                  <p:cNvSpPr txBox="1">
                    <a:spLocks noRot="1" noChangeAspect="1" noMove="1" noResize="1" noEditPoints="1" noAdjustHandles="1" noChangeArrowheads="1" noChangeShapeType="1" noTextEdit="1"/>
                  </p:cNvSpPr>
                  <p:nvPr/>
                </p:nvSpPr>
                <p:spPr>
                  <a:xfrm>
                    <a:off x="27826911" y="5729085"/>
                    <a:ext cx="2867186" cy="400110"/>
                  </a:xfrm>
                  <a:prstGeom prst="rect">
                    <a:avLst/>
                  </a:prstGeom>
                  <a:blipFill>
                    <a:blip r:embed="rId34"/>
                    <a:stretch>
                      <a:fillRect l="-442"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E83E225B-DF12-E1FB-C876-76552EAC8A34}"/>
                      </a:ext>
                    </a:extLst>
                  </p:cNvPr>
                  <p:cNvSpPr txBox="1"/>
                  <p:nvPr/>
                </p:nvSpPr>
                <p:spPr>
                  <a:xfrm>
                    <a:off x="32313410" y="5663461"/>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69" name="TextBox 68">
                    <a:extLst>
                      <a:ext uri="{FF2B5EF4-FFF2-40B4-BE49-F238E27FC236}">
                        <a16:creationId xmlns:a16="http://schemas.microsoft.com/office/drawing/2014/main" id="{E83E225B-DF12-E1FB-C876-76552EAC8A34}"/>
                      </a:ext>
                    </a:extLst>
                  </p:cNvPr>
                  <p:cNvSpPr txBox="1">
                    <a:spLocks noRot="1" noChangeAspect="1" noMove="1" noResize="1" noEditPoints="1" noAdjustHandles="1" noChangeArrowheads="1" noChangeShapeType="1" noTextEdit="1"/>
                  </p:cNvSpPr>
                  <p:nvPr/>
                </p:nvSpPr>
                <p:spPr>
                  <a:xfrm>
                    <a:off x="32313410" y="5663461"/>
                    <a:ext cx="3223646" cy="400110"/>
                  </a:xfrm>
                  <a:prstGeom prst="rect">
                    <a:avLst/>
                  </a:prstGeom>
                  <a:blipFill>
                    <a:blip r:embed="rId35"/>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19F86A2B-34E2-50AF-5CEE-459F040C3BEB}"/>
                      </a:ext>
                    </a:extLst>
                  </p:cNvPr>
                  <p:cNvSpPr txBox="1"/>
                  <p:nvPr/>
                </p:nvSpPr>
                <p:spPr>
                  <a:xfrm>
                    <a:off x="35803192" y="6222077"/>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19F86A2B-34E2-50AF-5CEE-459F040C3BEB}"/>
                      </a:ext>
                    </a:extLst>
                  </p:cNvPr>
                  <p:cNvSpPr txBox="1">
                    <a:spLocks noRot="1" noChangeAspect="1" noMove="1" noResize="1" noEditPoints="1" noAdjustHandles="1" noChangeArrowheads="1" noChangeShapeType="1" noTextEdit="1"/>
                  </p:cNvSpPr>
                  <p:nvPr/>
                </p:nvSpPr>
                <p:spPr>
                  <a:xfrm>
                    <a:off x="35803192" y="6222077"/>
                    <a:ext cx="1048877" cy="400110"/>
                  </a:xfrm>
                  <a:prstGeom prst="rect">
                    <a:avLst/>
                  </a:prstGeom>
                  <a:blipFill>
                    <a:blip r:embed="rId36"/>
                    <a:stretch>
                      <a:fillRect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11F77AF-4840-9E1A-99A6-40E4FE4C3926}"/>
                      </a:ext>
                    </a:extLst>
                  </p:cNvPr>
                  <p:cNvSpPr txBox="1"/>
                  <p:nvPr/>
                </p:nvSpPr>
                <p:spPr>
                  <a:xfrm>
                    <a:off x="31037888" y="6184634"/>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78" name="TextBox 77">
                    <a:extLst>
                      <a:ext uri="{FF2B5EF4-FFF2-40B4-BE49-F238E27FC236}">
                        <a16:creationId xmlns:a16="http://schemas.microsoft.com/office/drawing/2014/main" id="{711F77AF-4840-9E1A-99A6-40E4FE4C3926}"/>
                      </a:ext>
                    </a:extLst>
                  </p:cNvPr>
                  <p:cNvSpPr txBox="1">
                    <a:spLocks noRot="1" noChangeAspect="1" noMove="1" noResize="1" noEditPoints="1" noAdjustHandles="1" noChangeArrowheads="1" noChangeShapeType="1" noTextEdit="1"/>
                  </p:cNvSpPr>
                  <p:nvPr/>
                </p:nvSpPr>
                <p:spPr>
                  <a:xfrm>
                    <a:off x="31037888" y="6184634"/>
                    <a:ext cx="1048877" cy="400110"/>
                  </a:xfrm>
                  <a:prstGeom prst="rect">
                    <a:avLst/>
                  </a:prstGeom>
                  <a:blipFill>
                    <a:blip r:embed="rId37"/>
                    <a:stretch>
                      <a:fillRect b="-12500"/>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71A08B9C-7EF1-5F2D-D0C4-E681D0CBB198}"/>
                  </a:ext>
                </a:extLst>
              </p:cNvPr>
              <p:cNvSpPr txBox="1"/>
              <p:nvPr/>
            </p:nvSpPr>
            <p:spPr>
              <a:xfrm>
                <a:off x="36494329" y="4699317"/>
                <a:ext cx="304892" cy="424732"/>
              </a:xfrm>
              <a:prstGeom prst="rect">
                <a:avLst/>
              </a:prstGeom>
              <a:noFill/>
            </p:spPr>
            <p:txBody>
              <a:bodyPr wrap="none" rtlCol="0">
                <a:spAutoFit/>
              </a:bodyPr>
              <a:lstStyle/>
              <a:p>
                <a:r>
                  <a:rPr lang="en-US" dirty="0"/>
                  <a:t>x</a:t>
                </a:r>
              </a:p>
            </p:txBody>
          </p:sp>
          <p:sp>
            <p:nvSpPr>
              <p:cNvPr id="86" name="TextBox 85">
                <a:extLst>
                  <a:ext uri="{FF2B5EF4-FFF2-40B4-BE49-F238E27FC236}">
                    <a16:creationId xmlns:a16="http://schemas.microsoft.com/office/drawing/2014/main" id="{0094FBC2-37F1-9C27-5808-C6322ED0D721}"/>
                  </a:ext>
                </a:extLst>
              </p:cNvPr>
              <p:cNvSpPr txBox="1"/>
              <p:nvPr/>
            </p:nvSpPr>
            <p:spPr>
              <a:xfrm>
                <a:off x="31227051" y="4699317"/>
                <a:ext cx="304892" cy="424732"/>
              </a:xfrm>
              <a:prstGeom prst="rect">
                <a:avLst/>
              </a:prstGeom>
              <a:noFill/>
            </p:spPr>
            <p:txBody>
              <a:bodyPr wrap="none" rtlCol="0">
                <a:spAutoFit/>
              </a:bodyPr>
              <a:lstStyle/>
              <a:p>
                <a:r>
                  <a:rPr lang="en-US" dirty="0"/>
                  <a:t>x</a:t>
                </a:r>
              </a:p>
            </p:txBody>
          </p:sp>
          <p:sp>
            <p:nvSpPr>
              <p:cNvPr id="87" name="TextBox 86">
                <a:extLst>
                  <a:ext uri="{FF2B5EF4-FFF2-40B4-BE49-F238E27FC236}">
                    <a16:creationId xmlns:a16="http://schemas.microsoft.com/office/drawing/2014/main" id="{2D2E647E-1432-EBBE-875C-13400CC57153}"/>
                  </a:ext>
                </a:extLst>
              </p:cNvPr>
              <p:cNvSpPr txBox="1"/>
              <p:nvPr/>
            </p:nvSpPr>
            <p:spPr>
              <a:xfrm>
                <a:off x="31227051" y="9692942"/>
                <a:ext cx="304892" cy="424732"/>
              </a:xfrm>
              <a:prstGeom prst="rect">
                <a:avLst/>
              </a:prstGeom>
              <a:noFill/>
            </p:spPr>
            <p:txBody>
              <a:bodyPr wrap="none" rtlCol="0">
                <a:spAutoFit/>
              </a:bodyPr>
              <a:lstStyle/>
              <a:p>
                <a:r>
                  <a:rPr lang="en-US" dirty="0"/>
                  <a:t>x</a:t>
                </a:r>
              </a:p>
            </p:txBody>
          </p:sp>
          <p:sp>
            <p:nvSpPr>
              <p:cNvPr id="88" name="TextBox 87">
                <a:extLst>
                  <a:ext uri="{FF2B5EF4-FFF2-40B4-BE49-F238E27FC236}">
                    <a16:creationId xmlns:a16="http://schemas.microsoft.com/office/drawing/2014/main" id="{DC494C55-31FC-064A-DB3B-93B4C0F71C8D}"/>
                  </a:ext>
                </a:extLst>
              </p:cNvPr>
              <p:cNvSpPr txBox="1"/>
              <p:nvPr/>
            </p:nvSpPr>
            <p:spPr>
              <a:xfrm>
                <a:off x="32102349" y="2236851"/>
                <a:ext cx="319318" cy="424732"/>
              </a:xfrm>
              <a:prstGeom prst="rect">
                <a:avLst/>
              </a:prstGeom>
              <a:noFill/>
            </p:spPr>
            <p:txBody>
              <a:bodyPr wrap="none" rtlCol="0">
                <a:spAutoFit/>
              </a:bodyPr>
              <a:lstStyle/>
              <a:p>
                <a:r>
                  <a:rPr lang="en-US" dirty="0"/>
                  <a:t>E</a:t>
                </a:r>
              </a:p>
            </p:txBody>
          </p:sp>
          <p:sp>
            <p:nvSpPr>
              <p:cNvPr id="89" name="TextBox 88">
                <a:extLst>
                  <a:ext uri="{FF2B5EF4-FFF2-40B4-BE49-F238E27FC236}">
                    <a16:creationId xmlns:a16="http://schemas.microsoft.com/office/drawing/2014/main" id="{E79B34F8-6547-10C0-5348-DCAB6619535A}"/>
                  </a:ext>
                </a:extLst>
              </p:cNvPr>
              <p:cNvSpPr txBox="1"/>
              <p:nvPr/>
            </p:nvSpPr>
            <p:spPr>
              <a:xfrm>
                <a:off x="27500687" y="2236851"/>
                <a:ext cx="319318" cy="424732"/>
              </a:xfrm>
              <a:prstGeom prst="rect">
                <a:avLst/>
              </a:prstGeom>
              <a:noFill/>
            </p:spPr>
            <p:txBody>
              <a:bodyPr wrap="none" rtlCol="0">
                <a:spAutoFit/>
              </a:bodyPr>
              <a:lstStyle/>
              <a:p>
                <a:r>
                  <a:rPr lang="en-US" dirty="0"/>
                  <a:t>E</a:t>
                </a:r>
              </a:p>
            </p:txBody>
          </p:sp>
          <p:sp>
            <p:nvSpPr>
              <p:cNvPr id="90" name="TextBox 89">
                <a:extLst>
                  <a:ext uri="{FF2B5EF4-FFF2-40B4-BE49-F238E27FC236}">
                    <a16:creationId xmlns:a16="http://schemas.microsoft.com/office/drawing/2014/main" id="{FCBA44C7-DAE1-91D3-085F-CF3B8610A0AA}"/>
                  </a:ext>
                </a:extLst>
              </p:cNvPr>
              <p:cNvSpPr txBox="1"/>
              <p:nvPr/>
            </p:nvSpPr>
            <p:spPr>
              <a:xfrm>
                <a:off x="27375532" y="6778588"/>
                <a:ext cx="319318" cy="424732"/>
              </a:xfrm>
              <a:prstGeom prst="rect">
                <a:avLst/>
              </a:prstGeom>
              <a:noFill/>
            </p:spPr>
            <p:txBody>
              <a:bodyPr wrap="none" rtlCol="0">
                <a:spAutoFit/>
              </a:bodyPr>
              <a:lstStyle/>
              <a:p>
                <a:r>
                  <a:rPr lang="en-US" dirty="0"/>
                  <a:t>E</a:t>
                </a:r>
              </a:p>
            </p:txBody>
          </p:sp>
          <p:sp>
            <p:nvSpPr>
              <p:cNvPr id="94" name="TextBox 93">
                <a:extLst>
                  <a:ext uri="{FF2B5EF4-FFF2-40B4-BE49-F238E27FC236}">
                    <a16:creationId xmlns:a16="http://schemas.microsoft.com/office/drawing/2014/main" id="{84A0632D-1456-EEB5-06F7-3BA63DBB0913}"/>
                  </a:ext>
                </a:extLst>
              </p:cNvPr>
              <p:cNvSpPr txBox="1"/>
              <p:nvPr/>
            </p:nvSpPr>
            <p:spPr>
              <a:xfrm>
                <a:off x="34462787" y="10257568"/>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054105F-F00A-940B-0788-5DBE4478C5B4}"/>
                      </a:ext>
                    </a:extLst>
                  </p:cNvPr>
                  <p:cNvSpPr txBox="1"/>
                  <p:nvPr/>
                </p:nvSpPr>
                <p:spPr>
                  <a:xfrm>
                    <a:off x="33602201" y="6622187"/>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5" name="TextBox 94">
                    <a:extLst>
                      <a:ext uri="{FF2B5EF4-FFF2-40B4-BE49-F238E27FC236}">
                        <a16:creationId xmlns:a16="http://schemas.microsoft.com/office/drawing/2014/main" id="{1054105F-F00A-940B-0788-5DBE4478C5B4}"/>
                      </a:ext>
                    </a:extLst>
                  </p:cNvPr>
                  <p:cNvSpPr txBox="1">
                    <a:spLocks noRot="1" noChangeAspect="1" noMove="1" noResize="1" noEditPoints="1" noAdjustHandles="1" noChangeArrowheads="1" noChangeShapeType="1" noTextEdit="1"/>
                  </p:cNvSpPr>
                  <p:nvPr/>
                </p:nvSpPr>
                <p:spPr>
                  <a:xfrm>
                    <a:off x="33602201" y="6622187"/>
                    <a:ext cx="1026117" cy="400110"/>
                  </a:xfrm>
                  <a:prstGeom prst="rect">
                    <a:avLst/>
                  </a:prstGeom>
                  <a:blipFill>
                    <a:blip r:embed="rId38"/>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0A12732A-B9FE-E3E8-AB5B-B77F5DF3D8D5}"/>
                      </a:ext>
                    </a:extLst>
                  </p:cNvPr>
                  <p:cNvSpPr txBox="1"/>
                  <p:nvPr/>
                </p:nvSpPr>
                <p:spPr>
                  <a:xfrm>
                    <a:off x="35771970" y="10579361"/>
                    <a:ext cx="10161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3" name="TextBox 122">
                    <a:extLst>
                      <a:ext uri="{FF2B5EF4-FFF2-40B4-BE49-F238E27FC236}">
                        <a16:creationId xmlns:a16="http://schemas.microsoft.com/office/drawing/2014/main" id="{0A12732A-B9FE-E3E8-AB5B-B77F5DF3D8D5}"/>
                      </a:ext>
                    </a:extLst>
                  </p:cNvPr>
                  <p:cNvSpPr txBox="1">
                    <a:spLocks noRot="1" noChangeAspect="1" noMove="1" noResize="1" noEditPoints="1" noAdjustHandles="1" noChangeArrowheads="1" noChangeShapeType="1" noTextEdit="1"/>
                  </p:cNvSpPr>
                  <p:nvPr/>
                </p:nvSpPr>
                <p:spPr>
                  <a:xfrm>
                    <a:off x="35771970" y="10579361"/>
                    <a:ext cx="1016194" cy="400110"/>
                  </a:xfrm>
                  <a:prstGeom prst="rect">
                    <a:avLst/>
                  </a:prstGeom>
                  <a:blipFill>
                    <a:blip r:embed="rId39"/>
                    <a:stretch>
                      <a:fillRect r="-1235" b="-12121"/>
                    </a:stretch>
                  </a:blipFill>
                </p:spPr>
                <p:txBody>
                  <a:bodyPr/>
                  <a:lstStyle/>
                  <a:p>
                    <a:r>
                      <a:rPr lang="en-US">
                        <a:noFill/>
                      </a:rPr>
                      <a:t> </a:t>
                    </a:r>
                  </a:p>
                </p:txBody>
              </p:sp>
            </mc:Fallback>
          </mc:AlternateContent>
        </p:grpSp>
        <p:sp>
          <p:nvSpPr>
            <p:cNvPr id="149" name="TextBox 148">
              <a:extLst>
                <a:ext uri="{FF2B5EF4-FFF2-40B4-BE49-F238E27FC236}">
                  <a16:creationId xmlns:a16="http://schemas.microsoft.com/office/drawing/2014/main" id="{1C36F696-1904-DC19-896C-9844B014F843}"/>
                </a:ext>
              </a:extLst>
            </p:cNvPr>
            <p:cNvSpPr txBox="1"/>
            <p:nvPr/>
          </p:nvSpPr>
          <p:spPr>
            <a:xfrm>
              <a:off x="29953603" y="11280026"/>
              <a:ext cx="4297491" cy="424732"/>
            </a:xfrm>
            <a:prstGeom prst="rect">
              <a:avLst/>
            </a:prstGeom>
            <a:noFill/>
          </p:spPr>
          <p:txBody>
            <a:bodyPr wrap="square" rtlCol="0">
              <a:spAutoFit/>
            </a:bodyPr>
            <a:lstStyle/>
            <a:p>
              <a:r>
                <a:rPr lang="en-US" b="1" dirty="0"/>
                <a:t>Figure 3: </a:t>
              </a:r>
              <a:r>
                <a:rPr lang="en-US" dirty="0"/>
                <a:t>E-dependent MMS</a:t>
              </a:r>
            </a:p>
          </p:txBody>
        </p:sp>
      </p:grpSp>
      <p:grpSp>
        <p:nvGrpSpPr>
          <p:cNvPr id="153" name="Group 152">
            <a:extLst>
              <a:ext uri="{FF2B5EF4-FFF2-40B4-BE49-F238E27FC236}">
                <a16:creationId xmlns:a16="http://schemas.microsoft.com/office/drawing/2014/main" id="{1F0FA218-3070-6A85-4A2C-DAB3E2668EF3}"/>
              </a:ext>
            </a:extLst>
          </p:cNvPr>
          <p:cNvGrpSpPr/>
          <p:nvPr/>
        </p:nvGrpSpPr>
        <p:grpSpPr>
          <a:xfrm>
            <a:off x="1809954" y="4228833"/>
            <a:ext cx="9454421" cy="10075777"/>
            <a:chOff x="1809954" y="4228833"/>
            <a:chExt cx="9454421" cy="10075777"/>
          </a:xfrm>
        </p:grpSpPr>
        <p:grpSp>
          <p:nvGrpSpPr>
            <p:cNvPr id="37" name="Group 36">
              <a:extLst>
                <a:ext uri="{FF2B5EF4-FFF2-40B4-BE49-F238E27FC236}">
                  <a16:creationId xmlns:a16="http://schemas.microsoft.com/office/drawing/2014/main" id="{BDE5E840-7F8D-2690-A6E1-1AE784ABC27C}"/>
                </a:ext>
              </a:extLst>
            </p:cNvPr>
            <p:cNvGrpSpPr/>
            <p:nvPr/>
          </p:nvGrpSpPr>
          <p:grpSpPr>
            <a:xfrm>
              <a:off x="1809954" y="4228833"/>
              <a:ext cx="9397739" cy="9455916"/>
              <a:chOff x="9104168" y="5368436"/>
              <a:chExt cx="9489505" cy="9455916"/>
            </a:xfrm>
          </p:grpSpPr>
          <p:pic>
            <p:nvPicPr>
              <p:cNvPr id="3" name="Picture 2" descr="A graph with different colored bars&#10;&#10;AI-generated content may be incorrect.">
                <a:extLst>
                  <a:ext uri="{FF2B5EF4-FFF2-40B4-BE49-F238E27FC236}">
                    <a16:creationId xmlns:a16="http://schemas.microsoft.com/office/drawing/2014/main" id="{EDEFC6E4-E66B-F8CF-E539-FD66AE250019}"/>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9335399" y="5373374"/>
                <a:ext cx="4483100" cy="4292600"/>
              </a:xfrm>
              <a:prstGeom prst="rect">
                <a:avLst/>
              </a:prstGeom>
            </p:spPr>
          </p:pic>
          <p:pic>
            <p:nvPicPr>
              <p:cNvPr id="7" name="Picture 6" descr="A grid with different colors&#10;&#10;AI-generated content may be incorrect.">
                <a:extLst>
                  <a:ext uri="{FF2B5EF4-FFF2-40B4-BE49-F238E27FC236}">
                    <a16:creationId xmlns:a16="http://schemas.microsoft.com/office/drawing/2014/main" id="{945E917F-50F4-B1EF-EAF4-68886BD7CB13}"/>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13978552" y="5368436"/>
                <a:ext cx="4597400" cy="4318000"/>
              </a:xfrm>
              <a:prstGeom prst="rect">
                <a:avLst/>
              </a:prstGeom>
            </p:spPr>
          </p:pic>
          <p:pic>
            <p:nvPicPr>
              <p:cNvPr id="9" name="Picture 8" descr="A grid with different colors&#10;&#10;AI-generated content may be incorrect.">
                <a:extLst>
                  <a:ext uri="{FF2B5EF4-FFF2-40B4-BE49-F238E27FC236}">
                    <a16:creationId xmlns:a16="http://schemas.microsoft.com/office/drawing/2014/main" id="{A7AFCB99-F182-CFE2-3C94-A0625123DCC4}"/>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9284599" y="10109058"/>
                <a:ext cx="4533900" cy="4318000"/>
              </a:xfrm>
              <a:prstGeom prst="rect">
                <a:avLst/>
              </a:prstGeom>
            </p:spPr>
          </p:pic>
          <p:pic>
            <p:nvPicPr>
              <p:cNvPr id="11" name="Picture 10" descr="A green grid with a rainbow spectrum&#10;&#10;AI-generated content may be incorrect.">
                <a:extLst>
                  <a:ext uri="{FF2B5EF4-FFF2-40B4-BE49-F238E27FC236}">
                    <a16:creationId xmlns:a16="http://schemas.microsoft.com/office/drawing/2014/main" id="{9101AFB8-AC01-DAEA-B234-B4D71FFBEDDF}"/>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13818499" y="10487916"/>
                <a:ext cx="4740545" cy="4010416"/>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78B5EB4-D612-28D7-E09E-61B6B7CC921C}"/>
                      </a:ext>
                    </a:extLst>
                  </p:cNvPr>
                  <p:cNvSpPr txBox="1"/>
                  <p:nvPr/>
                </p:nvSpPr>
                <p:spPr>
                  <a:xfrm>
                    <a:off x="9492071" y="9348003"/>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12" name="TextBox 11">
                    <a:extLst>
                      <a:ext uri="{FF2B5EF4-FFF2-40B4-BE49-F238E27FC236}">
                        <a16:creationId xmlns:a16="http://schemas.microsoft.com/office/drawing/2014/main" id="{478B5EB4-D612-28D7-E09E-61B6B7CC921C}"/>
                      </a:ext>
                    </a:extLst>
                  </p:cNvPr>
                  <p:cNvSpPr txBox="1">
                    <a:spLocks noRot="1" noChangeAspect="1" noMove="1" noResize="1" noEditPoints="1" noAdjustHandles="1" noChangeArrowheads="1" noChangeShapeType="1" noTextEdit="1"/>
                  </p:cNvSpPr>
                  <p:nvPr/>
                </p:nvSpPr>
                <p:spPr>
                  <a:xfrm>
                    <a:off x="9492071" y="9348003"/>
                    <a:ext cx="2867186" cy="400110"/>
                  </a:xfrm>
                  <a:prstGeom prst="rect">
                    <a:avLst/>
                  </a:prstGeom>
                  <a:blipFill>
                    <a:blip r:embed="rId44"/>
                    <a:stretch>
                      <a:fillRect l="-889"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1E7419-11E2-3060-04C8-1CAB6D3076CC}"/>
                      </a:ext>
                    </a:extLst>
                  </p:cNvPr>
                  <p:cNvSpPr txBox="1"/>
                  <p:nvPr/>
                </p:nvSpPr>
                <p:spPr>
                  <a:xfrm>
                    <a:off x="14193853" y="9265864"/>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13" name="TextBox 12">
                    <a:extLst>
                      <a:ext uri="{FF2B5EF4-FFF2-40B4-BE49-F238E27FC236}">
                        <a16:creationId xmlns:a16="http://schemas.microsoft.com/office/drawing/2014/main" id="{A51E7419-11E2-3060-04C8-1CAB6D3076CC}"/>
                      </a:ext>
                    </a:extLst>
                  </p:cNvPr>
                  <p:cNvSpPr txBox="1">
                    <a:spLocks noRot="1" noChangeAspect="1" noMove="1" noResize="1" noEditPoints="1" noAdjustHandles="1" noChangeArrowheads="1" noChangeShapeType="1" noTextEdit="1"/>
                  </p:cNvSpPr>
                  <p:nvPr/>
                </p:nvSpPr>
                <p:spPr>
                  <a:xfrm>
                    <a:off x="14193853" y="9265864"/>
                    <a:ext cx="3223646" cy="400110"/>
                  </a:xfrm>
                  <a:prstGeom prst="rect">
                    <a:avLst/>
                  </a:prstGeom>
                  <a:blipFill>
                    <a:blip r:embed="rId45"/>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2C6910A-FECD-035D-4834-81BA61E688D6}"/>
                      </a:ext>
                    </a:extLst>
                  </p:cNvPr>
                  <p:cNvSpPr txBox="1"/>
                  <p:nvPr/>
                </p:nvSpPr>
                <p:spPr>
                  <a:xfrm>
                    <a:off x="12935527" y="14424242"/>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92C6910A-FECD-035D-4834-81BA61E688D6}"/>
                      </a:ext>
                    </a:extLst>
                  </p:cNvPr>
                  <p:cNvSpPr txBox="1">
                    <a:spLocks noRot="1" noChangeAspect="1" noMove="1" noResize="1" noEditPoints="1" noAdjustHandles="1" noChangeArrowheads="1" noChangeShapeType="1" noTextEdit="1"/>
                  </p:cNvSpPr>
                  <p:nvPr/>
                </p:nvSpPr>
                <p:spPr>
                  <a:xfrm>
                    <a:off x="12935527" y="14424242"/>
                    <a:ext cx="1026117" cy="400110"/>
                  </a:xfrm>
                  <a:prstGeom prst="rect">
                    <a:avLst/>
                  </a:prstGeom>
                  <a:blipFill>
                    <a:blip r:embed="rId46"/>
                    <a:stretch>
                      <a:fillRect l="-1235" b="-12121"/>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A5FDC789-E9D6-6380-594E-026CFE72AB5A}"/>
                  </a:ext>
                </a:extLst>
              </p:cNvPr>
              <p:cNvSpPr txBox="1"/>
              <p:nvPr/>
            </p:nvSpPr>
            <p:spPr>
              <a:xfrm>
                <a:off x="12617950" y="9041187"/>
                <a:ext cx="304892" cy="424732"/>
              </a:xfrm>
              <a:prstGeom prst="rect">
                <a:avLst/>
              </a:prstGeom>
              <a:noFill/>
            </p:spPr>
            <p:txBody>
              <a:bodyPr wrap="none" rtlCol="0">
                <a:spAutoFit/>
              </a:bodyPr>
              <a:lstStyle/>
              <a:p>
                <a:r>
                  <a:rPr lang="en-US" dirty="0"/>
                  <a:t>x</a:t>
                </a:r>
              </a:p>
            </p:txBody>
          </p:sp>
          <p:sp>
            <p:nvSpPr>
              <p:cNvPr id="19" name="TextBox 18">
                <a:extLst>
                  <a:ext uri="{FF2B5EF4-FFF2-40B4-BE49-F238E27FC236}">
                    <a16:creationId xmlns:a16="http://schemas.microsoft.com/office/drawing/2014/main" id="{33200367-64C9-B2B7-75A4-CC1E208F7F85}"/>
                  </a:ext>
                </a:extLst>
              </p:cNvPr>
              <p:cNvSpPr txBox="1"/>
              <p:nvPr/>
            </p:nvSpPr>
            <p:spPr>
              <a:xfrm>
                <a:off x="13818499" y="13237553"/>
                <a:ext cx="319318" cy="424732"/>
              </a:xfrm>
              <a:prstGeom prst="rect">
                <a:avLst/>
              </a:prstGeom>
              <a:noFill/>
            </p:spPr>
            <p:txBody>
              <a:bodyPr wrap="none" rtlCol="0">
                <a:spAutoFit/>
              </a:bodyPr>
              <a:lstStyle/>
              <a:p>
                <a:r>
                  <a:rPr lang="en-US" dirty="0"/>
                  <a:t>E</a:t>
                </a:r>
              </a:p>
            </p:txBody>
          </p:sp>
          <p:sp>
            <p:nvSpPr>
              <p:cNvPr id="21" name="TextBox 20">
                <a:extLst>
                  <a:ext uri="{FF2B5EF4-FFF2-40B4-BE49-F238E27FC236}">
                    <a16:creationId xmlns:a16="http://schemas.microsoft.com/office/drawing/2014/main" id="{33AF6B4D-11FA-3B04-7139-8BD481F8BA27}"/>
                  </a:ext>
                </a:extLst>
              </p:cNvPr>
              <p:cNvSpPr txBox="1"/>
              <p:nvPr/>
            </p:nvSpPr>
            <p:spPr>
              <a:xfrm>
                <a:off x="9104168" y="10412184"/>
                <a:ext cx="319318" cy="424732"/>
              </a:xfrm>
              <a:prstGeom prst="rect">
                <a:avLst/>
              </a:prstGeom>
              <a:noFill/>
            </p:spPr>
            <p:txBody>
              <a:bodyPr wrap="none" rtlCol="0">
                <a:spAutoFit/>
              </a:bodyPr>
              <a:lstStyle/>
              <a:p>
                <a:r>
                  <a:rPr lang="en-US" dirty="0"/>
                  <a:t>E</a:t>
                </a:r>
              </a:p>
            </p:txBody>
          </p:sp>
          <p:sp>
            <p:nvSpPr>
              <p:cNvPr id="22" name="TextBox 21">
                <a:extLst>
                  <a:ext uri="{FF2B5EF4-FFF2-40B4-BE49-F238E27FC236}">
                    <a16:creationId xmlns:a16="http://schemas.microsoft.com/office/drawing/2014/main" id="{B669DF65-1E30-9C1B-D502-224C04AA7584}"/>
                  </a:ext>
                </a:extLst>
              </p:cNvPr>
              <p:cNvSpPr txBox="1"/>
              <p:nvPr/>
            </p:nvSpPr>
            <p:spPr>
              <a:xfrm>
                <a:off x="13818499" y="5767074"/>
                <a:ext cx="319318" cy="424732"/>
              </a:xfrm>
              <a:prstGeom prst="rect">
                <a:avLst/>
              </a:prstGeom>
              <a:noFill/>
            </p:spPr>
            <p:txBody>
              <a:bodyPr wrap="none" rtlCol="0">
                <a:spAutoFit/>
              </a:bodyPr>
              <a:lstStyle/>
              <a:p>
                <a:r>
                  <a:rPr lang="en-US" dirty="0"/>
                  <a:t>E</a:t>
                </a:r>
              </a:p>
            </p:txBody>
          </p:sp>
          <p:sp>
            <p:nvSpPr>
              <p:cNvPr id="23" name="TextBox 22">
                <a:extLst>
                  <a:ext uri="{FF2B5EF4-FFF2-40B4-BE49-F238E27FC236}">
                    <a16:creationId xmlns:a16="http://schemas.microsoft.com/office/drawing/2014/main" id="{260A5C78-7296-277A-CDDB-FE617C84C289}"/>
                  </a:ext>
                </a:extLst>
              </p:cNvPr>
              <p:cNvSpPr txBox="1"/>
              <p:nvPr/>
            </p:nvSpPr>
            <p:spPr>
              <a:xfrm>
                <a:off x="9104168" y="5767074"/>
                <a:ext cx="319318" cy="424732"/>
              </a:xfrm>
              <a:prstGeom prst="rect">
                <a:avLst/>
              </a:prstGeom>
              <a:noFill/>
            </p:spPr>
            <p:txBody>
              <a:bodyPr wrap="none" rtlCol="0">
                <a:spAutoFit/>
              </a:bodyPr>
              <a:lstStyle/>
              <a:p>
                <a:r>
                  <a:rPr lang="en-US" dirty="0"/>
                  <a:t>E</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5BCACF4-991E-6ED2-8B70-D396468CB20A}"/>
                      </a:ext>
                    </a:extLst>
                  </p:cNvPr>
                  <p:cNvSpPr txBox="1"/>
                  <p:nvPr/>
                </p:nvSpPr>
                <p:spPr>
                  <a:xfrm>
                    <a:off x="15777275" y="10224021"/>
                    <a:ext cx="1115242" cy="424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4" name="TextBox 23">
                    <a:extLst>
                      <a:ext uri="{FF2B5EF4-FFF2-40B4-BE49-F238E27FC236}">
                        <a16:creationId xmlns:a16="http://schemas.microsoft.com/office/drawing/2014/main" id="{05BCACF4-991E-6ED2-8B70-D396468CB20A}"/>
                      </a:ext>
                    </a:extLst>
                  </p:cNvPr>
                  <p:cNvSpPr txBox="1">
                    <a:spLocks noRot="1" noChangeAspect="1" noMove="1" noResize="1" noEditPoints="1" noAdjustHandles="1" noChangeArrowheads="1" noChangeShapeType="1" noTextEdit="1"/>
                  </p:cNvSpPr>
                  <p:nvPr/>
                </p:nvSpPr>
                <p:spPr>
                  <a:xfrm>
                    <a:off x="15777275" y="10224021"/>
                    <a:ext cx="1115242" cy="424732"/>
                  </a:xfrm>
                  <a:prstGeom prst="rect">
                    <a:avLst/>
                  </a:prstGeom>
                  <a:blipFill>
                    <a:blip r:embed="rId47"/>
                    <a:stretch>
                      <a:fillRect r="-1136" b="-17647"/>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EE4597F3-9BBA-5B50-81F3-DA73D779EFC0}"/>
                  </a:ext>
                </a:extLst>
              </p:cNvPr>
              <p:cNvSpPr txBox="1"/>
              <p:nvPr/>
            </p:nvSpPr>
            <p:spPr>
              <a:xfrm>
                <a:off x="17693990" y="13370860"/>
                <a:ext cx="304892" cy="424732"/>
              </a:xfrm>
              <a:prstGeom prst="rect">
                <a:avLst/>
              </a:prstGeom>
              <a:noFill/>
            </p:spPr>
            <p:txBody>
              <a:bodyPr wrap="none" rtlCol="0">
                <a:spAutoFit/>
              </a:bodyPr>
              <a:lstStyle/>
              <a:p>
                <a:r>
                  <a:rPr lang="en-US" dirty="0"/>
                  <a:t>x</a:t>
                </a:r>
              </a:p>
            </p:txBody>
          </p:sp>
          <p:sp>
            <p:nvSpPr>
              <p:cNvPr id="26" name="TextBox 25">
                <a:extLst>
                  <a:ext uri="{FF2B5EF4-FFF2-40B4-BE49-F238E27FC236}">
                    <a16:creationId xmlns:a16="http://schemas.microsoft.com/office/drawing/2014/main" id="{FB40B941-2131-D9BD-5165-808195406365}"/>
                  </a:ext>
                </a:extLst>
              </p:cNvPr>
              <p:cNvSpPr txBox="1"/>
              <p:nvPr/>
            </p:nvSpPr>
            <p:spPr>
              <a:xfrm>
                <a:off x="12634687" y="13544061"/>
                <a:ext cx="304892" cy="424732"/>
              </a:xfrm>
              <a:prstGeom prst="rect">
                <a:avLst/>
              </a:prstGeom>
              <a:noFill/>
            </p:spPr>
            <p:txBody>
              <a:bodyPr wrap="none" rtlCol="0">
                <a:spAutoFit/>
              </a:bodyPr>
              <a:lstStyle/>
              <a:p>
                <a:r>
                  <a:rPr lang="en-US" dirty="0"/>
                  <a:t>x</a:t>
                </a:r>
              </a:p>
            </p:txBody>
          </p:sp>
          <p:sp>
            <p:nvSpPr>
              <p:cNvPr id="27" name="TextBox 26">
                <a:extLst>
                  <a:ext uri="{FF2B5EF4-FFF2-40B4-BE49-F238E27FC236}">
                    <a16:creationId xmlns:a16="http://schemas.microsoft.com/office/drawing/2014/main" id="{EC2EA345-F961-9697-3E47-8B256493F3D7}"/>
                  </a:ext>
                </a:extLst>
              </p:cNvPr>
              <p:cNvSpPr txBox="1"/>
              <p:nvPr/>
            </p:nvSpPr>
            <p:spPr>
              <a:xfrm>
                <a:off x="17389098" y="9034369"/>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018AB08-6435-7550-C864-85FB2406FCCB}"/>
                      </a:ext>
                    </a:extLst>
                  </p:cNvPr>
                  <p:cNvSpPr txBox="1"/>
                  <p:nvPr/>
                </p:nvSpPr>
                <p:spPr>
                  <a:xfrm>
                    <a:off x="17544796" y="9675290"/>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TextBox 27">
                    <a:extLst>
                      <a:ext uri="{FF2B5EF4-FFF2-40B4-BE49-F238E27FC236}">
                        <a16:creationId xmlns:a16="http://schemas.microsoft.com/office/drawing/2014/main" id="{F018AB08-6435-7550-C864-85FB2406FCCB}"/>
                      </a:ext>
                    </a:extLst>
                  </p:cNvPr>
                  <p:cNvSpPr txBox="1">
                    <a:spLocks noRot="1" noChangeAspect="1" noMove="1" noResize="1" noEditPoints="1" noAdjustHandles="1" noChangeArrowheads="1" noChangeShapeType="1" noTextEdit="1"/>
                  </p:cNvSpPr>
                  <p:nvPr/>
                </p:nvSpPr>
                <p:spPr>
                  <a:xfrm>
                    <a:off x="17544796" y="9675290"/>
                    <a:ext cx="1048877" cy="400110"/>
                  </a:xfrm>
                  <a:prstGeom prst="rect">
                    <a:avLst/>
                  </a:prstGeom>
                  <a:blipFill>
                    <a:blip r:embed="rId48"/>
                    <a:stretch>
                      <a:fillRect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387CEF-83C3-C7E8-410E-E345BCA8CE3C}"/>
                      </a:ext>
                    </a:extLst>
                  </p:cNvPr>
                  <p:cNvSpPr txBox="1"/>
                  <p:nvPr/>
                </p:nvSpPr>
                <p:spPr>
                  <a:xfrm>
                    <a:off x="12812275" y="9741109"/>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sz="2000" dirty="0"/>
                  </a:p>
                </p:txBody>
              </p:sp>
            </mc:Choice>
            <mc:Fallback xmlns="">
              <p:sp>
                <p:nvSpPr>
                  <p:cNvPr id="30" name="TextBox 29">
                    <a:extLst>
                      <a:ext uri="{FF2B5EF4-FFF2-40B4-BE49-F238E27FC236}">
                        <a16:creationId xmlns:a16="http://schemas.microsoft.com/office/drawing/2014/main" id="{65387CEF-83C3-C7E8-410E-E345BCA8CE3C}"/>
                      </a:ext>
                    </a:extLst>
                  </p:cNvPr>
                  <p:cNvSpPr txBox="1">
                    <a:spLocks noRot="1" noChangeAspect="1" noMove="1" noResize="1" noEditPoints="1" noAdjustHandles="1" noChangeArrowheads="1" noChangeShapeType="1" noTextEdit="1"/>
                  </p:cNvSpPr>
                  <p:nvPr/>
                </p:nvSpPr>
                <p:spPr>
                  <a:xfrm>
                    <a:off x="12812275" y="9741109"/>
                    <a:ext cx="1048877" cy="400110"/>
                  </a:xfrm>
                  <a:prstGeom prst="rect">
                    <a:avLst/>
                  </a:prstGeom>
                  <a:blipFill>
                    <a:blip r:embed="rId6"/>
                    <a:stretch>
                      <a:fillRect b="-1562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20FE8812-2645-0CCE-B0AD-42552108661D}"/>
                    </a:ext>
                  </a:extLst>
                </p:cNvPr>
                <p:cNvSpPr txBox="1"/>
                <p:nvPr/>
              </p:nvSpPr>
              <p:spPr>
                <a:xfrm>
                  <a:off x="10248181" y="13266408"/>
                  <a:ext cx="101619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1" name="TextBox 120">
                  <a:extLst>
                    <a:ext uri="{FF2B5EF4-FFF2-40B4-BE49-F238E27FC236}">
                      <a16:creationId xmlns:a16="http://schemas.microsoft.com/office/drawing/2014/main" id="{20FE8812-2645-0CCE-B0AD-42552108661D}"/>
                    </a:ext>
                  </a:extLst>
                </p:cNvPr>
                <p:cNvSpPr txBox="1">
                  <a:spLocks noRot="1" noChangeAspect="1" noMove="1" noResize="1" noEditPoints="1" noAdjustHandles="1" noChangeArrowheads="1" noChangeShapeType="1" noTextEdit="1"/>
                </p:cNvSpPr>
                <p:nvPr/>
              </p:nvSpPr>
              <p:spPr>
                <a:xfrm>
                  <a:off x="10248181" y="13266408"/>
                  <a:ext cx="1016194" cy="400110"/>
                </a:xfrm>
                <a:prstGeom prst="rect">
                  <a:avLst/>
                </a:prstGeom>
                <a:blipFill>
                  <a:blip r:embed="rId28"/>
                  <a:stretch>
                    <a:fillRect b="-12121"/>
                  </a:stretch>
                </a:blipFill>
              </p:spPr>
              <p:txBody>
                <a:bodyPr/>
                <a:lstStyle/>
                <a:p>
                  <a:r>
                    <a:rPr lang="en-US">
                      <a:noFill/>
                    </a:rPr>
                    <a:t> </a:t>
                  </a:r>
                </a:p>
              </p:txBody>
            </p:sp>
          </mc:Fallback>
        </mc:AlternateContent>
        <p:sp>
          <p:nvSpPr>
            <p:cNvPr id="150" name="TextBox 149">
              <a:extLst>
                <a:ext uri="{FF2B5EF4-FFF2-40B4-BE49-F238E27FC236}">
                  <a16:creationId xmlns:a16="http://schemas.microsoft.com/office/drawing/2014/main" id="{0158C30B-5950-97E4-B09C-BE17DD775C84}"/>
                </a:ext>
              </a:extLst>
            </p:cNvPr>
            <p:cNvSpPr txBox="1"/>
            <p:nvPr/>
          </p:nvSpPr>
          <p:spPr>
            <a:xfrm>
              <a:off x="4008338" y="13879878"/>
              <a:ext cx="4297491" cy="424732"/>
            </a:xfrm>
            <a:prstGeom prst="rect">
              <a:avLst/>
            </a:prstGeom>
            <a:noFill/>
          </p:spPr>
          <p:txBody>
            <a:bodyPr wrap="square" rtlCol="0">
              <a:spAutoFit/>
            </a:bodyPr>
            <a:lstStyle/>
            <a:p>
              <a:r>
                <a:rPr lang="en-US" b="1" dirty="0"/>
                <a:t>Figure 1: </a:t>
              </a:r>
              <a:r>
                <a:rPr lang="en-US" dirty="0"/>
                <a:t>Infinite Medium Problem</a:t>
              </a:r>
            </a:p>
          </p:txBody>
        </p:sp>
      </p:grpSp>
      <p:grpSp>
        <p:nvGrpSpPr>
          <p:cNvPr id="156" name="Group 155">
            <a:extLst>
              <a:ext uri="{FF2B5EF4-FFF2-40B4-BE49-F238E27FC236}">
                <a16:creationId xmlns:a16="http://schemas.microsoft.com/office/drawing/2014/main" id="{07026129-BC3A-B45E-8D2C-12E075EC361A}"/>
              </a:ext>
            </a:extLst>
          </p:cNvPr>
          <p:cNvGrpSpPr/>
          <p:nvPr/>
        </p:nvGrpSpPr>
        <p:grpSpPr>
          <a:xfrm>
            <a:off x="26846619" y="16221427"/>
            <a:ext cx="9370647" cy="9907802"/>
            <a:chOff x="26846619" y="16221427"/>
            <a:chExt cx="9370647" cy="9907802"/>
          </a:xfrm>
        </p:grpSpPr>
        <p:grpSp>
          <p:nvGrpSpPr>
            <p:cNvPr id="143" name="Group 142">
              <a:extLst>
                <a:ext uri="{FF2B5EF4-FFF2-40B4-BE49-F238E27FC236}">
                  <a16:creationId xmlns:a16="http://schemas.microsoft.com/office/drawing/2014/main" id="{FEFC16C0-CB86-84C5-455D-C726CA730054}"/>
                </a:ext>
              </a:extLst>
            </p:cNvPr>
            <p:cNvGrpSpPr/>
            <p:nvPr/>
          </p:nvGrpSpPr>
          <p:grpSpPr>
            <a:xfrm>
              <a:off x="26846619" y="16221427"/>
              <a:ext cx="9370647" cy="9374061"/>
              <a:chOff x="13810401" y="11865136"/>
              <a:chExt cx="9370647" cy="9374061"/>
            </a:xfrm>
          </p:grpSpPr>
          <p:pic>
            <p:nvPicPr>
              <p:cNvPr id="136" name="Picture 135" descr="A blue and brown squares&#10;&#10;AI-generated content may be incorrect.">
                <a:extLst>
                  <a:ext uri="{FF2B5EF4-FFF2-40B4-BE49-F238E27FC236}">
                    <a16:creationId xmlns:a16="http://schemas.microsoft.com/office/drawing/2014/main" id="{9FCE8632-FFC6-A2E5-D2C3-2793F825E3BF}"/>
                  </a:ext>
                </a:extLst>
              </p:cNvPr>
              <p:cNvPicPr>
                <a:picLocks noChangeAspect="1"/>
              </p:cNvPicPr>
              <p:nvPr/>
            </p:nvPicPr>
            <p:blipFill>
              <a:blip r:embed="rId49">
                <a:extLst>
                  <a:ext uri="{28A0092B-C50C-407E-A947-70E740481C1C}">
                    <a14:useLocalDpi xmlns:a14="http://schemas.microsoft.com/office/drawing/2010/main" val="0"/>
                  </a:ext>
                </a:extLst>
              </a:blip>
              <a:stretch>
                <a:fillRect/>
              </a:stretch>
            </p:blipFill>
            <p:spPr>
              <a:xfrm>
                <a:off x="13990606" y="16523119"/>
                <a:ext cx="4489704" cy="4315968"/>
              </a:xfrm>
              <a:prstGeom prst="rect">
                <a:avLst/>
              </a:prstGeom>
            </p:spPr>
          </p:pic>
          <p:pic>
            <p:nvPicPr>
              <p:cNvPr id="137" name="Picture 136" descr="A diagram of a rainbow colored curve&#10;&#10;AI-generated content may be incorrect.">
                <a:extLst>
                  <a:ext uri="{FF2B5EF4-FFF2-40B4-BE49-F238E27FC236}">
                    <a16:creationId xmlns:a16="http://schemas.microsoft.com/office/drawing/2014/main" id="{CC7C823B-A63F-8DF8-E77D-77C97551351C}"/>
                  </a:ext>
                </a:extLst>
              </p:cNvPr>
              <p:cNvPicPr>
                <a:picLocks noChangeAspect="1"/>
              </p:cNvPicPr>
              <p:nvPr/>
            </p:nvPicPr>
            <p:blipFill>
              <a:blip r:embed="rId50">
                <a:extLst>
                  <a:ext uri="{28A0092B-C50C-407E-A947-70E740481C1C}">
                    <a14:useLocalDpi xmlns:a14="http://schemas.microsoft.com/office/drawing/2010/main" val="0"/>
                  </a:ext>
                </a:extLst>
              </a:blip>
              <a:stretch>
                <a:fillRect/>
              </a:stretch>
            </p:blipFill>
            <p:spPr>
              <a:xfrm>
                <a:off x="18675003" y="16693878"/>
                <a:ext cx="4489704" cy="3968496"/>
              </a:xfrm>
              <a:prstGeom prst="rect">
                <a:avLst/>
              </a:prstGeom>
            </p:spPr>
          </p:pic>
          <p:sp>
            <p:nvSpPr>
              <p:cNvPr id="49" name="TextBox 48">
                <a:extLst>
                  <a:ext uri="{FF2B5EF4-FFF2-40B4-BE49-F238E27FC236}">
                    <a16:creationId xmlns:a16="http://schemas.microsoft.com/office/drawing/2014/main" id="{A1FA9EB1-A6EE-F031-4997-41B93F66880A}"/>
                  </a:ext>
                </a:extLst>
              </p:cNvPr>
              <p:cNvSpPr txBox="1"/>
              <p:nvPr/>
            </p:nvSpPr>
            <p:spPr>
              <a:xfrm>
                <a:off x="17158764" y="20027932"/>
                <a:ext cx="304892" cy="424732"/>
              </a:xfrm>
              <a:prstGeom prst="rect">
                <a:avLst/>
              </a:prstGeom>
              <a:noFill/>
            </p:spPr>
            <p:txBody>
              <a:bodyPr wrap="none" rtlCol="0">
                <a:spAutoFit/>
              </a:bodyPr>
              <a:lstStyle/>
              <a:p>
                <a:r>
                  <a:rPr lang="en-US" dirty="0"/>
                  <a:t>x</a:t>
                </a:r>
              </a:p>
            </p:txBody>
          </p:sp>
          <p:sp>
            <p:nvSpPr>
              <p:cNvPr id="125" name="TextBox 124">
                <a:extLst>
                  <a:ext uri="{FF2B5EF4-FFF2-40B4-BE49-F238E27FC236}">
                    <a16:creationId xmlns:a16="http://schemas.microsoft.com/office/drawing/2014/main" id="{874312D1-F830-4F4B-32FC-0C8DC8A97B0F}"/>
                  </a:ext>
                </a:extLst>
              </p:cNvPr>
              <p:cNvSpPr txBox="1"/>
              <p:nvPr/>
            </p:nvSpPr>
            <p:spPr>
              <a:xfrm>
                <a:off x="22199272" y="19919550"/>
                <a:ext cx="304892" cy="424732"/>
              </a:xfrm>
              <a:prstGeom prst="rect">
                <a:avLst/>
              </a:prstGeom>
              <a:noFill/>
            </p:spPr>
            <p:txBody>
              <a:bodyPr wrap="none" rtlCol="0">
                <a:spAutoFit/>
              </a:bodyPr>
              <a:lstStyle/>
              <a:p>
                <a:r>
                  <a:rPr lang="en-US" dirty="0"/>
                  <a:t>x</a:t>
                </a:r>
              </a:p>
            </p:txBody>
          </p:sp>
          <p:sp>
            <p:nvSpPr>
              <p:cNvPr id="138" name="TextBox 137">
                <a:extLst>
                  <a:ext uri="{FF2B5EF4-FFF2-40B4-BE49-F238E27FC236}">
                    <a16:creationId xmlns:a16="http://schemas.microsoft.com/office/drawing/2014/main" id="{7D39B52D-AFE8-E4C4-07E8-385EE0329FD6}"/>
                  </a:ext>
                </a:extLst>
              </p:cNvPr>
              <p:cNvSpPr txBox="1"/>
              <p:nvPr/>
            </p:nvSpPr>
            <p:spPr>
              <a:xfrm>
                <a:off x="18549176" y="19260452"/>
                <a:ext cx="319318" cy="424732"/>
              </a:xfrm>
              <a:prstGeom prst="rect">
                <a:avLst/>
              </a:prstGeom>
              <a:noFill/>
            </p:spPr>
            <p:txBody>
              <a:bodyPr wrap="none" rtlCol="0">
                <a:spAutoFit/>
              </a:bodyPr>
              <a:lstStyle/>
              <a:p>
                <a:r>
                  <a:rPr lang="en-US" dirty="0"/>
                  <a:t>E</a:t>
                </a:r>
              </a:p>
            </p:txBody>
          </p:sp>
          <p:sp>
            <p:nvSpPr>
              <p:cNvPr id="141" name="TextBox 140">
                <a:extLst>
                  <a:ext uri="{FF2B5EF4-FFF2-40B4-BE49-F238E27FC236}">
                    <a16:creationId xmlns:a16="http://schemas.microsoft.com/office/drawing/2014/main" id="{0DBF4DD8-D512-B8AA-D4FB-DED34ABDBAF1}"/>
                  </a:ext>
                </a:extLst>
              </p:cNvPr>
              <p:cNvSpPr txBox="1"/>
              <p:nvPr/>
            </p:nvSpPr>
            <p:spPr>
              <a:xfrm>
                <a:off x="13876436" y="16875751"/>
                <a:ext cx="319318" cy="424732"/>
              </a:xfrm>
              <a:prstGeom prst="rect">
                <a:avLst/>
              </a:prstGeom>
              <a:noFill/>
            </p:spPr>
            <p:txBody>
              <a:bodyPr wrap="none" rtlCol="0">
                <a:spAutoFit/>
              </a:bodyPr>
              <a:lstStyle/>
              <a:p>
                <a:r>
                  <a:rPr lang="en-US" dirty="0"/>
                  <a:t>E</a:t>
                </a:r>
              </a:p>
            </p:txBody>
          </p:sp>
          <p:pic>
            <p:nvPicPr>
              <p:cNvPr id="134" name="Picture 133" descr="A blue and red squares&#10;&#10;AI-generated content may be incorrect.">
                <a:extLst>
                  <a:ext uri="{FF2B5EF4-FFF2-40B4-BE49-F238E27FC236}">
                    <a16:creationId xmlns:a16="http://schemas.microsoft.com/office/drawing/2014/main" id="{95A7C652-8B2E-09F3-5587-297037EA19E7}"/>
                  </a:ext>
                </a:extLst>
              </p:cNvPr>
              <p:cNvPicPr>
                <a:picLocks noChangeAspect="1"/>
              </p:cNvPicPr>
              <p:nvPr/>
            </p:nvPicPr>
            <p:blipFill>
              <a:blip r:embed="rId51">
                <a:extLst>
                  <a:ext uri="{28A0092B-C50C-407E-A947-70E740481C1C}">
                    <a14:useLocalDpi xmlns:a14="http://schemas.microsoft.com/office/drawing/2010/main" val="0"/>
                  </a:ext>
                </a:extLst>
              </a:blip>
              <a:stretch>
                <a:fillRect/>
              </a:stretch>
            </p:blipFill>
            <p:spPr>
              <a:xfrm>
                <a:off x="18675003" y="11869842"/>
                <a:ext cx="4489704" cy="4314917"/>
              </a:xfrm>
              <a:prstGeom prst="rect">
                <a:avLst/>
              </a:prstGeom>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6764C97-74A5-19A1-B8FD-EB56F988ED3F}"/>
                      </a:ext>
                    </a:extLst>
                  </p:cNvPr>
                  <p:cNvSpPr txBox="1"/>
                  <p:nvPr/>
                </p:nvSpPr>
                <p:spPr>
                  <a:xfrm>
                    <a:off x="18670733" y="15805734"/>
                    <a:ext cx="322364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𝜓</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34" name="TextBox 33">
                    <a:extLst>
                      <a:ext uri="{FF2B5EF4-FFF2-40B4-BE49-F238E27FC236}">
                        <a16:creationId xmlns:a16="http://schemas.microsoft.com/office/drawing/2014/main" id="{66764C97-74A5-19A1-B8FD-EB56F988ED3F}"/>
                      </a:ext>
                    </a:extLst>
                  </p:cNvPr>
                  <p:cNvSpPr txBox="1">
                    <a:spLocks noRot="1" noChangeAspect="1" noMove="1" noResize="1" noEditPoints="1" noAdjustHandles="1" noChangeArrowheads="1" noChangeShapeType="1" noTextEdit="1"/>
                  </p:cNvSpPr>
                  <p:nvPr/>
                </p:nvSpPr>
                <p:spPr>
                  <a:xfrm>
                    <a:off x="18670733" y="15805734"/>
                    <a:ext cx="3223646" cy="400110"/>
                  </a:xfrm>
                  <a:prstGeom prst="rect">
                    <a:avLst/>
                  </a:prstGeom>
                  <a:blipFill>
                    <a:blip r:embed="rId23"/>
                    <a:stretch>
                      <a:fillRect b="-15152"/>
                    </a:stretch>
                  </a:blipFill>
                </p:spPr>
                <p:txBody>
                  <a:bodyPr/>
                  <a:lstStyle/>
                  <a:p>
                    <a:r>
                      <a:rPr lang="en-US">
                        <a:noFill/>
                      </a:rPr>
                      <a:t> </a:t>
                    </a:r>
                  </a:p>
                </p:txBody>
              </p:sp>
            </mc:Fallback>
          </mc:AlternateContent>
          <p:pic>
            <p:nvPicPr>
              <p:cNvPr id="135" name="Picture 134" descr="A blue and red squares&#10;&#10;AI-generated content may be incorrect.">
                <a:extLst>
                  <a:ext uri="{FF2B5EF4-FFF2-40B4-BE49-F238E27FC236}">
                    <a16:creationId xmlns:a16="http://schemas.microsoft.com/office/drawing/2014/main" id="{4EB64DEB-2822-314E-2963-7ABFAA4B637C}"/>
                  </a:ext>
                </a:extLst>
              </p:cNvPr>
              <p:cNvPicPr>
                <a:picLocks noChangeAspect="1"/>
              </p:cNvPicPr>
              <p:nvPr/>
            </p:nvPicPr>
            <p:blipFill>
              <a:blip r:embed="rId52">
                <a:extLst>
                  <a:ext uri="{28A0092B-C50C-407E-A947-70E740481C1C}">
                    <a14:useLocalDpi xmlns:a14="http://schemas.microsoft.com/office/drawing/2010/main" val="0"/>
                  </a:ext>
                </a:extLst>
              </a:blip>
              <a:stretch>
                <a:fillRect/>
              </a:stretch>
            </p:blipFill>
            <p:spPr>
              <a:xfrm>
                <a:off x="13990606" y="11865136"/>
                <a:ext cx="4489704" cy="4314917"/>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A414401-D67F-20AF-E99E-1F58F72DA7A5}"/>
                      </a:ext>
                    </a:extLst>
                  </p:cNvPr>
                  <p:cNvSpPr txBox="1"/>
                  <p:nvPr/>
                </p:nvSpPr>
                <p:spPr>
                  <a:xfrm>
                    <a:off x="14129433" y="15779943"/>
                    <a:ext cx="286718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𝑓𝑜𝑟</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+ 0.577</m:t>
                          </m:r>
                        </m:oMath>
                      </m:oMathPara>
                    </a14:m>
                    <a:endParaRPr lang="en-US" sz="2000" dirty="0"/>
                  </a:p>
                </p:txBody>
              </p:sp>
            </mc:Choice>
            <mc:Fallback xmlns="">
              <p:sp>
                <p:nvSpPr>
                  <p:cNvPr id="31" name="TextBox 30">
                    <a:extLst>
                      <a:ext uri="{FF2B5EF4-FFF2-40B4-BE49-F238E27FC236}">
                        <a16:creationId xmlns:a16="http://schemas.microsoft.com/office/drawing/2014/main" id="{AA414401-D67F-20AF-E99E-1F58F72DA7A5}"/>
                      </a:ext>
                    </a:extLst>
                  </p:cNvPr>
                  <p:cNvSpPr txBox="1">
                    <a:spLocks noRot="1" noChangeAspect="1" noMove="1" noResize="1" noEditPoints="1" noAdjustHandles="1" noChangeArrowheads="1" noChangeShapeType="1" noTextEdit="1"/>
                  </p:cNvSpPr>
                  <p:nvPr/>
                </p:nvSpPr>
                <p:spPr>
                  <a:xfrm>
                    <a:off x="14129433" y="15779943"/>
                    <a:ext cx="2867186" cy="400110"/>
                  </a:xfrm>
                  <a:prstGeom prst="rect">
                    <a:avLst/>
                  </a:prstGeom>
                  <a:blipFill>
                    <a:blip r:embed="rId53"/>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B2ECAE7-BC6B-E628-4F5E-59C9150043F3}"/>
                      </a:ext>
                    </a:extLst>
                  </p:cNvPr>
                  <p:cNvSpPr txBox="1"/>
                  <p:nvPr/>
                </p:nvSpPr>
                <p:spPr>
                  <a:xfrm>
                    <a:off x="21008957" y="16900373"/>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9B2ECAE7-BC6B-E628-4F5E-59C9150043F3}"/>
                      </a:ext>
                    </a:extLst>
                  </p:cNvPr>
                  <p:cNvSpPr txBox="1">
                    <a:spLocks noRot="1" noChangeAspect="1" noMove="1" noResize="1" noEditPoints="1" noAdjustHandles="1" noChangeArrowheads="1" noChangeShapeType="1" noTextEdit="1"/>
                  </p:cNvSpPr>
                  <p:nvPr/>
                </p:nvSpPr>
                <p:spPr>
                  <a:xfrm>
                    <a:off x="21008957" y="16900373"/>
                    <a:ext cx="1026117" cy="400110"/>
                  </a:xfrm>
                  <a:prstGeom prst="rect">
                    <a:avLst/>
                  </a:prstGeom>
                  <a:blipFill>
                    <a:blip r:embed="rId54"/>
                    <a:stretch>
                      <a:fillRect b="-12121"/>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6E8D3167-2BE6-FF47-3986-E59926EB82FB}"/>
                  </a:ext>
                </a:extLst>
              </p:cNvPr>
              <p:cNvSpPr txBox="1"/>
              <p:nvPr/>
            </p:nvSpPr>
            <p:spPr>
              <a:xfrm>
                <a:off x="21845663" y="15338809"/>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EF805EC-B3FC-7694-5140-D7C4BB5A93AB}"/>
                      </a:ext>
                    </a:extLst>
                  </p:cNvPr>
                  <p:cNvSpPr txBox="1"/>
                  <p:nvPr/>
                </p:nvSpPr>
                <p:spPr>
                  <a:xfrm>
                    <a:off x="17500785" y="20839087"/>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8" name="TextBox 97">
                    <a:extLst>
                      <a:ext uri="{FF2B5EF4-FFF2-40B4-BE49-F238E27FC236}">
                        <a16:creationId xmlns:a16="http://schemas.microsoft.com/office/drawing/2014/main" id="{7EF805EC-B3FC-7694-5140-D7C4BB5A93AB}"/>
                      </a:ext>
                    </a:extLst>
                  </p:cNvPr>
                  <p:cNvSpPr txBox="1">
                    <a:spLocks noRot="1" noChangeAspect="1" noMove="1" noResize="1" noEditPoints="1" noAdjustHandles="1" noChangeArrowheads="1" noChangeShapeType="1" noTextEdit="1"/>
                  </p:cNvSpPr>
                  <p:nvPr/>
                </p:nvSpPr>
                <p:spPr>
                  <a:xfrm>
                    <a:off x="17500785" y="20839087"/>
                    <a:ext cx="1026117" cy="400110"/>
                  </a:xfrm>
                  <a:prstGeom prst="rect">
                    <a:avLst/>
                  </a:prstGeom>
                  <a:blipFill>
                    <a:blip r:embed="rId5"/>
                    <a:stretch>
                      <a:fillRect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C9084BD2-88BB-EE9A-90A8-13A35274E11A}"/>
                      </a:ext>
                    </a:extLst>
                  </p:cNvPr>
                  <p:cNvSpPr txBox="1"/>
                  <p:nvPr/>
                </p:nvSpPr>
                <p:spPr>
                  <a:xfrm>
                    <a:off x="22132171" y="16157742"/>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9" name="TextBox 98">
                    <a:extLst>
                      <a:ext uri="{FF2B5EF4-FFF2-40B4-BE49-F238E27FC236}">
                        <a16:creationId xmlns:a16="http://schemas.microsoft.com/office/drawing/2014/main" id="{C9084BD2-88BB-EE9A-90A8-13A35274E11A}"/>
                      </a:ext>
                    </a:extLst>
                  </p:cNvPr>
                  <p:cNvSpPr txBox="1">
                    <a:spLocks noRot="1" noChangeAspect="1" noMove="1" noResize="1" noEditPoints="1" noAdjustHandles="1" noChangeArrowheads="1" noChangeShapeType="1" noTextEdit="1"/>
                  </p:cNvSpPr>
                  <p:nvPr/>
                </p:nvSpPr>
                <p:spPr>
                  <a:xfrm>
                    <a:off x="22132171" y="16157742"/>
                    <a:ext cx="1048877" cy="400110"/>
                  </a:xfrm>
                  <a:prstGeom prst="rect">
                    <a:avLst/>
                  </a:prstGeom>
                  <a:blipFill>
                    <a:blip r:embed="rId55"/>
                    <a:stretch>
                      <a:fillRect b="-15625"/>
                    </a:stretch>
                  </a:blipFill>
                </p:spPr>
                <p:txBody>
                  <a:bodyPr/>
                  <a:lstStyle/>
                  <a:p>
                    <a:r>
                      <a:rPr lang="en-US">
                        <a:noFill/>
                      </a:rPr>
                      <a:t> </a:t>
                    </a:r>
                  </a:p>
                </p:txBody>
              </p:sp>
            </mc:Fallback>
          </mc:AlternateContent>
          <p:sp>
            <p:nvSpPr>
              <p:cNvPr id="102" name="TextBox 101">
                <a:extLst>
                  <a:ext uri="{FF2B5EF4-FFF2-40B4-BE49-F238E27FC236}">
                    <a16:creationId xmlns:a16="http://schemas.microsoft.com/office/drawing/2014/main" id="{19FA68CF-8617-01D4-4159-20E048DE6A99}"/>
                  </a:ext>
                </a:extLst>
              </p:cNvPr>
              <p:cNvSpPr txBox="1"/>
              <p:nvPr/>
            </p:nvSpPr>
            <p:spPr>
              <a:xfrm>
                <a:off x="17158764" y="15381002"/>
                <a:ext cx="304892" cy="424732"/>
              </a:xfrm>
              <a:prstGeom prst="rect">
                <a:avLst/>
              </a:prstGeom>
              <a:noFill/>
            </p:spPr>
            <p:txBody>
              <a:bodyPr wrap="none" rtlCol="0">
                <a:spAutoFit/>
              </a:bodyPr>
              <a:lstStyle/>
              <a:p>
                <a:r>
                  <a:rPr lang="en-US" dirty="0"/>
                  <a:t>x</a:t>
                </a:r>
              </a:p>
            </p:txBody>
          </p:sp>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48C327D1-073B-E3B9-CDF5-9F51ED6F6470}"/>
                      </a:ext>
                    </a:extLst>
                  </p:cNvPr>
                  <p:cNvSpPr txBox="1"/>
                  <p:nvPr/>
                </p:nvSpPr>
                <p:spPr>
                  <a:xfrm>
                    <a:off x="17483029" y="16119994"/>
                    <a:ext cx="10488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𝐸</m:t>
                          </m:r>
                          <m:r>
                            <a:rPr lang="en-US" sz="20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1" name="TextBox 110">
                    <a:extLst>
                      <a:ext uri="{FF2B5EF4-FFF2-40B4-BE49-F238E27FC236}">
                        <a16:creationId xmlns:a16="http://schemas.microsoft.com/office/drawing/2014/main" id="{48C327D1-073B-E3B9-CDF5-9F51ED6F6470}"/>
                      </a:ext>
                    </a:extLst>
                  </p:cNvPr>
                  <p:cNvSpPr txBox="1">
                    <a:spLocks noRot="1" noChangeAspect="1" noMove="1" noResize="1" noEditPoints="1" noAdjustHandles="1" noChangeArrowheads="1" noChangeShapeType="1" noTextEdit="1"/>
                  </p:cNvSpPr>
                  <p:nvPr/>
                </p:nvSpPr>
                <p:spPr>
                  <a:xfrm>
                    <a:off x="17483029" y="16119994"/>
                    <a:ext cx="1048877" cy="400110"/>
                  </a:xfrm>
                  <a:prstGeom prst="rect">
                    <a:avLst/>
                  </a:prstGeom>
                  <a:blipFill>
                    <a:blip r:embed="rId15"/>
                    <a:stretch>
                      <a:fillRect b="-12121"/>
                    </a:stretch>
                  </a:blipFill>
                </p:spPr>
                <p:txBody>
                  <a:bodyPr/>
                  <a:lstStyle/>
                  <a:p>
                    <a:r>
                      <a:rPr lang="en-US">
                        <a:noFill/>
                      </a:rPr>
                      <a:t> </a:t>
                    </a:r>
                  </a:p>
                </p:txBody>
              </p:sp>
            </mc:Fallback>
          </mc:AlternateContent>
          <p:sp>
            <p:nvSpPr>
              <p:cNvPr id="139" name="TextBox 138">
                <a:extLst>
                  <a:ext uri="{FF2B5EF4-FFF2-40B4-BE49-F238E27FC236}">
                    <a16:creationId xmlns:a16="http://schemas.microsoft.com/office/drawing/2014/main" id="{D1C68023-7B06-0A84-BAE4-C2CB3B77EE12}"/>
                  </a:ext>
                </a:extLst>
              </p:cNvPr>
              <p:cNvSpPr txBox="1"/>
              <p:nvPr/>
            </p:nvSpPr>
            <p:spPr>
              <a:xfrm>
                <a:off x="18549176" y="12239790"/>
                <a:ext cx="319318" cy="424732"/>
              </a:xfrm>
              <a:prstGeom prst="rect">
                <a:avLst/>
              </a:prstGeom>
              <a:noFill/>
            </p:spPr>
            <p:txBody>
              <a:bodyPr wrap="none" rtlCol="0">
                <a:spAutoFit/>
              </a:bodyPr>
              <a:lstStyle/>
              <a:p>
                <a:r>
                  <a:rPr lang="en-US" dirty="0"/>
                  <a:t>E</a:t>
                </a:r>
              </a:p>
            </p:txBody>
          </p:sp>
          <p:sp>
            <p:nvSpPr>
              <p:cNvPr id="140" name="TextBox 139">
                <a:extLst>
                  <a:ext uri="{FF2B5EF4-FFF2-40B4-BE49-F238E27FC236}">
                    <a16:creationId xmlns:a16="http://schemas.microsoft.com/office/drawing/2014/main" id="{EEAE069A-A573-20EB-5FC3-D5E2F53F40D5}"/>
                  </a:ext>
                </a:extLst>
              </p:cNvPr>
              <p:cNvSpPr txBox="1"/>
              <p:nvPr/>
            </p:nvSpPr>
            <p:spPr>
              <a:xfrm>
                <a:off x="13810401" y="12241339"/>
                <a:ext cx="319318" cy="424732"/>
              </a:xfrm>
              <a:prstGeom prst="rect">
                <a:avLst/>
              </a:prstGeom>
              <a:noFill/>
            </p:spPr>
            <p:txBody>
              <a:bodyPr wrap="none" rtlCol="0">
                <a:spAutoFit/>
              </a:bodyPr>
              <a:lstStyle/>
              <a:p>
                <a:r>
                  <a:rPr lang="en-US" dirty="0"/>
                  <a:t>E</a:t>
                </a:r>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B5961FB4-59FF-7D1A-F2F1-943A1524CD4E}"/>
                      </a:ext>
                    </a:extLst>
                  </p:cNvPr>
                  <p:cNvSpPr txBox="1"/>
                  <p:nvPr/>
                </p:nvSpPr>
                <p:spPr>
                  <a:xfrm>
                    <a:off x="22121408" y="20788773"/>
                    <a:ext cx="1026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𝐸</m:t>
                          </m:r>
                          <m:r>
                            <a:rPr lang="en-US" sz="2000"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42" name="TextBox 141">
                    <a:extLst>
                      <a:ext uri="{FF2B5EF4-FFF2-40B4-BE49-F238E27FC236}">
                        <a16:creationId xmlns:a16="http://schemas.microsoft.com/office/drawing/2014/main" id="{B5961FB4-59FF-7D1A-F2F1-943A1524CD4E}"/>
                      </a:ext>
                    </a:extLst>
                  </p:cNvPr>
                  <p:cNvSpPr txBox="1">
                    <a:spLocks noRot="1" noChangeAspect="1" noMove="1" noResize="1" noEditPoints="1" noAdjustHandles="1" noChangeArrowheads="1" noChangeShapeType="1" noTextEdit="1"/>
                  </p:cNvSpPr>
                  <p:nvPr/>
                </p:nvSpPr>
                <p:spPr>
                  <a:xfrm>
                    <a:off x="22121408" y="20788773"/>
                    <a:ext cx="1026117" cy="400110"/>
                  </a:xfrm>
                  <a:prstGeom prst="rect">
                    <a:avLst/>
                  </a:prstGeom>
                  <a:blipFill>
                    <a:blip r:embed="rId56"/>
                    <a:stretch>
                      <a:fillRect b="-15625"/>
                    </a:stretch>
                  </a:blipFill>
                </p:spPr>
                <p:txBody>
                  <a:bodyPr/>
                  <a:lstStyle/>
                  <a:p>
                    <a:r>
                      <a:rPr lang="en-US">
                        <a:noFill/>
                      </a:rPr>
                      <a:t> </a:t>
                    </a:r>
                  </a:p>
                </p:txBody>
              </p:sp>
            </mc:Fallback>
          </mc:AlternateContent>
        </p:grpSp>
        <p:sp>
          <p:nvSpPr>
            <p:cNvPr id="151" name="TextBox 150">
              <a:extLst>
                <a:ext uri="{FF2B5EF4-FFF2-40B4-BE49-F238E27FC236}">
                  <a16:creationId xmlns:a16="http://schemas.microsoft.com/office/drawing/2014/main" id="{72574CE5-1FA8-6ED4-3DE2-4CB539FADADD}"/>
                </a:ext>
              </a:extLst>
            </p:cNvPr>
            <p:cNvSpPr txBox="1"/>
            <p:nvPr/>
          </p:nvSpPr>
          <p:spPr>
            <a:xfrm>
              <a:off x="28669865" y="25704497"/>
              <a:ext cx="6074171" cy="424732"/>
            </a:xfrm>
            <a:prstGeom prst="rect">
              <a:avLst/>
            </a:prstGeom>
            <a:noFill/>
          </p:spPr>
          <p:txBody>
            <a:bodyPr wrap="square" rtlCol="0">
              <a:spAutoFit/>
            </a:bodyPr>
            <a:lstStyle/>
            <a:p>
              <a:r>
                <a:rPr lang="en-US" b="1" dirty="0"/>
                <a:t>Figure 5: </a:t>
              </a:r>
              <a:r>
                <a:rPr lang="en-US" dirty="0"/>
                <a:t>x-dependent exponential attenuation MMS</a:t>
              </a:r>
            </a:p>
          </p:txBody>
        </p:sp>
      </p:grpSp>
    </p:spTree>
    <p:extLst>
      <p:ext uri="{BB962C8B-B14F-4D97-AF65-F5344CB8AC3E}">
        <p14:creationId xmlns:p14="http://schemas.microsoft.com/office/powerpoint/2010/main" val="85613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058A-69C7-07DE-0572-5879D6777AA7}"/>
            </a:ext>
          </a:extLst>
        </p:cNvPr>
        <p:cNvGrpSpPr/>
        <p:nvPr/>
      </p:nvGrpSpPr>
      <p:grpSpPr>
        <a:xfrm>
          <a:off x="0" y="0"/>
          <a:ext cx="0" cy="0"/>
          <a:chOff x="0" y="0"/>
          <a:chExt cx="0" cy="0"/>
        </a:xfrm>
      </p:grpSpPr>
      <p:pic>
        <p:nvPicPr>
          <p:cNvPr id="5" name="Picture 4" descr="A mathematical equation with a plus and a plus&#10;&#10;AI-generated content may be incorrect.">
            <a:extLst>
              <a:ext uri="{FF2B5EF4-FFF2-40B4-BE49-F238E27FC236}">
                <a16:creationId xmlns:a16="http://schemas.microsoft.com/office/drawing/2014/main" id="{83BACB23-0F41-5C20-A273-048A45DBF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4156" y="5508658"/>
            <a:ext cx="9914059" cy="1954620"/>
          </a:xfrm>
          <a:prstGeom prst="rect">
            <a:avLst/>
          </a:prstGeom>
        </p:spPr>
      </p:pic>
      <p:pic>
        <p:nvPicPr>
          <p:cNvPr id="6" name="Picture 5">
            <a:extLst>
              <a:ext uri="{FF2B5EF4-FFF2-40B4-BE49-F238E27FC236}">
                <a16:creationId xmlns:a16="http://schemas.microsoft.com/office/drawing/2014/main" id="{64A5726F-30B3-2826-4190-BBAD9CAD3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4156" y="8395764"/>
            <a:ext cx="6292335" cy="2791794"/>
          </a:xfrm>
          <a:prstGeom prst="rect">
            <a:avLst/>
          </a:prstGeom>
        </p:spPr>
      </p:pic>
    </p:spTree>
    <p:extLst>
      <p:ext uri="{BB962C8B-B14F-4D97-AF65-F5344CB8AC3E}">
        <p14:creationId xmlns:p14="http://schemas.microsoft.com/office/powerpoint/2010/main" val="89038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50302-C8C8-0218-C27A-87C98C6575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1EF707-8E51-A60C-56D7-89452A226C3C}"/>
              </a:ext>
            </a:extLst>
          </p:cNvPr>
          <p:cNvSpPr txBox="1"/>
          <p:nvPr/>
        </p:nvSpPr>
        <p:spPr>
          <a:xfrm>
            <a:off x="5678905" y="4427621"/>
            <a:ext cx="14293516" cy="1446550"/>
          </a:xfrm>
          <a:prstGeom prst="rect">
            <a:avLst/>
          </a:prstGeom>
          <a:noFill/>
        </p:spPr>
        <p:txBody>
          <a:bodyPr wrap="square" rtlCol="0">
            <a:spAutoFit/>
          </a:bodyPr>
          <a:lstStyle/>
          <a:p>
            <a:r>
              <a:rPr lang="en-US" sz="4400" dirty="0"/>
              <a:t>5 test </a:t>
            </a:r>
            <a:r>
              <a:rPr lang="en-US" sz="4400" dirty="0" err="1"/>
              <a:t>problemini</a:t>
            </a:r>
            <a:r>
              <a:rPr lang="en-US" sz="4400" dirty="0"/>
              <a:t> de </a:t>
            </a:r>
            <a:r>
              <a:rPr lang="en-US" sz="4400" dirty="0" err="1"/>
              <a:t>koymayi</a:t>
            </a:r>
            <a:r>
              <a:rPr lang="en-US" sz="4400" dirty="0"/>
              <a:t> </a:t>
            </a:r>
            <a:r>
              <a:rPr lang="en-US" sz="4400" dirty="0" err="1"/>
              <a:t>unutma</a:t>
            </a:r>
            <a:r>
              <a:rPr lang="en-US" sz="4400" dirty="0"/>
              <a:t> </a:t>
            </a:r>
            <a:r>
              <a:rPr lang="en-US" sz="4400" dirty="0" err="1"/>
              <a:t>bfpye</a:t>
            </a:r>
            <a:endParaRPr lang="en-US" sz="4400" dirty="0"/>
          </a:p>
          <a:p>
            <a:endParaRPr lang="en-US" sz="4400" dirty="0"/>
          </a:p>
        </p:txBody>
      </p:sp>
    </p:spTree>
    <p:extLst>
      <p:ext uri="{BB962C8B-B14F-4D97-AF65-F5344CB8AC3E}">
        <p14:creationId xmlns:p14="http://schemas.microsoft.com/office/powerpoint/2010/main" val="1252434296"/>
      </p:ext>
    </p:extLst>
  </p:cSld>
  <p:clrMapOvr>
    <a:masterClrMapping/>
  </p:clrMapOvr>
</p:sld>
</file>

<file path=ppt/theme/theme1.xml><?xml version="1.0" encoding="utf-8"?>
<a:theme xmlns:a="http://schemas.openxmlformats.org/drawingml/2006/main" name="ThemeOSU">
  <a:themeElements>
    <a:clrScheme name="OSU">
      <a:dk1>
        <a:sysClr val="windowText" lastClr="000000"/>
      </a:dk1>
      <a:lt1>
        <a:sysClr val="window" lastClr="FFFFFF"/>
      </a:lt1>
      <a:dk2>
        <a:srgbClr val="44546A"/>
      </a:dk2>
      <a:lt2>
        <a:srgbClr val="E7E6E6"/>
      </a:lt2>
      <a:accent1>
        <a:srgbClr val="C55A11"/>
      </a:accent1>
      <a:accent2>
        <a:srgbClr val="C55A11"/>
      </a:accent2>
      <a:accent3>
        <a:srgbClr val="757070"/>
      </a:accent3>
      <a:accent4>
        <a:srgbClr val="C55A11"/>
      </a:accent4>
      <a:accent5>
        <a:srgbClr val="C55A11"/>
      </a:accent5>
      <a:accent6>
        <a:srgbClr val="C55A1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OSU" id="{F9DA13CC-CD0A-41E8-ADA0-AC9829AEFD4E}" vid="{25C02D74-65B8-4B19-9277-27B206E478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ThemeOSU</Template>
  <TotalTime>1804</TotalTime>
  <Words>1435</Words>
  <Application>Microsoft Macintosh PowerPoint</Application>
  <PresentationFormat>Custom</PresentationFormat>
  <Paragraphs>230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 Math</vt:lpstr>
      <vt:lpstr>ThemeOSU</vt:lpstr>
      <vt:lpstr>Insert Title</vt:lpstr>
      <vt:lpstr>MFEM-based Finite Element Solver  for the Boltzmann Equation with Energy-Spatial Coupling Using the Continuous Slowing Down Approximation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Title is Descriptive, Fun, and, Perhaps, a Little Long-Winded</dc:title>
  <dc:subject/>
  <dc:creator>Melek</dc:creator>
  <cp:keywords/>
  <dc:description/>
  <cp:lastModifiedBy>Derman, Melek</cp:lastModifiedBy>
  <cp:revision>38</cp:revision>
  <dcterms:created xsi:type="dcterms:W3CDTF">2021-08-13T20:41:14Z</dcterms:created>
  <dcterms:modified xsi:type="dcterms:W3CDTF">2025-11-28T08:52:18Z</dcterms:modified>
  <cp:category/>
</cp:coreProperties>
</file>