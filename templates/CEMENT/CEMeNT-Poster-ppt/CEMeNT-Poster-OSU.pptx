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1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 userDrawn="1">
          <p15:clr>
            <a:srgbClr val="A4A3A4"/>
          </p15:clr>
        </p15:guide>
        <p15:guide id="2" pos="13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4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5A6833-B0A2-4DAF-B5A0-A9F6E0EC5A80}" v="15" dt="2021-08-17T15:27:57.1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25" d="100"/>
          <a:sy n="25" d="100"/>
        </p:scale>
        <p:origin x="2488" y="248"/>
      </p:cViewPr>
      <p:guideLst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310C7-E4FE-4348-8AF6-EBC89AEBEC9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AC0664-05C6-40EC-9276-76E9EE442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905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14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778A2-FB36-46F2-B168-A33C39653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0" y="5387342"/>
            <a:ext cx="32918400" cy="11460480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C9E545-A6BD-4536-BBFE-65E9FE740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BCF6-BC01-487F-A7EE-68521A99F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6740BE-BC0E-4FB5-894C-C4E0324AFEAE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CCDEB-F58D-49B6-BB82-2E0DD4D0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8196CB-6216-429D-BB7C-14107F75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90D85-55E9-4DA2-86DD-DDBA5459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9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A4FBF-BCAE-478D-967E-F0E642AD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B7D56-9E7F-47D3-905A-E5B7ADF18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304E3-9008-4CC5-AA2C-72AB1AF8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F3D14-0422-4F76-81E5-1056C1C3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19AA8-179D-4C2E-B5EC-50A1FA49B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19A1-7C50-429F-9DB9-DD723957C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4660" y="8206745"/>
            <a:ext cx="37856160" cy="13693138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4648F-2122-47EF-BAF2-18AAFCE1A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94660" y="22029425"/>
            <a:ext cx="37856160" cy="7200898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24F63-4EE2-4463-83F3-57FD469B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4A98E-AD8D-4257-AC1B-FCD22E4B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D028F-DF11-4FD0-9D50-FE5B7192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68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E7765-6FFE-4810-AB4E-56B432997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7BCC-8A67-456A-A373-331C4562C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FC02EC-067F-4E0A-928B-9A97E6353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E08C6-25E0-4D94-9F13-FFE7F0AF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00C59-0DA3-4DAB-AF66-434A040B2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6A51B-E7C4-4464-AD3B-4467D35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8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72EF0-A0E3-4DA8-B99B-151039E2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37" y="1752603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2D56-21E2-4D55-9E06-8011DC52A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23240" y="8069582"/>
            <a:ext cx="18568033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12F9D-CD89-463A-A831-7B4ACDBC79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23240" y="12024360"/>
            <a:ext cx="18568033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7E1674-EFAE-4EE2-AE62-FD306E950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219920" y="8069582"/>
            <a:ext cx="18659477" cy="3954778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7763B5-301C-4185-9808-0D3D399204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2219920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86C884-AA5B-4D09-BF13-D67E2E23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C1ECF-0B12-4CEF-B7B3-EB2DE7AC4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E35BE-B3A7-4B62-B01D-EDF0824B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023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E6C-1DB2-4EC6-B886-7FF95BEF7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5B8889-AB34-4809-BAD5-3BDDA8722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4E717-9C75-4855-AA63-81C4E0456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2D2D69-F56E-4A99-B5D4-EDCEBF5D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5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F30FB4-1E7F-4A12-8327-A1F215D43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C6DE9-8C65-4C01-87C3-2D674D88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D3B12-D3CB-49FF-B01E-25DD57A8C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80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FD34-D127-4FBA-99E7-7D8A6CB57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02C30-9A90-4C42-BFA5-C795CFFC9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4C5159-CCF0-4AB8-A171-782F174CA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0FD29-2BF7-4822-AD88-2F7AD5E7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16F91-C1A6-4CA3-94E4-CD673709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2364-CFF5-4C0D-A361-2D097C22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6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EEF29-BCF2-4D9F-B276-A9C7E9270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3240" y="2194560"/>
            <a:ext cx="14156053" cy="768096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1E121F-E447-4685-8029-722CCDD4E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8659477" y="4739642"/>
            <a:ext cx="22219920" cy="23393400"/>
          </a:xfrm>
        </p:spPr>
        <p:txBody>
          <a:bodyPr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3ACDE-BAAD-4993-B2AC-43ADDDDA1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23240" y="9875520"/>
            <a:ext cx="14156053" cy="18295622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4A32BD-B3A2-4526-B382-666392871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3AAEAF-8BEB-47C7-9A95-5578BE9E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9A4B30-C929-4D81-B390-937A61D3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0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FE2FE-462A-4664-942F-E6BB6017D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F2713-8500-433C-8915-8B07010EF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DE38C-9AC1-496C-9FDE-1F523EE1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3A817-D915-444F-9629-66EBAD8AC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A91EF-13BD-4AC8-951B-04535D8A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29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2B605-A1EF-45AE-AD72-7EA99B2100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1409640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F9624-D514-4277-9BD6-111B4D900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017520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B8BE9-6770-4DF2-95BE-AA3A4D172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FF98-4195-4998-9AE6-447375B7B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4626C-CD92-4895-BA1A-74879BB5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066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92AB29-4763-446A-AA03-D1241954F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0" y="1752603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B5C-27DD-4D40-B0F1-A64C6F1D0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470E9-06F8-42FE-8EF6-F52173CE1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1C5A4-86DB-46C3-BC64-928720E73B88}" type="datetimeFigureOut">
              <a:rPr lang="en-US" smtClean="0"/>
              <a:t>4/9/26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5AABF-4A2F-47B4-97B4-3F1286B9DE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38960" y="30510482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B8A2D-A9FC-47F9-9511-F55D6BE921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998160" y="30510482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E2EC83-4BD1-4ADC-8C81-839E559822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432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2" r:id="rId1"/>
    <p:sldLayoutId id="2147484183" r:id="rId2"/>
    <p:sldLayoutId id="2147484184" r:id="rId3"/>
    <p:sldLayoutId id="2147484185" r:id="rId4"/>
    <p:sldLayoutId id="2147484186" r:id="rId5"/>
    <p:sldLayoutId id="2147484187" r:id="rId6"/>
    <p:sldLayoutId id="2147484188" r:id="rId7"/>
    <p:sldLayoutId id="2147484189" r:id="rId8"/>
    <p:sldLayoutId id="2147484190" r:id="rId9"/>
    <p:sldLayoutId id="2147484191" r:id="rId10"/>
    <p:sldLayoutId id="2147484192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D3F9D-E2C5-4A09-83F7-1C1793B17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1540" y="1617755"/>
            <a:ext cx="27563653" cy="2637906"/>
          </a:xfrm>
        </p:spPr>
        <p:txBody>
          <a:bodyPr>
            <a:noAutofit/>
          </a:bodyPr>
          <a:lstStyle/>
          <a:p>
            <a:r>
              <a:rPr lang="en-US" sz="7200" b="1" dirty="0">
                <a:latin typeface="Arial" panose="020B0604020202020204" pitchFamily="34" charset="0"/>
                <a:cs typeface="Arial" panose="020B0604020202020204" pitchFamily="34" charset="0"/>
              </a:rPr>
              <a:t>Insert Title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885885-A5AA-4C7E-8ABC-959C74E24516}"/>
              </a:ext>
            </a:extLst>
          </p:cNvPr>
          <p:cNvSpPr/>
          <p:nvPr/>
        </p:nvSpPr>
        <p:spPr>
          <a:xfrm>
            <a:off x="1097280" y="6938010"/>
            <a:ext cx="41696640" cy="124777"/>
          </a:xfrm>
          <a:prstGeom prst="rect">
            <a:avLst/>
          </a:prstGeom>
          <a:solidFill>
            <a:srgbClr val="F1491C"/>
          </a:solidFill>
          <a:ln>
            <a:solidFill>
              <a:srgbClr val="F149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92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CB99-646A-4342-A3F2-582EDF205D39}"/>
              </a:ext>
            </a:extLst>
          </p:cNvPr>
          <p:cNvGrpSpPr/>
          <p:nvPr/>
        </p:nvGrpSpPr>
        <p:grpSpPr>
          <a:xfrm>
            <a:off x="1083022" y="18409074"/>
            <a:ext cx="12202672" cy="2227477"/>
            <a:chOff x="1490526" y="8207582"/>
            <a:chExt cx="8765863" cy="2188609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2D8321-9E24-4A73-8A49-D5500F530F2B}"/>
                </a:ext>
              </a:extLst>
            </p:cNvPr>
            <p:cNvSpPr txBox="1"/>
            <p:nvPr/>
          </p:nvSpPr>
          <p:spPr>
            <a:xfrm>
              <a:off x="2842712" y="8207582"/>
              <a:ext cx="5792789" cy="9979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Methods</a:t>
              </a:r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A8AEAA0-345C-44E7-BB2C-CFA05C5A8F3C}"/>
                </a:ext>
              </a:extLst>
            </p:cNvPr>
            <p:cNvCxnSpPr>
              <a:cxnSpLocks/>
            </p:cNvCxnSpPr>
            <p:nvPr/>
          </p:nvCxnSpPr>
          <p:spPr>
            <a:xfrm>
              <a:off x="1490526" y="9151816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0FBEE1-2E64-40A5-B49D-2413BF103034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1578121" y="9337770"/>
              <a:ext cx="8678268" cy="10584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3200" dirty="0"/>
            </a:p>
            <a:p>
              <a:endParaRPr lang="en-US" sz="3200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CD0C243-EDC8-406F-A452-6825A8CAC522}"/>
              </a:ext>
            </a:extLst>
          </p:cNvPr>
          <p:cNvGrpSpPr>
            <a:grpSpLocks noChangeAspect="1"/>
          </p:cNvGrpSpPr>
          <p:nvPr/>
        </p:nvGrpSpPr>
        <p:grpSpPr>
          <a:xfrm>
            <a:off x="30600584" y="20028459"/>
            <a:ext cx="12193336" cy="5111162"/>
            <a:chOff x="1134141" y="9324018"/>
            <a:chExt cx="8958894" cy="419810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535570-B851-46F2-B507-1F30EACAFCE2}"/>
                </a:ext>
              </a:extLst>
            </p:cNvPr>
            <p:cNvSpPr txBox="1"/>
            <p:nvPr/>
          </p:nvSpPr>
          <p:spPr>
            <a:xfrm>
              <a:off x="3576171" y="9324018"/>
              <a:ext cx="4348180" cy="8300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References</a:t>
              </a:r>
              <a:endParaRPr lang="en-US" sz="5400" b="1" dirty="0">
                <a:solidFill>
                  <a:srgbClr val="F1491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565D8BC-4BCC-4BF7-A8C9-AB67C67A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AA6B25B-64F2-44DC-AE9E-6FFA9D1B82DB}"/>
                </a:ext>
              </a:extLst>
            </p:cNvPr>
            <p:cNvSpPr txBox="1"/>
            <p:nvPr/>
          </p:nvSpPr>
          <p:spPr>
            <a:xfrm>
              <a:off x="1134141" y="10614975"/>
              <a:ext cx="8918849" cy="29071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91540" indent="-891540">
                <a:buFont typeface="+mj-lt"/>
                <a:buAutoNum type="arabicPeriod"/>
              </a:pP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Morgan, J. P., et al.(2024). Monte Carlo / Dynamic Code (MC/DC): An accelerated Python package for fully transient neutron transport and rapid methods development. Journal of Open Source Software, 9(96), 6415. https://</a:t>
              </a:r>
              <a:r>
                <a:rPr lang="en-US" sz="3200" dirty="0" err="1">
                  <a:latin typeface="Arial" panose="020B0604020202020204" pitchFamily="34" charset="0"/>
                  <a:cs typeface="Arial" panose="020B0604020202020204" pitchFamily="34" charset="0"/>
                </a:rPr>
                <a:t>doi.org</a:t>
              </a: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/10.21105/joss.06415</a:t>
              </a: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891540" indent="-891540">
                <a:buFont typeface="+mj-lt"/>
                <a:buAutoNum type="arabicPeriod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6132BB4-8C26-4B38-965C-88C4895BEB79}"/>
              </a:ext>
            </a:extLst>
          </p:cNvPr>
          <p:cNvGrpSpPr/>
          <p:nvPr/>
        </p:nvGrpSpPr>
        <p:grpSpPr>
          <a:xfrm>
            <a:off x="30586680" y="26383462"/>
            <a:ext cx="12207240" cy="3943917"/>
            <a:chOff x="1407487" y="9277629"/>
            <a:chExt cx="8685548" cy="328659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34CE6DD-A930-4025-A395-62CA373118DA}"/>
                </a:ext>
              </a:extLst>
            </p:cNvPr>
            <p:cNvSpPr txBox="1"/>
            <p:nvPr/>
          </p:nvSpPr>
          <p:spPr>
            <a:xfrm>
              <a:off x="1548197" y="9277629"/>
              <a:ext cx="8544838" cy="846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Acknowledgements</a:t>
              </a:r>
              <a:endParaRPr lang="en-US" sz="5400" b="1" dirty="0">
                <a:solidFill>
                  <a:srgbClr val="F1491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9AB3578-F2D9-474D-8F1F-E84F92563AFC}"/>
                </a:ext>
              </a:extLst>
            </p:cNvPr>
            <p:cNvCxnSpPr>
              <a:cxnSpLocks/>
            </p:cNvCxnSpPr>
            <p:nvPr/>
          </p:nvCxnSpPr>
          <p:spPr>
            <a:xfrm>
              <a:off x="1407487" y="10390107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B64D33-970C-496D-B030-FBCBFB65CC98}"/>
                </a:ext>
              </a:extLst>
            </p:cNvPr>
            <p:cNvSpPr txBox="1"/>
            <p:nvPr/>
          </p:nvSpPr>
          <p:spPr>
            <a:xfrm>
              <a:off x="1407487" y="10614975"/>
              <a:ext cx="8685548" cy="1949251"/>
            </a:xfrm>
            <a:prstGeom prst="rect">
              <a:avLst/>
            </a:prstGeom>
            <a:noFill/>
          </p:spPr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This work was supported by the Center for Advancing the Radiation Resilience of Electronics (CARRE),  a PSAAP-IV project funded by the Department of Energy, grant number:  </a:t>
              </a:r>
              <a:b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sz="3200" dirty="0">
                  <a:latin typeface="Arial" panose="020B0604020202020204" pitchFamily="34" charset="0"/>
                  <a:cs typeface="Arial" panose="020B0604020202020204" pitchFamily="34" charset="0"/>
                </a:rPr>
                <a:t>DE-NA0004268.</a:t>
              </a:r>
            </a:p>
          </p:txBody>
        </p:sp>
      </p:grpSp>
      <p:sp>
        <p:nvSpPr>
          <p:cNvPr id="47" name="Title 1">
            <a:extLst>
              <a:ext uri="{FF2B5EF4-FFF2-40B4-BE49-F238E27FC236}">
                <a16:creationId xmlns:a16="http://schemas.microsoft.com/office/drawing/2014/main" id="{1E49CEEB-6B76-424D-9958-0E0D524A382F}"/>
              </a:ext>
            </a:extLst>
          </p:cNvPr>
          <p:cNvSpPr txBox="1">
            <a:spLocks/>
          </p:cNvSpPr>
          <p:nvPr/>
        </p:nvSpPr>
        <p:spPr>
          <a:xfrm>
            <a:off x="3474720" y="4329940"/>
            <a:ext cx="37307520" cy="2532775"/>
          </a:xfrm>
          <a:prstGeom prst="rect">
            <a:avLst/>
          </a:prstGeom>
        </p:spPr>
        <p:txBody>
          <a:bodyPr vert="horz" lIns="109728" tIns="54864" rIns="109728" bIns="54864" rtlCol="0" anchor="b">
            <a:noAutofit/>
          </a:bodyPr>
          <a:lstStyle>
            <a:lvl1pPr algn="ctr" defTabSz="27432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528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Author 2 </a:t>
            </a:r>
            <a:r>
              <a:rPr lang="en-US" sz="528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n-US" sz="5280" b="1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 for Exascale Monte-Carlo Neutron Transport (CEMeNT), </a:t>
            </a:r>
            <a:r>
              <a:rPr lang="en-US" sz="4320" b="1" baseline="300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4320" b="1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Oregon State University</a:t>
            </a:r>
          </a:p>
          <a:p>
            <a:endParaRPr lang="en-US" sz="528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D9D25AD3-DB34-489D-B43F-6C032CA92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24263" y="2041036"/>
            <a:ext cx="9178990" cy="2939154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6E1600F8-E706-02CD-B166-8ACEEB8ABB2D}"/>
              </a:ext>
            </a:extLst>
          </p:cNvPr>
          <p:cNvGrpSpPr/>
          <p:nvPr/>
        </p:nvGrpSpPr>
        <p:grpSpPr>
          <a:xfrm>
            <a:off x="1079492" y="8118409"/>
            <a:ext cx="12206202" cy="2593590"/>
            <a:chOff x="2236521" y="4851314"/>
            <a:chExt cx="8694713" cy="2161325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8915B93-4EA2-7D08-8234-54C7142A70BA}"/>
                </a:ext>
              </a:extLst>
            </p:cNvPr>
            <p:cNvSpPr txBox="1"/>
            <p:nvPr/>
          </p:nvSpPr>
          <p:spPr>
            <a:xfrm>
              <a:off x="2245686" y="4851314"/>
              <a:ext cx="8685548" cy="923330"/>
            </a:xfrm>
            <a:prstGeom prst="rect">
              <a:avLst/>
            </a:prstGeom>
            <a:solidFill>
              <a:srgbClr val="F1491C"/>
            </a:solidFill>
            <a:ln w="152400">
              <a:solidFill>
                <a:srgbClr val="F1491C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Objective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218A0215-7760-A6F4-CB38-E09CBD593E5C}"/>
                </a:ext>
              </a:extLst>
            </p:cNvPr>
            <p:cNvSpPr txBox="1"/>
            <p:nvPr/>
          </p:nvSpPr>
          <p:spPr>
            <a:xfrm>
              <a:off x="2236521" y="6243197"/>
              <a:ext cx="8685548" cy="769442"/>
            </a:xfrm>
            <a:prstGeom prst="rect">
              <a:avLst/>
            </a:prstGeom>
            <a:solidFill>
              <a:schemeClr val="bg2"/>
            </a:solidFill>
            <a:ln w="152400">
              <a:solidFill>
                <a:srgbClr val="F1491C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da-DK" sz="3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 aims to …</a:t>
              </a:r>
              <a:endParaRPr lang="en-US" sz="3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6F9ED1E-D62E-7204-1667-265329831DDE}"/>
              </a:ext>
            </a:extLst>
          </p:cNvPr>
          <p:cNvGrpSpPr/>
          <p:nvPr/>
        </p:nvGrpSpPr>
        <p:grpSpPr>
          <a:xfrm>
            <a:off x="17138615" y="7582669"/>
            <a:ext cx="8915888" cy="1161086"/>
            <a:chOff x="1819746" y="9078105"/>
            <a:chExt cx="8685548" cy="91907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34D8CF2-1F14-42EA-F800-297A99CDE3C2}"/>
                </a:ext>
              </a:extLst>
            </p:cNvPr>
            <p:cNvSpPr txBox="1"/>
            <p:nvPr/>
          </p:nvSpPr>
          <p:spPr>
            <a:xfrm>
              <a:off x="4671346" y="9078105"/>
              <a:ext cx="3657600" cy="8770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Results</a:t>
              </a:r>
              <a:endParaRPr lang="en-US" sz="6000" b="1" dirty="0">
                <a:solidFill>
                  <a:srgbClr val="F1491C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DDD6CE3B-425B-44E8-186E-67EDDAE590EE}"/>
                </a:ext>
              </a:extLst>
            </p:cNvPr>
            <p:cNvCxnSpPr>
              <a:cxnSpLocks/>
            </p:cNvCxnSpPr>
            <p:nvPr/>
          </p:nvCxnSpPr>
          <p:spPr>
            <a:xfrm>
              <a:off x="1819746" y="9997182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6CA2B9C-1B1A-F1DD-ABAA-0BE36ABE599F}"/>
              </a:ext>
            </a:extLst>
          </p:cNvPr>
          <p:cNvGrpSpPr/>
          <p:nvPr/>
        </p:nvGrpSpPr>
        <p:grpSpPr>
          <a:xfrm>
            <a:off x="30600584" y="8118409"/>
            <a:ext cx="12207240" cy="2578777"/>
            <a:chOff x="2245686" y="4851314"/>
            <a:chExt cx="9804141" cy="2188660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FF4FC04-E7D3-EE1A-41F1-2824692ACE0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2245686" y="4851314"/>
              <a:ext cx="9804141" cy="1042244"/>
            </a:xfrm>
            <a:prstGeom prst="rect">
              <a:avLst/>
            </a:prstGeom>
            <a:solidFill>
              <a:srgbClr val="F1491C"/>
            </a:solidFill>
            <a:ln w="152400">
              <a:solidFill>
                <a:srgbClr val="F1491C"/>
              </a:solidFill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66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Conclusions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0C205D3-7AEF-7137-3683-AB7BF0DAB6C9}"/>
                </a:ext>
              </a:extLst>
            </p:cNvPr>
            <p:cNvSpPr txBox="1">
              <a:spLocks/>
            </p:cNvSpPr>
            <p:nvPr/>
          </p:nvSpPr>
          <p:spPr>
            <a:xfrm>
              <a:off x="2245686" y="6256325"/>
              <a:ext cx="9804141" cy="783649"/>
            </a:xfrm>
            <a:prstGeom prst="rect">
              <a:avLst/>
            </a:prstGeom>
            <a:solidFill>
              <a:schemeClr val="bg2"/>
            </a:solidFill>
            <a:ln w="152400">
              <a:solidFill>
                <a:srgbClr val="F1491C"/>
              </a:solidFill>
            </a:ln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wrap="square" lIns="274320" tIns="182880" rIns="274320" bIns="182880" rtlCol="0">
              <a:spAutoFit/>
            </a:bodyPr>
            <a:lstStyle/>
            <a:p>
              <a:pPr algn="just"/>
              <a:r>
                <a:rPr lang="en-US" sz="3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This work…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4B3ED8-6040-619B-E7DE-FBFC28CEAC71}"/>
              </a:ext>
            </a:extLst>
          </p:cNvPr>
          <p:cNvGrpSpPr>
            <a:grpSpLocks noChangeAspect="1"/>
          </p:cNvGrpSpPr>
          <p:nvPr/>
        </p:nvGrpSpPr>
        <p:grpSpPr>
          <a:xfrm>
            <a:off x="30586680" y="14572559"/>
            <a:ext cx="12207240" cy="2233966"/>
            <a:chOff x="1667000" y="6817469"/>
            <a:chExt cx="8747843" cy="83651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520C7C8-0B0B-3023-777D-9AF865581963}"/>
                </a:ext>
              </a:extLst>
            </p:cNvPr>
            <p:cNvSpPr txBox="1"/>
            <p:nvPr/>
          </p:nvSpPr>
          <p:spPr>
            <a:xfrm>
              <a:off x="2865789" y="6817469"/>
              <a:ext cx="6412561" cy="4268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0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Future Work</a:t>
              </a:r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8D1801-8A55-D77F-672D-49FF5BCF5629}"/>
                </a:ext>
              </a:extLst>
            </p:cNvPr>
            <p:cNvCxnSpPr>
              <a:cxnSpLocks/>
            </p:cNvCxnSpPr>
            <p:nvPr/>
          </p:nvCxnSpPr>
          <p:spPr>
            <a:xfrm>
              <a:off x="1667000" y="7326810"/>
              <a:ext cx="8685548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4EFC24E2-34C5-5C40-D208-CDE2064E07EF}"/>
                </a:ext>
              </a:extLst>
            </p:cNvPr>
            <p:cNvSpPr txBox="1"/>
            <p:nvPr/>
          </p:nvSpPr>
          <p:spPr>
            <a:xfrm>
              <a:off x="1729295" y="7435013"/>
              <a:ext cx="8685548" cy="218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Clr>
                  <a:schemeClr val="accent1"/>
                </a:buClr>
                <a:buFont typeface="Arial" panose="020B0604020202020204" pitchFamily="34" charset="0"/>
                <a:buChar char="•"/>
              </a:pPr>
              <a:endParaRPr lang="en-US" sz="3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610AA049-4B9E-78B7-1164-06843A4893DA}"/>
              </a:ext>
            </a:extLst>
          </p:cNvPr>
          <p:cNvGrpSpPr>
            <a:grpSpLocks noChangeAspect="1"/>
          </p:cNvGrpSpPr>
          <p:nvPr/>
        </p:nvGrpSpPr>
        <p:grpSpPr>
          <a:xfrm>
            <a:off x="1077652" y="13537012"/>
            <a:ext cx="12207239" cy="2253137"/>
            <a:chOff x="962109" y="13107986"/>
            <a:chExt cx="10019873" cy="2265891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F72EC58-DDF5-1707-78C4-F7B5684C65AD}"/>
                </a:ext>
              </a:extLst>
            </p:cNvPr>
            <p:cNvGrpSpPr/>
            <p:nvPr/>
          </p:nvGrpSpPr>
          <p:grpSpPr>
            <a:xfrm>
              <a:off x="1018508" y="13107986"/>
              <a:ext cx="9963474" cy="2265891"/>
              <a:chOff x="1539929" y="7624348"/>
              <a:chExt cx="8727630" cy="2226353"/>
            </a:xfrm>
            <a:noFill/>
          </p:grpSpPr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D52163D4-E1FF-D05C-FADB-C33631A2B1B4}"/>
                  </a:ext>
                </a:extLst>
              </p:cNvPr>
              <p:cNvSpPr txBox="1"/>
              <p:nvPr/>
            </p:nvSpPr>
            <p:spPr>
              <a:xfrm>
                <a:off x="2936905" y="7624348"/>
                <a:ext cx="5792789" cy="1270106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ctr"/>
                <a:r>
                  <a:rPr lang="en-US" sz="6000" b="1" dirty="0">
                    <a:solidFill>
                      <a:srgbClr val="F1491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Introduction</a:t>
                </a:r>
                <a:endParaRPr lang="en-US" sz="5400" b="1" dirty="0">
                  <a:solidFill>
                    <a:srgbClr val="F1491C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B8464BDC-0A6B-914C-22D0-DBACF0085020}"/>
                  </a:ext>
                </a:extLst>
              </p:cNvPr>
              <p:cNvSpPr txBox="1">
                <a:spLocks noChangeAspect="1"/>
              </p:cNvSpPr>
              <p:nvPr/>
            </p:nvSpPr>
            <p:spPr>
              <a:xfrm>
                <a:off x="1539929" y="8999171"/>
                <a:ext cx="8727630" cy="851530"/>
              </a:xfrm>
              <a:prstGeom prst="rect">
                <a:avLst/>
              </a:prstGeom>
              <a:grpFill/>
              <a:ln w="63500">
                <a:noFill/>
              </a:ln>
            </p:spPr>
            <p:txBody>
              <a:bodyPr wrap="square" lIns="274320" tIns="182880" rIns="274320" bIns="182880" rtlCol="0">
                <a:spAutoFit/>
              </a:bodyPr>
              <a:lstStyle/>
              <a:p>
                <a:pPr algn="just">
                  <a:buClr>
                    <a:schemeClr val="accent1"/>
                  </a:buClr>
                </a:pPr>
                <a:endParaRPr lang="en-US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0B05353-10F2-C79D-C7CE-C72CBBE53D4A}"/>
                </a:ext>
              </a:extLst>
            </p:cNvPr>
            <p:cNvCxnSpPr>
              <a:cxnSpLocks/>
            </p:cNvCxnSpPr>
            <p:nvPr/>
          </p:nvCxnSpPr>
          <p:spPr>
            <a:xfrm>
              <a:off x="962109" y="14308314"/>
              <a:ext cx="9656064" cy="0"/>
            </a:xfrm>
            <a:prstGeom prst="line">
              <a:avLst/>
            </a:prstGeom>
            <a:ln w="88900">
              <a:gradFill flip="none" rotWithShape="1">
                <a:gsLst>
                  <a:gs pos="12000">
                    <a:schemeClr val="accent3"/>
                  </a:gs>
                  <a:gs pos="100000">
                    <a:schemeClr val="bg1"/>
                  </a:gs>
                </a:gsLst>
                <a:path path="circle">
                  <a:fillToRect l="50000" t="50000" r="50000" b="50000"/>
                </a:path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8" name="Picture 237">
            <a:extLst>
              <a:ext uri="{FF2B5EF4-FFF2-40B4-BE49-F238E27FC236}">
                <a16:creationId xmlns:a16="http://schemas.microsoft.com/office/drawing/2014/main" id="{68472065-1746-7A7B-9D6C-D258BE3A3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4034" y="9505843"/>
            <a:ext cx="6257691" cy="6257691"/>
          </a:xfrm>
          <a:prstGeom prst="rect">
            <a:avLst/>
          </a:prstGeom>
        </p:spPr>
      </p:pic>
      <p:pic>
        <p:nvPicPr>
          <p:cNvPr id="239" name="Picture 238">
            <a:extLst>
              <a:ext uri="{FF2B5EF4-FFF2-40B4-BE49-F238E27FC236}">
                <a16:creationId xmlns:a16="http://schemas.microsoft.com/office/drawing/2014/main" id="{786E945B-9028-F15D-A9E8-1198C1E008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69475" y="9840042"/>
            <a:ext cx="4876800" cy="4876800"/>
          </a:xfrm>
          <a:prstGeom prst="rect">
            <a:avLst/>
          </a:prstGeom>
        </p:spPr>
      </p:pic>
      <p:pic>
        <p:nvPicPr>
          <p:cNvPr id="241" name="Picture 240">
            <a:extLst>
              <a:ext uri="{FF2B5EF4-FFF2-40B4-BE49-F238E27FC236}">
                <a16:creationId xmlns:a16="http://schemas.microsoft.com/office/drawing/2014/main" id="{D105F621-C872-0DDD-BD19-EB773DEEB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88216" y="15590866"/>
            <a:ext cx="6009325" cy="6009325"/>
          </a:xfrm>
          <a:prstGeom prst="rect">
            <a:avLst/>
          </a:prstGeom>
        </p:spPr>
      </p:pic>
      <p:pic>
        <p:nvPicPr>
          <p:cNvPr id="242" name="Picture 241">
            <a:extLst>
              <a:ext uri="{FF2B5EF4-FFF2-40B4-BE49-F238E27FC236}">
                <a16:creationId xmlns:a16="http://schemas.microsoft.com/office/drawing/2014/main" id="{E9FD2219-CBA7-61E2-51A1-E0BA27BE39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8480" y="15932788"/>
            <a:ext cx="5562871" cy="5562871"/>
          </a:xfrm>
          <a:prstGeom prst="rect">
            <a:avLst/>
          </a:prstGeom>
        </p:spPr>
      </p:pic>
      <p:pic>
        <p:nvPicPr>
          <p:cNvPr id="243" name="Picture 242">
            <a:extLst>
              <a:ext uri="{FF2B5EF4-FFF2-40B4-BE49-F238E27FC236}">
                <a16:creationId xmlns:a16="http://schemas.microsoft.com/office/drawing/2014/main" id="{30027D65-5A18-12AE-B599-F1EC6E4A0C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97541" y="21984067"/>
            <a:ext cx="6210037" cy="6210037"/>
          </a:xfrm>
          <a:prstGeom prst="rect">
            <a:avLst/>
          </a:prstGeom>
        </p:spPr>
      </p:pic>
      <p:pic>
        <p:nvPicPr>
          <p:cNvPr id="244" name="Picture 243">
            <a:extLst>
              <a:ext uri="{FF2B5EF4-FFF2-40B4-BE49-F238E27FC236}">
                <a16:creationId xmlns:a16="http://schemas.microsoft.com/office/drawing/2014/main" id="{B94400D9-6E33-D749-164B-15D12721A1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39314" y="21848557"/>
            <a:ext cx="6009324" cy="6009324"/>
          </a:xfrm>
          <a:prstGeom prst="rect">
            <a:avLst/>
          </a:prstGeom>
        </p:spPr>
      </p:pic>
      <p:pic>
        <p:nvPicPr>
          <p:cNvPr id="4" name="Picture 3" descr="A picture containing metalware, arranged&#10;&#10;Description automatically generated">
            <a:extLst>
              <a:ext uri="{FF2B5EF4-FFF2-40B4-BE49-F238E27FC236}">
                <a16:creationId xmlns:a16="http://schemas.microsoft.com/office/drawing/2014/main" id="{331D7625-281E-40B3-F790-9EF65F9C393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136" y="2018696"/>
            <a:ext cx="6931264" cy="337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108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OSU">
  <a:themeElements>
    <a:clrScheme name="OS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55A11"/>
      </a:accent1>
      <a:accent2>
        <a:srgbClr val="C55A11"/>
      </a:accent2>
      <a:accent3>
        <a:srgbClr val="757070"/>
      </a:accent3>
      <a:accent4>
        <a:srgbClr val="C55A11"/>
      </a:accent4>
      <a:accent5>
        <a:srgbClr val="C55A11"/>
      </a:accent5>
      <a:accent6>
        <a:srgbClr val="C55A11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OSU" id="{F9DA13CC-CD0A-41E8-ADA0-AC9829AEFD4E}" vid="{25C02D74-65B8-4B19-9277-27B206E47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ThemeOSU</Template>
  <TotalTime>1799</TotalTime>
  <Words>128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ThemeOSU</vt:lpstr>
      <vt:lpstr>Insert Title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Title is Descriptive, Fun, and, Perhaps, a Little Long-Winded</dc:title>
  <dc:subject/>
  <dc:creator>Melek</dc:creator>
  <cp:keywords/>
  <dc:description/>
  <cp:lastModifiedBy>Derman, Melek</cp:lastModifiedBy>
  <cp:revision>36</cp:revision>
  <dcterms:created xsi:type="dcterms:W3CDTF">2021-08-13T20:41:14Z</dcterms:created>
  <dcterms:modified xsi:type="dcterms:W3CDTF">2026-04-09T20:17:56Z</dcterms:modified>
  <cp:category/>
</cp:coreProperties>
</file>