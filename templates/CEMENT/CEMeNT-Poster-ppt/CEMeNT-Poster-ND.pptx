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1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C992"/>
    <a:srgbClr val="172B48"/>
    <a:srgbClr val="B09243"/>
    <a:srgbClr val="C69214"/>
    <a:srgbClr val="CC0100"/>
    <a:srgbClr val="D5BC7E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 varScale="1">
        <p:scale>
          <a:sx n="25" d="100"/>
          <a:sy n="25" d="100"/>
        </p:scale>
        <p:origin x="2488" y="24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310C7-E4FE-4348-8AF6-EBC89AEBEC9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C0664-05C6-40EC-9276-76E9EE442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BCF6-BC01-487F-A7EE-68521A99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40BE-BC0E-4FB5-894C-C4E0324AFEA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CDEB-F58D-49B6-BB82-2E0DD4D0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0D85-55E9-4DA2-86DD-DDBA5459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4E3-9008-4CC5-AA2C-72AB1AF8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F3D14-0422-4F76-81E5-1056C1C3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4648F-2122-47EF-BAF2-18AAFCE1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4F63-4EE2-4463-83F3-57FD469B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A98E-AD8D-4257-AC1B-FCD22E4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7765-6FFE-4810-AB4E-56B43299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7BCC-8A67-456A-A373-331C4562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C02EC-067F-4E0A-928B-9A97E6353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E08C6-25E0-4D94-9F13-FFE7F0AF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0C59-0DA3-4DAB-AF66-434A040B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6A51B-E7C4-4464-AD3B-4467D35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2EF0-A0E3-4DA8-B99B-151039E2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2D56-21E2-4D55-9E06-8011DC52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40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2F9D-CD89-463A-A831-7B4ACDBC7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40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E1674-EFAE-4EE2-AE62-FD306E950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63B5-301C-4185-9808-0D3D39920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6C884-AA5B-4D09-BF13-D67E2E2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C1ECF-0B12-4CEF-B7B3-EB2DE7AC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E35BE-B3A7-4B62-B01D-EDF0824B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2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BE6C-1DB2-4EC6-B886-7FF95BE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B8889-AB34-4809-BAD5-3BDDA872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4E717-9C75-4855-AA63-81C4E045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D2D69-F56E-4A99-B5D4-EDCEBF5D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5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30FB4-1E7F-4A12-8327-A1F215D4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C6DE9-8C65-4C01-87C3-2D674D88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3B12-D3CB-49FF-B01E-25DD57A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FD34-D127-4FBA-99E7-7D8A6CB5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2C30-9A90-4C42-BFA5-C795CFFC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C5159-CCF0-4AB8-A171-782F174CA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0FD29-2BF7-4822-AD88-2F7AD5E7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16F91-C1A6-4CA3-94E4-CD673709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2364-CFF5-4C0D-A361-2D097C22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F29-BCF2-4D9F-B276-A9C7E927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E121F-E447-4685-8029-722CCDD4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3ACDE-BAAD-4993-B2AC-43ADDDDA1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A32BD-B3A2-4526-B382-66639287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AAEAF-8BEB-47C7-9A95-5578BE9E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A4B30-C929-4D81-B390-937A61D3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2FE-462A-4664-942F-E6BB6017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2713-8500-433C-8915-8B07010EF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E38C-9AC1-496C-9FDE-1F523EE1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A817-D915-444F-9629-66EBAD8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91EF-13BD-4AC8-951B-04535D8A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B605-A1EF-45AE-AD72-7EA99B21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F9624-D514-4277-9BD6-111B4D900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8BE9-6770-4DF2-95BE-AA3A4D17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FF98-4195-4998-9AE6-447375B7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626C-CD92-4895-BA1A-74879BB5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3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3" r:id="rId2"/>
    <p:sldLayoutId id="2147484184" r:id="rId3"/>
    <p:sldLayoutId id="2147484185" r:id="rId4"/>
    <p:sldLayoutId id="2147484186" r:id="rId5"/>
    <p:sldLayoutId id="2147484187" r:id="rId6"/>
    <p:sldLayoutId id="2147484188" r:id="rId7"/>
    <p:sldLayoutId id="2147484189" r:id="rId8"/>
    <p:sldLayoutId id="2147484190" r:id="rId9"/>
    <p:sldLayoutId id="2147484191" r:id="rId10"/>
    <p:sldLayoutId id="2147484192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E4A298-5429-CBAA-2CD9-86E49BF83604}"/>
              </a:ext>
            </a:extLst>
          </p:cNvPr>
          <p:cNvGrpSpPr/>
          <p:nvPr/>
        </p:nvGrpSpPr>
        <p:grpSpPr>
          <a:xfrm>
            <a:off x="1082219" y="13603103"/>
            <a:ext cx="12202672" cy="2227477"/>
            <a:chOff x="1490526" y="8207582"/>
            <a:chExt cx="8765863" cy="218860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67B112-1CD6-7939-25ED-7DE088A5DFF2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31A7A2-53D5-DDEA-E1C0-295772BFA2D0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7ECBC15-A744-3695-D020-8E2FFC8C6EC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1D3F9D-E2C5-4A09-83F7-1C1793B17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1540" y="1617755"/>
            <a:ext cx="27563653" cy="2637906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Insert Title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5885-A5AA-4C7E-8ABC-959C74E24516}"/>
              </a:ext>
            </a:extLst>
          </p:cNvPr>
          <p:cNvSpPr/>
          <p:nvPr/>
        </p:nvSpPr>
        <p:spPr>
          <a:xfrm>
            <a:off x="1097280" y="6938010"/>
            <a:ext cx="41696640" cy="124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92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C1CB99-646A-4342-A3F2-582EDF205D39}"/>
              </a:ext>
            </a:extLst>
          </p:cNvPr>
          <p:cNvGrpSpPr/>
          <p:nvPr/>
        </p:nvGrpSpPr>
        <p:grpSpPr>
          <a:xfrm>
            <a:off x="1083022" y="18409074"/>
            <a:ext cx="12202672" cy="2227477"/>
            <a:chOff x="1490526" y="8207582"/>
            <a:chExt cx="8765863" cy="21886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D8321-9E24-4A73-8A49-D5500F530F2B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8AEAA0-345C-44E7-BB2C-CFA05C5A8F3C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0FBEE1-2E64-40A5-B49D-2413BF1030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D0C243-EDC8-406F-A452-6825A8CAC522}"/>
              </a:ext>
            </a:extLst>
          </p:cNvPr>
          <p:cNvGrpSpPr>
            <a:grpSpLocks noChangeAspect="1"/>
          </p:cNvGrpSpPr>
          <p:nvPr/>
        </p:nvGrpSpPr>
        <p:grpSpPr>
          <a:xfrm>
            <a:off x="30600584" y="20028459"/>
            <a:ext cx="12193336" cy="5111162"/>
            <a:chOff x="1134141" y="9324018"/>
            <a:chExt cx="8958894" cy="41981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535570-B851-46F2-B507-1F30EACAFCE2}"/>
                </a:ext>
              </a:extLst>
            </p:cNvPr>
            <p:cNvSpPr txBox="1"/>
            <p:nvPr/>
          </p:nvSpPr>
          <p:spPr>
            <a:xfrm>
              <a:off x="3576171" y="9324018"/>
              <a:ext cx="4348180" cy="830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  <a:endParaRPr lang="en-US" sz="54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65D8BC-4BCC-4BF7-A8C9-AB67C67A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A6B25B-64F2-44DC-AE9E-6FFA9D1B82DB}"/>
                </a:ext>
              </a:extLst>
            </p:cNvPr>
            <p:cNvSpPr txBox="1"/>
            <p:nvPr/>
          </p:nvSpPr>
          <p:spPr>
            <a:xfrm>
              <a:off x="1134141" y="10614975"/>
              <a:ext cx="8918849" cy="2907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91540" indent="-891540">
                <a:buFont typeface="+mj-lt"/>
                <a:buAutoNum type="arabicPeriod"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Morgan, J. P., et al.(2024). Monte Carlo / Dynamic Code (MC/DC): An accelerated Python package for fully transient neutron transport and rapid methods development. Journal of Open Source Software, 9(96), 6415. https://</a:t>
              </a:r>
              <a:r>
                <a:rPr lang="en-US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doi.org</a:t>
              </a: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/10.21105/joss.06415</a:t>
              </a: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132BB4-8C26-4B38-965C-88C4895BEB79}"/>
              </a:ext>
            </a:extLst>
          </p:cNvPr>
          <p:cNvGrpSpPr/>
          <p:nvPr/>
        </p:nvGrpSpPr>
        <p:grpSpPr>
          <a:xfrm>
            <a:off x="30586680" y="26383462"/>
            <a:ext cx="12207240" cy="3943917"/>
            <a:chOff x="1407487" y="9277629"/>
            <a:chExt cx="8685548" cy="328659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4CE6DD-A930-4025-A395-62CA373118DA}"/>
                </a:ext>
              </a:extLst>
            </p:cNvPr>
            <p:cNvSpPr txBox="1"/>
            <p:nvPr/>
          </p:nvSpPr>
          <p:spPr>
            <a:xfrm>
              <a:off x="1548197" y="9277629"/>
              <a:ext cx="8544838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US" sz="54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AB3578-F2D9-474D-8F1F-E84F92563AF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B64D33-970C-496D-B030-FBCBFB65CC98}"/>
                </a:ext>
              </a:extLst>
            </p:cNvPr>
            <p:cNvSpPr txBox="1"/>
            <p:nvPr/>
          </p:nvSpPr>
          <p:spPr>
            <a:xfrm>
              <a:off x="1407487" y="10614975"/>
              <a:ext cx="8685548" cy="1949251"/>
            </a:xfrm>
            <a:prstGeom prst="rect">
              <a:avLst/>
            </a:prstGeom>
            <a:noFill/>
          </p:spPr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This work was supported by the Center for Advancing the Radiation Resilience of Electronics (CARRE),  a PSAAP-IV project funded by the Department of Energy, grant number:  </a:t>
              </a:r>
              <a:b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DE-NA0004268.</a:t>
              </a:r>
            </a:p>
          </p:txBody>
        </p:sp>
      </p:grpSp>
      <p:sp>
        <p:nvSpPr>
          <p:cNvPr id="47" name="Title 1">
            <a:extLst>
              <a:ext uri="{FF2B5EF4-FFF2-40B4-BE49-F238E27FC236}">
                <a16:creationId xmlns:a16="http://schemas.microsoft.com/office/drawing/2014/main" id="{1E49CEEB-6B76-424D-9958-0E0D524A382F}"/>
              </a:ext>
            </a:extLst>
          </p:cNvPr>
          <p:cNvSpPr txBox="1">
            <a:spLocks/>
          </p:cNvSpPr>
          <p:nvPr/>
        </p:nvSpPr>
        <p:spPr>
          <a:xfrm>
            <a:off x="3474720" y="4329940"/>
            <a:ext cx="37307520" cy="2532775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ctr" defTabSz="2743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Author 2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528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Exascale Monte-Carlo Neutron Transport (CEMeNT) </a:t>
            </a:r>
            <a:r>
              <a:rPr lang="en-US" sz="432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Notre Dame</a:t>
            </a:r>
          </a:p>
          <a:p>
            <a:endParaRPr lang="en-US" sz="528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E1600F8-E706-02CD-B166-8ACEEB8ABB2D}"/>
              </a:ext>
            </a:extLst>
          </p:cNvPr>
          <p:cNvGrpSpPr/>
          <p:nvPr/>
        </p:nvGrpSpPr>
        <p:grpSpPr>
          <a:xfrm>
            <a:off x="1079492" y="8118409"/>
            <a:ext cx="12206202" cy="2593590"/>
            <a:chOff x="2236521" y="4851314"/>
            <a:chExt cx="8694713" cy="2161325"/>
          </a:xfrm>
          <a:solidFill>
            <a:srgbClr val="DEC992"/>
          </a:solidFill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915B93-4EA2-7D08-8234-54C7142A70BA}"/>
                </a:ext>
              </a:extLst>
            </p:cNvPr>
            <p:cNvSpPr txBox="1"/>
            <p:nvPr/>
          </p:nvSpPr>
          <p:spPr>
            <a:xfrm>
              <a:off x="2245686" y="4851314"/>
              <a:ext cx="8685548" cy="923330"/>
            </a:xfrm>
            <a:prstGeom prst="rect">
              <a:avLst/>
            </a:prstGeom>
            <a:grpFill/>
            <a:ln w="152400">
              <a:solidFill>
                <a:srgbClr val="DEC992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8A0215-7760-A6F4-CB38-E09CBD593E5C}"/>
                </a:ext>
              </a:extLst>
            </p:cNvPr>
            <p:cNvSpPr txBox="1"/>
            <p:nvPr/>
          </p:nvSpPr>
          <p:spPr>
            <a:xfrm>
              <a:off x="2236521" y="6243197"/>
              <a:ext cx="8685548" cy="769442"/>
            </a:xfrm>
            <a:prstGeom prst="rect">
              <a:avLst/>
            </a:prstGeom>
            <a:grpFill/>
            <a:ln w="152400">
              <a:solidFill>
                <a:srgbClr val="DEC992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da-DK" sz="3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 aims to …</a:t>
              </a:r>
              <a:endParaRPr lang="en-US" sz="36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6F9ED1E-D62E-7204-1667-265329831DDE}"/>
              </a:ext>
            </a:extLst>
          </p:cNvPr>
          <p:cNvGrpSpPr/>
          <p:nvPr/>
        </p:nvGrpSpPr>
        <p:grpSpPr>
          <a:xfrm>
            <a:off x="17138615" y="7582669"/>
            <a:ext cx="8915888" cy="1161086"/>
            <a:chOff x="1819746" y="9078105"/>
            <a:chExt cx="8685548" cy="91907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4D8CF2-1F14-42EA-F800-297A99CDE3C2}"/>
                </a:ext>
              </a:extLst>
            </p:cNvPr>
            <p:cNvSpPr txBox="1"/>
            <p:nvPr/>
          </p:nvSpPr>
          <p:spPr>
            <a:xfrm>
              <a:off x="4671346" y="9078105"/>
              <a:ext cx="3657600" cy="877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  <a:endParaRPr lang="en-US" sz="60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DD6CE3B-425B-44E8-186E-67EDDAE590EE}"/>
                </a:ext>
              </a:extLst>
            </p:cNvPr>
            <p:cNvCxnSpPr>
              <a:cxnSpLocks/>
            </p:cNvCxnSpPr>
            <p:nvPr/>
          </p:nvCxnSpPr>
          <p:spPr>
            <a:xfrm>
              <a:off x="1819746" y="9997182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6CA2B9C-1B1A-F1DD-ABAA-0BE36ABE599F}"/>
              </a:ext>
            </a:extLst>
          </p:cNvPr>
          <p:cNvGrpSpPr/>
          <p:nvPr/>
        </p:nvGrpSpPr>
        <p:grpSpPr>
          <a:xfrm>
            <a:off x="30600584" y="8118409"/>
            <a:ext cx="12207240" cy="2578777"/>
            <a:chOff x="2245686" y="4851314"/>
            <a:chExt cx="9804141" cy="2188660"/>
          </a:xfrm>
          <a:solidFill>
            <a:srgbClr val="DEC992"/>
          </a:solidFill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FF4FC04-E7D3-EE1A-41F1-2824692ACE0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245686" y="4851314"/>
              <a:ext cx="9804141" cy="940379"/>
            </a:xfrm>
            <a:prstGeom prst="rect">
              <a:avLst/>
            </a:prstGeom>
            <a:grpFill/>
            <a:ln w="152400">
              <a:solidFill>
                <a:srgbClr val="DEC992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0C205D3-7AEF-7137-3683-AB7BF0DAB6C9}"/>
                </a:ext>
              </a:extLst>
            </p:cNvPr>
            <p:cNvSpPr txBox="1">
              <a:spLocks/>
            </p:cNvSpPr>
            <p:nvPr/>
          </p:nvSpPr>
          <p:spPr>
            <a:xfrm>
              <a:off x="2245686" y="6256325"/>
              <a:ext cx="9804141" cy="783649"/>
            </a:xfrm>
            <a:prstGeom prst="rect">
              <a:avLst/>
            </a:prstGeom>
            <a:grpFill/>
            <a:ln w="152400">
              <a:solidFill>
                <a:srgbClr val="DEC992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work…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4B3ED8-6040-619B-E7DE-FBFC28CEAC71}"/>
              </a:ext>
            </a:extLst>
          </p:cNvPr>
          <p:cNvGrpSpPr>
            <a:grpSpLocks noChangeAspect="1"/>
          </p:cNvGrpSpPr>
          <p:nvPr/>
        </p:nvGrpSpPr>
        <p:grpSpPr>
          <a:xfrm>
            <a:off x="30586680" y="14572559"/>
            <a:ext cx="12207240" cy="2233966"/>
            <a:chOff x="1667000" y="6817469"/>
            <a:chExt cx="8747843" cy="83651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20C7C8-0B0B-3023-777D-9AF865581963}"/>
                </a:ext>
              </a:extLst>
            </p:cNvPr>
            <p:cNvSpPr txBox="1"/>
            <p:nvPr/>
          </p:nvSpPr>
          <p:spPr>
            <a:xfrm>
              <a:off x="2865789" y="6817469"/>
              <a:ext cx="6412561" cy="38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8D1801-8A55-D77F-672D-49FF5BCF5629}"/>
                </a:ext>
              </a:extLst>
            </p:cNvPr>
            <p:cNvCxnSpPr>
              <a:cxnSpLocks/>
            </p:cNvCxnSpPr>
            <p:nvPr/>
          </p:nvCxnSpPr>
          <p:spPr>
            <a:xfrm>
              <a:off x="1667000" y="7326810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EFC24E2-34C5-5C40-D208-CDE2064E07EF}"/>
                </a:ext>
              </a:extLst>
            </p:cNvPr>
            <p:cNvSpPr txBox="1"/>
            <p:nvPr/>
          </p:nvSpPr>
          <p:spPr>
            <a:xfrm>
              <a:off x="1729295" y="7435013"/>
              <a:ext cx="8685548" cy="218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0AA049-4B9E-78B7-1164-06843A4893DA}"/>
              </a:ext>
            </a:extLst>
          </p:cNvPr>
          <p:cNvGrpSpPr>
            <a:grpSpLocks noChangeAspect="1"/>
          </p:cNvGrpSpPr>
          <p:nvPr/>
        </p:nvGrpSpPr>
        <p:grpSpPr>
          <a:xfrm>
            <a:off x="1077652" y="14730580"/>
            <a:ext cx="12207239" cy="1059565"/>
            <a:chOff x="962109" y="14308314"/>
            <a:chExt cx="10019873" cy="1065563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8464BDC-0A6B-914C-22D0-DBACF008502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18508" y="14507225"/>
              <a:ext cx="9963474" cy="866652"/>
            </a:xfrm>
            <a:prstGeom prst="rect">
              <a:avLst/>
            </a:prstGeom>
            <a:noFill/>
            <a:ln w="63500">
              <a:noFill/>
            </a:ln>
          </p:spPr>
          <p:txBody>
            <a:bodyPr wrap="square" lIns="274320" tIns="182880" rIns="274320" bIns="182880" rtlCol="0">
              <a:spAutoFit/>
            </a:bodyPr>
            <a:lstStyle/>
            <a:p>
              <a:pPr algn="just">
                <a:buClr>
                  <a:schemeClr val="accent1"/>
                </a:buClr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0B05353-10F2-C79D-C7CE-C72CBBE53D4A}"/>
                </a:ext>
              </a:extLst>
            </p:cNvPr>
            <p:cNvCxnSpPr>
              <a:cxnSpLocks/>
            </p:cNvCxnSpPr>
            <p:nvPr/>
          </p:nvCxnSpPr>
          <p:spPr>
            <a:xfrm>
              <a:off x="962109" y="14308314"/>
              <a:ext cx="9656064" cy="0"/>
            </a:xfrm>
            <a:prstGeom prst="line">
              <a:avLst/>
            </a:prstGeom>
            <a:ln w="889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8" name="Picture 237">
            <a:extLst>
              <a:ext uri="{FF2B5EF4-FFF2-40B4-BE49-F238E27FC236}">
                <a16:creationId xmlns:a16="http://schemas.microsoft.com/office/drawing/2014/main" id="{68472065-1746-7A7B-9D6C-D258BE3A3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4034" y="9505843"/>
            <a:ext cx="6257691" cy="6257691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786E945B-9028-F15D-A9E8-1198C1E00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9475" y="9840042"/>
            <a:ext cx="4876800" cy="4876800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D105F621-C872-0DDD-BD19-EB773DEEB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8216" y="15590866"/>
            <a:ext cx="6009325" cy="6009325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E9FD2219-CBA7-61E2-51A1-E0BA27BE3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80" y="15932788"/>
            <a:ext cx="5562871" cy="5562871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30027D65-5A18-12AE-B599-F1EC6E4A0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97541" y="21984067"/>
            <a:ext cx="6210037" cy="6210037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4400D9-6E33-D749-164B-15D12721A1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39314" y="21848557"/>
            <a:ext cx="6009324" cy="6009324"/>
          </a:xfrm>
          <a:prstGeom prst="rect">
            <a:avLst/>
          </a:prstGeom>
        </p:spPr>
      </p:pic>
      <p:pic>
        <p:nvPicPr>
          <p:cNvPr id="10" name="Picture 9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58A649A-FD8B-E33F-4085-F237BD2E3A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64" b="27613"/>
          <a:stretch>
            <a:fillRect/>
          </a:stretch>
        </p:blipFill>
        <p:spPr>
          <a:xfrm>
            <a:off x="33696478" y="2259695"/>
            <a:ext cx="8745586" cy="2455884"/>
          </a:xfrm>
          <a:prstGeom prst="rect">
            <a:avLst/>
          </a:prstGeom>
        </p:spPr>
      </p:pic>
      <p:pic>
        <p:nvPicPr>
          <p:cNvPr id="4" name="Picture 3" descr="A picture containing metalware, arranged&#10;&#10;Description automatically generated">
            <a:extLst>
              <a:ext uri="{FF2B5EF4-FFF2-40B4-BE49-F238E27FC236}">
                <a16:creationId xmlns:a16="http://schemas.microsoft.com/office/drawing/2014/main" id="{BC9F8D89-E5C8-8ABD-9ECE-DB6E9E3AFF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136" y="2018696"/>
            <a:ext cx="6931264" cy="337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2108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OSU">
  <a:themeElements>
    <a:clrScheme name="OS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5A11"/>
      </a:accent1>
      <a:accent2>
        <a:srgbClr val="C55A11"/>
      </a:accent2>
      <a:accent3>
        <a:srgbClr val="757070"/>
      </a:accent3>
      <a:accent4>
        <a:srgbClr val="C55A11"/>
      </a:accent4>
      <a:accent5>
        <a:srgbClr val="C55A11"/>
      </a:accent5>
      <a:accent6>
        <a:srgbClr val="C55A1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UCSD" id="{C409081A-5561-4540-9717-01C35D5FFD29}" vid="{5CBA9D4C-4C72-B74A-87B0-C527E7D28A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1815</TotalTime>
  <Words>129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ThemeOSU</vt:lpstr>
      <vt:lpstr>Insert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Title is Descriptive, Fun, and, Perhaps, a Little Long-Winded</dc:title>
  <dc:subject/>
  <dc:creator>Melek</dc:creator>
  <cp:keywords/>
  <dc:description/>
  <cp:lastModifiedBy>Derman, Melek</cp:lastModifiedBy>
  <cp:revision>44</cp:revision>
  <dcterms:created xsi:type="dcterms:W3CDTF">2021-08-13T20:41:14Z</dcterms:created>
  <dcterms:modified xsi:type="dcterms:W3CDTF">2026-04-09T20:17:49Z</dcterms:modified>
  <cp:category/>
</cp:coreProperties>
</file>