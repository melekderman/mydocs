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70" r:id="rId3"/>
    <p:sldId id="287" r:id="rId4"/>
    <p:sldId id="289" r:id="rId5"/>
    <p:sldId id="291" r:id="rId6"/>
    <p:sldId id="293" r:id="rId7"/>
    <p:sldId id="292" r:id="rId8"/>
    <p:sldId id="294" r:id="rId9"/>
    <p:sldId id="288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AFABAB"/>
    <a:srgbClr val="F14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904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3DFAF-06DC-43B1-BBC9-0429973D07E9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4CBC21-0F44-41F4-8EF4-24A9392FA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186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778A2-FB36-46F2-B168-A33C39653C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0681" y="304800"/>
            <a:ext cx="11590638" cy="1625599"/>
          </a:xfrm>
          <a:solidFill>
            <a:schemeClr val="accent4"/>
          </a:solidFill>
          <a:effectLst>
            <a:outerShdw blurRad="50800" dist="114300" dir="2700000" algn="tl" rotWithShape="0">
              <a:prstClr val="black">
                <a:alpha val="40000"/>
              </a:prstClr>
            </a:outerShdw>
            <a:softEdge rad="0"/>
          </a:effectLst>
        </p:spPr>
        <p:txBody>
          <a:bodyPr tIns="274320" anchor="t" anchorCtr="0"/>
          <a:lstStyle>
            <a:lvl1pPr algn="ctr"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9E545-A6BD-4536-BBFE-65E9FE7400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1191725"/>
            <a:ext cx="9144000" cy="430887"/>
          </a:xfrm>
        </p:spPr>
        <p:txBody>
          <a:bodyPr>
            <a:noAutofit/>
          </a:bodyPr>
          <a:lstStyle>
            <a:lvl1pPr marL="0" indent="0" algn="ctr">
              <a:buNone/>
              <a:defRPr sz="2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Insert subtitle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196CB-6216-429D-BB7C-14107F75A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Picture 13" descr="A close-up of a logo&#10;&#10;AI-generated content may be incorrect.">
            <a:extLst>
              <a:ext uri="{FF2B5EF4-FFF2-40B4-BE49-F238E27FC236}">
                <a16:creationId xmlns:a16="http://schemas.microsoft.com/office/drawing/2014/main" id="{DB9E4EE9-8C67-C625-7CE8-6C2A22574E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956" y="4384233"/>
            <a:ext cx="8362405" cy="1841059"/>
          </a:xfrm>
          <a:prstGeom prst="rect">
            <a:avLst/>
          </a:prstGeom>
        </p:spPr>
      </p:pic>
      <p:pic>
        <p:nvPicPr>
          <p:cNvPr id="16" name="Picture 15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12375855-2D84-3052-1CFF-37F9855BBD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639" y="4384234"/>
            <a:ext cx="2203990" cy="184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942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A19A1-7C50-429F-9DB9-DD723957C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002631"/>
            <a:ext cx="10515600" cy="2852737"/>
          </a:xfrm>
        </p:spPr>
        <p:txBody>
          <a:bodyPr anchor="ctr" anchorCtr="0">
            <a:normAutofit/>
          </a:bodyPr>
          <a:lstStyle>
            <a:lvl1pPr algn="ctr">
              <a:defRPr sz="6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Section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D028F-DF11-4FD0-9D50-FE5B7192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close-up of a logo&#10;&#10;AI-generated content may be incorrect.">
            <a:extLst>
              <a:ext uri="{FF2B5EF4-FFF2-40B4-BE49-F238E27FC236}">
                <a16:creationId xmlns:a16="http://schemas.microsoft.com/office/drawing/2014/main" id="{9D5E0803-4D1B-2F40-1F0C-AC231B9A0A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2089" y="448866"/>
            <a:ext cx="2271711" cy="80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053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453A51-6449-4702-A542-6016DBB73DAA}"/>
              </a:ext>
            </a:extLst>
          </p:cNvPr>
          <p:cNvSpPr/>
          <p:nvPr userDrawn="1"/>
        </p:nvSpPr>
        <p:spPr>
          <a:xfrm>
            <a:off x="9982200" y="0"/>
            <a:ext cx="2209800" cy="681036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3A4FBF-BCAE-478D-967E-F0E642ADD2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0580915" cy="681036"/>
          </a:xfrm>
          <a:ln>
            <a:solidFill>
              <a:schemeClr val="accent2"/>
            </a:solidFill>
          </a:ln>
        </p:spPr>
        <p:txBody>
          <a:bodyPr tIns="640080" bIns="548640">
            <a:normAutofit/>
          </a:bodyPr>
          <a:lstStyle>
            <a:lvl1pPr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B7D56-9E7F-47D3-905A-E5B7ADF18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1567542"/>
            <a:ext cx="11426372" cy="4408261"/>
          </a:xfrm>
        </p:spPr>
        <p:txBody>
          <a:bodyPr bIns="0"/>
          <a:lstStyle>
            <a:lvl1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19AA8-179D-4C2E-B5EC-50A1FA49B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BC8590A2-0E8F-CCE6-BE24-C9084A3877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961" y="136524"/>
            <a:ext cx="947678" cy="79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476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-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AF42BCC-F5D4-4161-A2A5-947B119B2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37C4328D-2A6F-0D57-14CE-EAEDBC734B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961" y="136524"/>
            <a:ext cx="947678" cy="79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350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2AB29-4763-446A-AA03-D1241954F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00B5C-27DD-4D40-B0F1-A64C6F1D0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470E9-06F8-42FE-8EF6-F52173CE1E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5AABF-4A2F-47B4-97B4-3F1286B9D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B8A2D-A9FC-47F9-9511-F55D6BE92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1966A-2CC9-4C6B-B272-AC20E82FE5B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793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2" r:id="rId3"/>
    <p:sldLayoutId id="2147483664" r:id="rId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21105/joss.06415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EE399-8F82-44BE-8483-44A39F339C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681" y="406400"/>
            <a:ext cx="11590638" cy="1439072"/>
          </a:xfrm>
          <a:solidFill>
            <a:schemeClr val="accent1"/>
          </a:solidFill>
        </p:spPr>
        <p:txBody>
          <a:bodyPr/>
          <a:lstStyle/>
          <a:p>
            <a:endParaRPr lang="en-US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6E1BA5-24E1-4B64-8B0B-B47330D01D66}"/>
              </a:ext>
            </a:extLst>
          </p:cNvPr>
          <p:cNvSpPr txBox="1"/>
          <p:nvPr/>
        </p:nvSpPr>
        <p:spPr>
          <a:xfrm>
            <a:off x="300681" y="2166137"/>
            <a:ext cx="115906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name </a:t>
            </a:r>
            <a:r>
              <a:rPr lang="en-US" sz="320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99EF90-A411-401F-8C14-7CDD3B1CA8B7}"/>
              </a:ext>
            </a:extLst>
          </p:cNvPr>
          <p:cNvSpPr txBox="1"/>
          <p:nvPr/>
        </p:nvSpPr>
        <p:spPr>
          <a:xfrm>
            <a:off x="2292349" y="2955916"/>
            <a:ext cx="7607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Center for Advancing the Radiation Resilience </a:t>
            </a:r>
            <a:r>
              <a:rPr 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Electronics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(CARRE)</a:t>
            </a:r>
          </a:p>
          <a:p>
            <a:pPr algn="ctr"/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Affiliation (University)</a:t>
            </a:r>
          </a:p>
          <a:p>
            <a:pPr algn="ctr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76DD63-216C-4262-804C-B9493E409238}"/>
              </a:ext>
            </a:extLst>
          </p:cNvPr>
          <p:cNvSpPr txBox="1"/>
          <p:nvPr/>
        </p:nvSpPr>
        <p:spPr>
          <a:xfrm>
            <a:off x="1549399" y="3778392"/>
            <a:ext cx="909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Sep 15, 2025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532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60465-FFDC-9325-F9A3-038DCEB02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1C011-9C10-1006-D276-B468BF40C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5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A228FD-0FC8-AF62-7EF1-3AABFDC4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473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6235B-5E07-3DE7-02BC-D95D0CAA8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25AC7-7979-2814-49A3-24E141EE6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185DB-31A0-2437-A6A8-B7F5227F7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C6AE0A-A225-672C-C97C-BF5A210B7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9D3233-F81B-989C-C7F3-7E8C13DBB7A1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662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0CACA-BECD-1321-2ABF-8FBB22FD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2F250-D8D7-0AA2-933D-187D800E5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8CDC3-A81F-409A-31E6-142977B3C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814" y="962742"/>
            <a:ext cx="11426372" cy="5209458"/>
          </a:xfrm>
        </p:spPr>
        <p:txBody>
          <a:bodyPr>
            <a:noAutofit/>
          </a:bodyPr>
          <a:lstStyle/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Morgan, J. P., Variansyah, I., </a:t>
            </a:r>
            <a:r>
              <a:rPr lang="en-US" sz="1400" dirty="0" err="1"/>
              <a:t>Pasmann</a:t>
            </a:r>
            <a:r>
              <a:rPr lang="en-US" sz="1400" dirty="0"/>
              <a:t>, S. L., Clements, K. B., Cuneo, B., Mote, A., Goodman, C., Shaw, C., Northrop, J., Pankaj, R., Lame, E., Whewell, B., McClarren, R. G., Palmer, T. S., Chen, L., </a:t>
            </a:r>
            <a:r>
              <a:rPr lang="en-US" sz="1400" dirty="0" err="1"/>
              <a:t>Anistratov</a:t>
            </a:r>
            <a:r>
              <a:rPr lang="en-US" sz="1400" dirty="0"/>
              <a:t>, D. Y., Kelley, C. T., Palmer, C. J., &amp; Niemeyer, K. E. (2024). Monte Carlo / Dynamic Code (MC/DC): An accelerated Python package for fully transient neutron transport and rapid methods development. Journal of Open Source Software, 9(96), 6415. </a:t>
            </a:r>
            <a:r>
              <a:rPr lang="en-US" sz="1400" dirty="0">
                <a:hlinkClick r:id="rId2"/>
              </a:rPr>
              <a:t>https://doi.org/10.21105/joss.06415</a:t>
            </a:r>
            <a:endParaRPr lang="en-US" sz="1400" dirty="0"/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C. T. Kelley. Solving Nonlinear Equations with Iterative Methods: Solvers and Examples in Julia. Number 20 in Fundamentals of Algorithms. SIAM, Philadelphia (2022) ISBN 978-1-61197-726-4.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R. G. McClarren, Machine Learning for Engineers: Using data to solve problems for physical systems, Springer, New York (2021) ISBN: 978-3030703875.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V. N. Novellino, D. Y. </a:t>
            </a:r>
            <a:r>
              <a:rPr lang="en-US" sz="1400" dirty="0" err="1"/>
              <a:t>Anistratov</a:t>
            </a:r>
            <a:r>
              <a:rPr lang="en-US" sz="1400" dirty="0"/>
              <a:t> Multi-Level Hybrid Monte Carlo / Deterministic Methods for Particle Transport Problems. 2025 (submitted)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K. B. Clements, T. S. Palmer and K. E. Niemeyer. Hybrid Delta Tracking Schemes Using a Track-Length Estimator. 2025.(submitted). arXiv:2510.00152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Northrop, I. Variansyah, T. S. Palmer, and C. J. Palmer. Interplay of Variance Reduction and Population Control in Monte Carlo Neutron Transport”, In Press Nuclear Science and Engineering. arXiv:2509.22943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T. S. Palmer and K. E. Niemeyer. 2024.. Impacts of dynamic radiation transport to one-cell inversions on modern GPUs with higher-order discretization. Nuclear Science and Engineering </a:t>
            </a:r>
            <a:r>
              <a:rPr lang="en-US" sz="1400" dirty="0" err="1"/>
              <a:t>doi</a:t>
            </a:r>
            <a:r>
              <a:rPr lang="en-US" sz="1400" dirty="0"/>
              <a:t> 10.1080/00295639.2025.2510004 arXiv:2503.00264.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A. Mote T. S. Palmer and L. Chen. 2024. Neurons for Neutrons: A Transformer Model for Computation Load Estimation on Domain-Decomposed Neutron Transport Problems. Nuclear Science and Engineering 54 (5) pp 381–407. </a:t>
            </a:r>
            <a:r>
              <a:rPr lang="en-US" sz="1400" dirty="0" err="1"/>
              <a:t>doi</a:t>
            </a:r>
            <a:r>
              <a:rPr lang="en-US" sz="1400" dirty="0"/>
              <a:t> 10.1080/23324309.2025.2540757, arXiv:2411.03389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B. Cuneo, T. S. Palmer and K. E. Niemeyer. 2024. Accepted IEEE Computing in Science and Engineering. Performance Portable Monte Carlo Neutron Transport in MCDC via Numba. Preprint DOI 10.48550/arXiv.2409.04668. DOI 10.1109/MCSE.2025.3550863.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494C4-E207-7EE0-0E4D-CF7524529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82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66FEB-BFB4-9748-3A8A-AA10ED0AA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CBD5E-3CFD-CE41-3C38-27BCAAD92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LOGOs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CB8F2C-92A3-D8F7-1A47-EE5F55F53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C2A44D-ACDB-1C74-E4D0-029711708E53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25E80697-44C7-C7B5-5ABD-D07E190FB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291" y="1909632"/>
            <a:ext cx="1471249" cy="1228978"/>
          </a:xfrm>
          <a:prstGeom prst="rect">
            <a:avLst/>
          </a:prstGeom>
        </p:spPr>
      </p:pic>
      <p:pic>
        <p:nvPicPr>
          <p:cNvPr id="11" name="Picture 10" descr="A close-up of a logo&#10;&#10;AI-generated content may be incorrect.">
            <a:extLst>
              <a:ext uri="{FF2B5EF4-FFF2-40B4-BE49-F238E27FC236}">
                <a16:creationId xmlns:a16="http://schemas.microsoft.com/office/drawing/2014/main" id="{C93FA93C-3C91-D6B4-BA2B-8C95D26956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565" y="1977269"/>
            <a:ext cx="3284351" cy="1161341"/>
          </a:xfrm>
          <a:prstGeom prst="rect">
            <a:avLst/>
          </a:prstGeom>
        </p:spPr>
      </p:pic>
      <p:pic>
        <p:nvPicPr>
          <p:cNvPr id="13" name="Picture 12" descr="A blue and orange text with a scroll and a diploma&#10;&#10;AI-generated content may be incorrect.">
            <a:extLst>
              <a:ext uri="{FF2B5EF4-FFF2-40B4-BE49-F238E27FC236}">
                <a16:creationId xmlns:a16="http://schemas.microsoft.com/office/drawing/2014/main" id="{C5F7B08D-3755-7B57-342E-C8C29D5789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4079" y="2002261"/>
            <a:ext cx="1518138" cy="1043720"/>
          </a:xfrm>
          <a:prstGeom prst="rect">
            <a:avLst/>
          </a:prstGeom>
        </p:spPr>
      </p:pic>
      <p:pic>
        <p:nvPicPr>
          <p:cNvPr id="16" name="Content Placeholder 6">
            <a:extLst>
              <a:ext uri="{FF2B5EF4-FFF2-40B4-BE49-F238E27FC236}">
                <a16:creationId xmlns:a16="http://schemas.microsoft.com/office/drawing/2014/main" id="{44B0556B-EED4-54AE-1B51-EE9C21E365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830" y="3918256"/>
            <a:ext cx="8159262" cy="179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070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EFD35-B953-C628-D76E-5518378D6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1B86A-6F6A-4D94-7D70-1D02A6AEA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LOGOs 2 – Individual University Logos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40329-5DD6-18A7-99EC-89FC6A86C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3A854-96D0-5FEA-0DD5-888FFBA64BCB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4" name="Picture 13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A2F35D71-1722-F99A-7E36-95899F812F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925" y="1885094"/>
            <a:ext cx="2858923" cy="1376518"/>
          </a:xfrm>
          <a:prstGeom prst="rect">
            <a:avLst/>
          </a:prstGeom>
        </p:spPr>
      </p:pic>
      <p:pic>
        <p:nvPicPr>
          <p:cNvPr id="16" name="Picture 15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152E3659-FD14-8E64-5C16-AC70233DFA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664" y="3361479"/>
            <a:ext cx="2549769" cy="1434245"/>
          </a:xfrm>
          <a:prstGeom prst="rect">
            <a:avLst/>
          </a:prstGeom>
        </p:spPr>
      </p:pic>
      <p:pic>
        <p:nvPicPr>
          <p:cNvPr id="18" name="Picture 17" descr="Orange and black text on a black background&#10;&#10;AI-generated content may be incorrect.">
            <a:extLst>
              <a:ext uri="{FF2B5EF4-FFF2-40B4-BE49-F238E27FC236}">
                <a16:creationId xmlns:a16="http://schemas.microsoft.com/office/drawing/2014/main" id="{862F58E4-7B02-4FEE-CCB0-7F9B9B606C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44" y="2166012"/>
            <a:ext cx="2549769" cy="814682"/>
          </a:xfrm>
          <a:prstGeom prst="rect">
            <a:avLst/>
          </a:prstGeom>
        </p:spPr>
      </p:pic>
      <p:pic>
        <p:nvPicPr>
          <p:cNvPr id="20" name="Picture 19" descr="A red sign with white text&#10;&#10;AI-generated content may be incorrect.">
            <a:extLst>
              <a:ext uri="{FF2B5EF4-FFF2-40B4-BE49-F238E27FC236}">
                <a16:creationId xmlns:a16="http://schemas.microsoft.com/office/drawing/2014/main" id="{D5F6096A-F1B2-FA4A-2706-EC440E51F1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223" y="3553504"/>
            <a:ext cx="2643554" cy="1050193"/>
          </a:xfrm>
          <a:prstGeom prst="rect">
            <a:avLst/>
          </a:prstGeom>
        </p:spPr>
      </p:pic>
      <p:pic>
        <p:nvPicPr>
          <p:cNvPr id="22" name="Picture 2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8A468DAD-7584-E9BD-A680-EB8AF155D4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8567" y="3493250"/>
            <a:ext cx="2081244" cy="1170699"/>
          </a:xfrm>
          <a:prstGeom prst="rect">
            <a:avLst/>
          </a:prstGeom>
        </p:spPr>
      </p:pic>
      <p:pic>
        <p:nvPicPr>
          <p:cNvPr id="24" name="Picture 23" descr="A blue and yellow letter on a black background&#10;&#10;AI-generated content may be incorrect.">
            <a:extLst>
              <a:ext uri="{FF2B5EF4-FFF2-40B4-BE49-F238E27FC236}">
                <a16:creationId xmlns:a16="http://schemas.microsoft.com/office/drawing/2014/main" id="{7AA4EEDA-8D16-3163-C184-C7FA361AE5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4773" y="2366879"/>
            <a:ext cx="2555631" cy="479456"/>
          </a:xfrm>
          <a:prstGeom prst="rect">
            <a:avLst/>
          </a:prstGeom>
        </p:spPr>
      </p:pic>
      <p:pic>
        <p:nvPicPr>
          <p:cNvPr id="26" name="Picture 25" descr="Black text on a white background&#10;&#10;AI-generated content may be incorrect.">
            <a:extLst>
              <a:ext uri="{FF2B5EF4-FFF2-40B4-BE49-F238E27FC236}">
                <a16:creationId xmlns:a16="http://schemas.microsoft.com/office/drawing/2014/main" id="{1DF851E4-06CA-F8E7-C72C-68CE07B450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4438" y="2232521"/>
            <a:ext cx="2431562" cy="74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681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8FAE4-6924-BAA5-D2EA-F293C02F1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065DC-DD6C-567B-1CA2-ACAD0CD1C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QR Codes - CARRE Website</a:t>
            </a:r>
          </a:p>
        </p:txBody>
      </p:sp>
      <p:pic>
        <p:nvPicPr>
          <p:cNvPr id="7" name="Content Placeholder 6" descr="A qr code with circles&#10;&#10;AI-generated content may be incorrect.">
            <a:extLst>
              <a:ext uri="{FF2B5EF4-FFF2-40B4-BE49-F238E27FC236}">
                <a16:creationId xmlns:a16="http://schemas.microsoft.com/office/drawing/2014/main" id="{2A6D2AB6-6B7F-862E-89E0-CB2B25476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085" y="1180916"/>
            <a:ext cx="2213708" cy="2213708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6621F6-8157-6C0D-4969-FB0409ECE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B4315D-FA77-1834-3774-A83AA79842F1}"/>
              </a:ext>
            </a:extLst>
          </p:cNvPr>
          <p:cNvSpPr txBox="1"/>
          <p:nvPr/>
        </p:nvSpPr>
        <p:spPr>
          <a:xfrm>
            <a:off x="1247460" y="320804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 descr="A qr code with circles&#10;&#10;AI-generated content may be incorrect.">
            <a:extLst>
              <a:ext uri="{FF2B5EF4-FFF2-40B4-BE49-F238E27FC236}">
                <a16:creationId xmlns:a16="http://schemas.microsoft.com/office/drawing/2014/main" id="{C8D9D3A0-C9C3-B6C2-BA34-D5A2B82DBC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278" y="3732443"/>
            <a:ext cx="2213708" cy="2213708"/>
          </a:xfrm>
          <a:prstGeom prst="rect">
            <a:avLst/>
          </a:prstGeom>
        </p:spPr>
      </p:pic>
      <p:pic>
        <p:nvPicPr>
          <p:cNvPr id="11" name="Picture 10" descr="A qr code with circles&#10;&#10;AI-generated content may be incorrect.">
            <a:extLst>
              <a:ext uri="{FF2B5EF4-FFF2-40B4-BE49-F238E27FC236}">
                <a16:creationId xmlns:a16="http://schemas.microsoft.com/office/drawing/2014/main" id="{CC2765C7-3627-064B-FE17-C03A2A6C06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015" y="3732443"/>
            <a:ext cx="2213708" cy="2213708"/>
          </a:xfrm>
          <a:prstGeom prst="rect">
            <a:avLst/>
          </a:prstGeom>
        </p:spPr>
      </p:pic>
      <p:pic>
        <p:nvPicPr>
          <p:cNvPr id="13" name="Picture 12" descr="A qr code with circles&#10;&#10;AI-generated content may be incorrect.">
            <a:extLst>
              <a:ext uri="{FF2B5EF4-FFF2-40B4-BE49-F238E27FC236}">
                <a16:creationId xmlns:a16="http://schemas.microsoft.com/office/drawing/2014/main" id="{870F73DD-07DC-FDE3-12CA-34926EC832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207" y="1091235"/>
            <a:ext cx="2213708" cy="2213708"/>
          </a:xfrm>
          <a:prstGeom prst="rect">
            <a:avLst/>
          </a:prstGeom>
        </p:spPr>
      </p:pic>
      <p:pic>
        <p:nvPicPr>
          <p:cNvPr id="15" name="Picture 14" descr="A qr code with circles&#10;&#10;AI-generated content may be incorrect.">
            <a:extLst>
              <a:ext uri="{FF2B5EF4-FFF2-40B4-BE49-F238E27FC236}">
                <a16:creationId xmlns:a16="http://schemas.microsoft.com/office/drawing/2014/main" id="{EBB05972-D6DF-AA8A-1F4C-1B581D8842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146" y="1180916"/>
            <a:ext cx="2213708" cy="221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837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87CBB-FB60-441D-2270-56208804E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54580-3B41-6550-DF4B-A83A69973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QR Codes – MCDC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FEDE36-D344-A3DA-0062-1E377851B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C17764-17AA-176B-2EDB-7B13753A0567}"/>
              </a:ext>
            </a:extLst>
          </p:cNvPr>
          <p:cNvSpPr txBox="1"/>
          <p:nvPr/>
        </p:nvSpPr>
        <p:spPr>
          <a:xfrm>
            <a:off x="1315521" y="27843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DAF4D9A1-5BDF-2E61-BAE8-095E1E741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07" y="1133678"/>
            <a:ext cx="2209114" cy="2209114"/>
          </a:xfrm>
          <a:prstGeom prst="rect">
            <a:avLst/>
          </a:prstGeom>
        </p:spPr>
      </p:pic>
      <p:pic>
        <p:nvPicPr>
          <p:cNvPr id="14" name="Picture 13" descr="A qr code with blue squares&#10;&#10;AI-generated content may be incorrect.">
            <a:extLst>
              <a:ext uri="{FF2B5EF4-FFF2-40B4-BE49-F238E27FC236}">
                <a16:creationId xmlns:a16="http://schemas.microsoft.com/office/drawing/2014/main" id="{31A327CE-9260-40A5-4DA5-0CD1057C0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892" y="3694595"/>
            <a:ext cx="2209114" cy="2209114"/>
          </a:xfrm>
          <a:prstGeom prst="rect">
            <a:avLst/>
          </a:prstGeom>
        </p:spPr>
      </p:pic>
      <p:pic>
        <p:nvPicPr>
          <p:cNvPr id="17" name="Picture 16" descr="A qr code with green squares&#10;&#10;AI-generated content may be incorrect.">
            <a:extLst>
              <a:ext uri="{FF2B5EF4-FFF2-40B4-BE49-F238E27FC236}">
                <a16:creationId xmlns:a16="http://schemas.microsoft.com/office/drawing/2014/main" id="{249B9804-5685-522F-7D2D-CC63910DC5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0118" y="3694595"/>
            <a:ext cx="2209114" cy="2209114"/>
          </a:xfrm>
          <a:prstGeom prst="rect">
            <a:avLst/>
          </a:prstGeom>
        </p:spPr>
      </p:pic>
      <p:pic>
        <p:nvPicPr>
          <p:cNvPr id="19" name="Picture 18" descr="A qr code with orange circles and circles&#10;&#10;AI-generated content may be incorrect.">
            <a:extLst>
              <a:ext uri="{FF2B5EF4-FFF2-40B4-BE49-F238E27FC236}">
                <a16:creationId xmlns:a16="http://schemas.microsoft.com/office/drawing/2014/main" id="{774A8DEA-B1DC-B0A7-5A80-B380F88AE6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801" y="1133678"/>
            <a:ext cx="2209114" cy="2209114"/>
          </a:xfrm>
          <a:prstGeom prst="rect">
            <a:avLst/>
          </a:prstGeom>
        </p:spPr>
      </p:pic>
      <p:pic>
        <p:nvPicPr>
          <p:cNvPr id="21" name="Picture 20" descr="A qr code with red circles and circles&#10;&#10;AI-generated content may be incorrect.">
            <a:extLst>
              <a:ext uri="{FF2B5EF4-FFF2-40B4-BE49-F238E27FC236}">
                <a16:creationId xmlns:a16="http://schemas.microsoft.com/office/drawing/2014/main" id="{9D9E2A27-2715-EFAC-B392-EA0A51F473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9504" y="1133678"/>
            <a:ext cx="2209114" cy="220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851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BFCEF-984C-6AF4-E05F-7E37AF9E2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04455-149C-135C-FFB6-7EF002B56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6D759-0762-1317-E5D6-B31567E68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2991482"/>
            <a:ext cx="11426372" cy="1094744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b="0" i="0" dirty="0">
                <a:solidFill>
                  <a:srgbClr val="1F2328"/>
                </a:solidFill>
                <a:effectLst/>
              </a:rPr>
              <a:t>This work was supported by the Center for Advancing the Radiation Resilience of Electronics (CARRE), </a:t>
            </a:r>
            <a:br>
              <a:rPr lang="en-US" b="0" i="0" dirty="0">
                <a:solidFill>
                  <a:srgbClr val="1F2328"/>
                </a:solidFill>
                <a:effectLst/>
              </a:rPr>
            </a:br>
            <a:r>
              <a:rPr lang="en-US" b="0" i="0" dirty="0">
                <a:solidFill>
                  <a:srgbClr val="1F2328"/>
                </a:solidFill>
                <a:effectLst/>
              </a:rPr>
              <a:t>a PSAAP-IV project funded by the Department of Energy, grant number: </a:t>
            </a:r>
            <a:br>
              <a:rPr lang="en-US" b="0" i="0" dirty="0">
                <a:solidFill>
                  <a:srgbClr val="1F2328"/>
                </a:solidFill>
                <a:effectLst/>
              </a:rPr>
            </a:br>
            <a:r>
              <a:rPr lang="en-US" b="0" i="0" dirty="0">
                <a:solidFill>
                  <a:srgbClr val="1F2328"/>
                </a:solidFill>
                <a:effectLst/>
              </a:rPr>
              <a:t>DE-NA0004268.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409CD-A7D8-5273-ED2A-584867DBF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837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4A3D4-FAEC-EB09-33A8-12BD6917B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67541-CE91-7F50-7B92-0D69DBFD4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  <a:br>
              <a:rPr lang="en-US" dirty="0"/>
            </a:br>
            <a:r>
              <a:rPr lang="en-US" dirty="0"/>
              <a:t>Questions?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8DC987-E731-0F39-3EEC-FEF6B1FB5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920934"/>
      </p:ext>
    </p:extLst>
  </p:cSld>
  <p:clrMapOvr>
    <a:masterClrMapping/>
  </p:clrMapOvr>
</p:sld>
</file>

<file path=ppt/theme/theme1.xml><?xml version="1.0" encoding="utf-8"?>
<a:theme xmlns:a="http://schemas.openxmlformats.org/drawingml/2006/main" name="cement_orange_theme">
  <a:themeElements>
    <a:clrScheme name="NC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B0100"/>
      </a:accent1>
      <a:accent2>
        <a:srgbClr val="CB0100"/>
      </a:accent2>
      <a:accent3>
        <a:srgbClr val="CB0100"/>
      </a:accent3>
      <a:accent4>
        <a:srgbClr val="CB0100"/>
      </a:accent4>
      <a:accent5>
        <a:srgbClr val="CB0100"/>
      </a:accent5>
      <a:accent6>
        <a:srgbClr val="CB010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RE-Presentation-red1" id="{678BCD15-B390-A84A-A845-6663F35D05EA}" vid="{18D1C99F-BE89-4246-BF61-38F91ADCF3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05B4BCAD-73D3-8E43-8CD5-F451D2108D20}">
  <we:reference id="wa104381909" version="3.17.2.0" store="en-US" storeType="OMEX"/>
  <we:alternateReferences>
    <we:reference id="wa104381909" version="3.17.2.0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D534FB8-4F6A-5643-98CF-5E4324DE0DD0}">
  <we:reference id="wa200004052" version="1.0.0.2" store="en-US" storeType="OMEX"/>
  <we:alternateReferences>
    <we:reference id="wa200004052" version="1.0.0.2" store="wa200004052" storeType="OMEX"/>
  </we:alternateReferences>
  <we:properties>
    <we:property name="holatex.main" value="{&quot;pictures&quot;:[{&quot;name&quot;:&quot;Eq 1-4&quot;,&quot;code&quot;:&quot;\\begin{document}\n\\begin{equation}\n    y^{(l+1)} = \\Lambda \\; y^{(l)}\\tag{1}\n\\end{equation}\n\n\n\\begin{equation}\n    \\left[y^{(L)}, y^{(L-1)}, \\cdots y^{(1)}\\right] = \\Lambda \\; \\left[y^{(L-1)}, y^{(L-2)}, \\cdots y^{(0)} \\right] \\tag{2},\n\\end{equation}\n\n\n\\begin{equation}\n   \\mathbf{Y}^+ =  \\left[y^{(L)}, y^{(L-1)}, \\cdots y^{(1)}\\right] \\tag{3},\n\\end{equation}\n\n\\begin{equation}\n    \\mathbf{Y}^- = \\left[y^{(L-1)}, y^{(L-2)}, \\cdots y^{(0)} \\right] \\tag{4}, \n\\end{equation}\n\n\n\\end{document}&quot;},{&quot;name&quot;:&quot;Eq 5-13&quot;,&quot;code&quot;:&quot;\\begin{document}\n\n\n\\begin{equation}\n    \\mathbf{Y}^+ = \\mathbf{\\Lambda} \\mathbf{Y}^- \\tag{5}\n\\end{equation}\n\n\\begin{equation}\n    \\mathbf{Y}^- = \\mathbf{U}\\mathbf{\\Sigma}\\mathbf{V}^* \\tag{6},\n\\end{equation}\n\n\\begin{equation*}\n    \\mathbf{U} = M \\times L \\textrm{ unitary matrix, \\tag{7}}\n\\end{equation*}\n\n\\begin{equation*}\n    \\mathbf{V} = L \\times L \\textrm{ unitary matrix, \\tag{8}}\n\\end{equation*}\n\n\\begin{equation*}\n    \\mathbf{\\Sigma} = L \\times L \\textrm{ diagonal matrix with non-negative elements,} \\tag{9}\n\\end{equation*}\n\n\n\\begin{equation}\n    \\mathbf{Y}^+ = \\mathbf{\\Lambda}\\mathbf{U}\\mathbf{\\Sigma}\\mathbf{V}^* \\tag{10}\n\\end{equation}\n\n\n\\[\n    \\mathbf{U}^* \\mathbf{Y}^+ \\mathbf{V} \\mathbf{\\Sigma}^{-1}  = \\mathbf{U}^* \\Lambda \\mathbf{U}\\mathbf{\\Sigma}\\left( \\mathbf{V}^*\\mathbf{V} \\right)\\mathbf{\\Sigma}^{-1} = \\]\n\\begin{equation}\\mathbf{U}^* \\Lambda \\mathbf{U}\\mathbf{\\Sigma}\\left( \\mathbf{I} \\right)\\mathbf{\\Sigma}^{-1} = \\mathbf{U}^* \\Lambda \\mathbf{U} \\left(\\mathbf{\\Sigma} \\mathbf{\\Sigma}^{-1} \\right) = \\mathbf{U}^* \\Lambda \\mathbf{U} = \\tilde{\\mathbf{S}} \\tag{11}\n\\end{equation}\n\n\n\\end{document}&quot;}]}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4859</TotalTime>
  <Words>576</Words>
  <Application>Microsoft Macintosh PowerPoint</Application>
  <PresentationFormat>Widescreen</PresentationFormat>
  <Paragraphs>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cement_orange_theme</vt:lpstr>
      <vt:lpstr>PowerPoint Presentation</vt:lpstr>
      <vt:lpstr>PowerPoint Presentation</vt:lpstr>
      <vt:lpstr>PowerPoint Presentation</vt:lpstr>
      <vt:lpstr>References</vt:lpstr>
      <vt:lpstr>LOGOs 1</vt:lpstr>
      <vt:lpstr>LOGOs 2 – Individual University Logos</vt:lpstr>
      <vt:lpstr>QR Codes - CARRE Website</vt:lpstr>
      <vt:lpstr>QR Codes – MCDC</vt:lpstr>
      <vt:lpstr>Acknowledgements</vt:lpstr>
      <vt:lpstr>Thank you!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Aaron Reynolds</dc:creator>
  <cp:lastModifiedBy>Derman, Melek</cp:lastModifiedBy>
  <cp:revision>57</cp:revision>
  <dcterms:created xsi:type="dcterms:W3CDTF">2021-09-09T14:45:18Z</dcterms:created>
  <dcterms:modified xsi:type="dcterms:W3CDTF">2026-10-08T00:14:08Z</dcterms:modified>
</cp:coreProperties>
</file>