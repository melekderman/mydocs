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EC992"/>
    <a:srgbClr val="172B48"/>
    <a:srgbClr val="B09243"/>
    <a:srgbClr val="C69214"/>
    <a:srgbClr val="CC0100"/>
    <a:srgbClr val="D5BC7E"/>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autoAdjust="0"/>
    <p:restoredTop sz="94660"/>
  </p:normalViewPr>
  <p:slideViewPr>
    <p:cSldViewPr snapToGrid="0">
      <p:cViewPr varScale="1">
        <p:scale>
          <a:sx n="25" d="100"/>
          <a:sy n="25" d="100"/>
        </p:scale>
        <p:origin x="2488" y="2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11/23/25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11/23/25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8.png"/><Relationship Id="rId34" Type="http://schemas.openxmlformats.org/officeDocument/2006/relationships/image" Target="../media/image76.png"/><Relationship Id="rId42" Type="http://schemas.openxmlformats.org/officeDocument/2006/relationships/image" Target="../media/image26.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1.png"/><Relationship Id="rId7" Type="http://schemas.openxmlformats.org/officeDocument/2006/relationships/image" Target="../media/image12.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20.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2.png"/><Relationship Id="rId37" Type="http://schemas.openxmlformats.org/officeDocument/2006/relationships/image" Target="../media/image79.png"/><Relationship Id="rId40" Type="http://schemas.openxmlformats.org/officeDocument/2006/relationships/image" Target="../media/image24.png"/><Relationship Id="rId45" Type="http://schemas.openxmlformats.org/officeDocument/2006/relationships/image" Target="../media/image83.png"/><Relationship Id="rId53" Type="http://schemas.openxmlformats.org/officeDocument/2006/relationships/image" Target="../media/image30.png"/><Relationship Id="rId58" Type="http://schemas.openxmlformats.org/officeDocument/2006/relationships/image" Target="../media/image92.png"/><Relationship Id="rId5" Type="http://schemas.openxmlformats.org/officeDocument/2006/relationships/image" Target="../media/image11.svg"/><Relationship Id="rId61" Type="http://schemas.openxmlformats.org/officeDocument/2006/relationships/image" Target="../media/image95.png"/><Relationship Id="rId19" Type="http://schemas.openxmlformats.org/officeDocument/2006/relationships/image" Target="../media/image16.png"/><Relationship Id="rId14" Type="http://schemas.openxmlformats.org/officeDocument/2006/relationships/image" Target="../media/image64.png"/><Relationship Id="rId22" Type="http://schemas.openxmlformats.org/officeDocument/2006/relationships/image" Target="../media/image19.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7.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3.png"/><Relationship Id="rId51" Type="http://schemas.openxmlformats.org/officeDocument/2006/relationships/image" Target="../media/image28.png"/><Relationship Id="rId3" Type="http://schemas.openxmlformats.org/officeDocument/2006/relationships/image" Target="../media/image9.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3.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7.png"/><Relationship Id="rId41" Type="http://schemas.openxmlformats.org/officeDocument/2006/relationships/image" Target="../media/image25.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5.png"/><Relationship Id="rId31" Type="http://schemas.openxmlformats.org/officeDocument/2006/relationships/image" Target="../media/image21.png"/><Relationship Id="rId44" Type="http://schemas.openxmlformats.org/officeDocument/2006/relationships/image" Target="../media/image82.png"/><Relationship Id="rId52" Type="http://schemas.openxmlformats.org/officeDocument/2006/relationships/image" Target="../media/image29.png"/><Relationship Id="rId60" Type="http://schemas.openxmlformats.org/officeDocument/2006/relationships/image" Target="../media/image94.png"/><Relationship Id="rId4" Type="http://schemas.openxmlformats.org/officeDocument/2006/relationships/image" Target="../media/image10.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16.png"/><Relationship Id="rId18" Type="http://schemas.openxmlformats.org/officeDocument/2006/relationships/image" Target="../media/image96.png"/><Relationship Id="rId3" Type="http://schemas.openxmlformats.org/officeDocument/2006/relationships/image" Target="../media/image22.png"/><Relationship Id="rId21" Type="http://schemas.openxmlformats.org/officeDocument/2006/relationships/image" Target="../media/image99.png"/><Relationship Id="rId7" Type="http://schemas.openxmlformats.org/officeDocument/2006/relationships/image" Target="../media/image25.png"/><Relationship Id="rId12" Type="http://schemas.openxmlformats.org/officeDocument/2006/relationships/image" Target="../media/image19.png"/><Relationship Id="rId17" Type="http://schemas.openxmlformats.org/officeDocument/2006/relationships/image" Target="../media/image29.png"/><Relationship Id="rId2" Type="http://schemas.openxmlformats.org/officeDocument/2006/relationships/image" Target="../media/image21.png"/><Relationship Id="rId16" Type="http://schemas.openxmlformats.org/officeDocument/2006/relationships/image" Target="../media/image28.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4.png"/><Relationship Id="rId11" Type="http://schemas.openxmlformats.org/officeDocument/2006/relationships/image" Target="../media/image18.png"/><Relationship Id="rId5" Type="http://schemas.openxmlformats.org/officeDocument/2006/relationships/image" Target="../media/image20.png"/><Relationship Id="rId15" Type="http://schemas.openxmlformats.org/officeDocument/2006/relationships/image" Target="../media/image31.png"/><Relationship Id="rId10" Type="http://schemas.openxmlformats.org/officeDocument/2006/relationships/image" Target="../media/image17.png"/><Relationship Id="rId19" Type="http://schemas.openxmlformats.org/officeDocument/2006/relationships/image" Target="../media/image97.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0.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4.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7.png"/><Relationship Id="rId34" Type="http://schemas.openxmlformats.org/officeDocument/2006/relationships/image" Target="../media/image120.png"/><Relationship Id="rId42" Type="http://schemas.openxmlformats.org/officeDocument/2006/relationships/image" Target="../media/image14.png"/><Relationship Id="rId47" Type="http://schemas.openxmlformats.org/officeDocument/2006/relationships/image" Target="../media/image129.png"/><Relationship Id="rId50" Type="http://schemas.openxmlformats.org/officeDocument/2006/relationships/image" Target="../media/image29.png"/><Relationship Id="rId55" Type="http://schemas.openxmlformats.org/officeDocument/2006/relationships/image" Target="../media/image133.png"/><Relationship Id="rId7" Type="http://schemas.openxmlformats.org/officeDocument/2006/relationships/image" Target="../media/image20.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3.png"/><Relationship Id="rId24" Type="http://schemas.openxmlformats.org/officeDocument/2006/relationships/image" Target="../media/image114.png"/><Relationship Id="rId32" Type="http://schemas.openxmlformats.org/officeDocument/2006/relationships/image" Target="../media/image18.png"/><Relationship Id="rId37" Type="http://schemas.openxmlformats.org/officeDocument/2006/relationships/image" Target="../media/image123.png"/><Relationship Id="rId40" Type="http://schemas.openxmlformats.org/officeDocument/2006/relationships/image" Target="../media/image12.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2.png"/><Relationship Id="rId19" Type="http://schemas.openxmlformats.org/officeDocument/2006/relationships/image" Target="../media/image25.png"/><Relationship Id="rId31" Type="http://schemas.openxmlformats.org/officeDocument/2006/relationships/image" Target="../media/image17.png"/><Relationship Id="rId44" Type="http://schemas.openxmlformats.org/officeDocument/2006/relationships/image" Target="../media/image126.png"/><Relationship Id="rId52" Type="http://schemas.openxmlformats.org/officeDocument/2006/relationships/image" Target="../media/image31.png"/><Relationship Id="rId4" Type="http://schemas.openxmlformats.org/officeDocument/2006/relationships/image" Target="../media/image102.png"/><Relationship Id="rId9" Type="http://schemas.openxmlformats.org/officeDocument/2006/relationships/image" Target="../media/image21.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6.png"/><Relationship Id="rId35" Type="http://schemas.openxmlformats.org/officeDocument/2006/relationships/image" Target="../media/image121.png"/><Relationship Id="rId43" Type="http://schemas.openxmlformats.org/officeDocument/2006/relationships/image" Target="../media/image15.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30.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9.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6.png"/><Relationship Id="rId41" Type="http://schemas.openxmlformats.org/officeDocument/2006/relationships/image" Target="../media/image13.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8.png"/></Relationships>
</file>

<file path=ppt/slides/_rels/slide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52E4A298-5429-CBAA-2CD9-86E49BF83604}"/>
              </a:ext>
            </a:extLst>
          </p:cNvPr>
          <p:cNvGrpSpPr/>
          <p:nvPr/>
        </p:nvGrpSpPr>
        <p:grpSpPr>
          <a:xfrm>
            <a:off x="1082219" y="13603103"/>
            <a:ext cx="12202672" cy="2227477"/>
            <a:chOff x="1490526" y="8207582"/>
            <a:chExt cx="8765863" cy="2188609"/>
          </a:xfrm>
        </p:grpSpPr>
        <p:sp>
          <p:nvSpPr>
            <p:cNvPr id="13" name="TextBox 12">
              <a:extLst>
                <a:ext uri="{FF2B5EF4-FFF2-40B4-BE49-F238E27FC236}">
                  <a16:creationId xmlns:a16="http://schemas.microsoft.com/office/drawing/2014/main" id="{BC67B112-1CD6-7939-25ED-7DE088A5DFF2}"/>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Introduction</a:t>
              </a:r>
            </a:p>
          </p:txBody>
        </p:sp>
        <p:cxnSp>
          <p:nvCxnSpPr>
            <p:cNvPr id="14" name="Straight Connector 13">
              <a:extLst>
                <a:ext uri="{FF2B5EF4-FFF2-40B4-BE49-F238E27FC236}">
                  <a16:creationId xmlns:a16="http://schemas.microsoft.com/office/drawing/2014/main" id="{C331A7A2-53D5-DDEA-E1C0-295772BFA2D0}"/>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7ECBC15-A744-3695-D020-8E2FFC8C6EC3}"/>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chemeClr val="tx1">
              <a:lumMod val="95000"/>
              <a:lumOff val="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References</a:t>
              </a:r>
              <a:endParaRPr lang="en-US" sz="5400" b="1" dirty="0">
                <a:solidFill>
                  <a:srgbClr val="172B48"/>
                </a:solidFill>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Acknowledgements</a:t>
              </a:r>
              <a:endParaRPr lang="en-US" sz="5400" b="1" dirty="0">
                <a:solidFill>
                  <a:srgbClr val="172B48"/>
                </a:solidFill>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Advancing the Radiation Resilience of Electronics (CARRE),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University of Notre Dame</a:t>
            </a:r>
          </a:p>
          <a:p>
            <a:endParaRPr lang="en-US" sz="5280" dirty="0">
              <a:solidFill>
                <a:schemeClr val="accent3"/>
              </a:solidFill>
              <a:latin typeface="Arial" panose="020B0604020202020204" pitchFamily="34" charset="0"/>
              <a:cs typeface="Arial" panose="020B0604020202020204" pitchFamily="34" charset="0"/>
            </a:endParaRPr>
          </a:p>
        </p:txBody>
      </p:sp>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a:solidFill>
            <a:srgbClr val="DEC992"/>
          </a:solidFill>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grpFill/>
            <a:ln w="152400">
              <a:solidFill>
                <a:srgbClr val="DEC992"/>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grpFill/>
            <a:ln w="152400">
              <a:solidFill>
                <a:srgbClr val="DEC992"/>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rgbClr val="172B48"/>
                  </a:solidFill>
                  <a:latin typeface="Arial" panose="020B0604020202020204" pitchFamily="34" charset="0"/>
                  <a:cs typeface="Arial" panose="020B0604020202020204" pitchFamily="34" charset="0"/>
                </a:rPr>
                <a:t>This work aims to …</a:t>
              </a:r>
              <a:endParaRPr lang="en-US" sz="3600" b="1" dirty="0">
                <a:solidFill>
                  <a:srgbClr val="172B48"/>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Results</a:t>
              </a:r>
              <a:endParaRPr lang="en-US" sz="6000" b="1" dirty="0">
                <a:solidFill>
                  <a:srgbClr val="172B48"/>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a:solidFill>
            <a:srgbClr val="DEC992"/>
          </a:solidFill>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940379"/>
            </a:xfrm>
            <a:prstGeom prst="rect">
              <a:avLst/>
            </a:prstGeom>
            <a:grpFill/>
            <a:ln w="152400">
              <a:solidFill>
                <a:srgbClr val="DEC992"/>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grpFill/>
            <a:ln w="152400">
              <a:solidFill>
                <a:srgbClr val="DEC992"/>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rgbClr val="172B48"/>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380317"/>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4730580"/>
            <a:ext cx="12207239" cy="1059565"/>
            <a:chOff x="962109" y="14308314"/>
            <a:chExt cx="10019873" cy="1065563"/>
          </a:xfrm>
        </p:grpSpPr>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018508" y="14507225"/>
              <a:ext cx="9963474" cy="866652"/>
            </a:xfrm>
            <a:prstGeom prst="rect">
              <a:avLst/>
            </a:prstGeom>
            <a:no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noFill/>
            </a:ln>
          </p:spPr>
          <p:style>
            <a:lnRef idx="1">
              <a:schemeClr val="accent1"/>
            </a:lnRef>
            <a:fillRef idx="0">
              <a:schemeClr val="accent1"/>
            </a:fillRef>
            <a:effectRef idx="0">
              <a:schemeClr val="accent1"/>
            </a:effectRef>
            <a:fontRef idx="minor">
              <a:schemeClr val="tx1"/>
            </a:fontRef>
          </p:style>
        </p:cxnSp>
      </p:grpSp>
      <p:pic>
        <p:nvPicPr>
          <p:cNvPr id="8" name="Picture 7" descr="A logo of a science company&#10;&#10;AI-generated content may be incorrect.">
            <a:extLst>
              <a:ext uri="{FF2B5EF4-FFF2-40B4-BE49-F238E27FC236}">
                <a16:creationId xmlns:a16="http://schemas.microsoft.com/office/drawing/2014/main" id="{99F83970-C8C5-E88C-AA90-260CDA90E3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6914" y="1352613"/>
            <a:ext cx="5422742" cy="4529775"/>
          </a:xfrm>
          <a:prstGeom prst="rect">
            <a:avLst/>
          </a:prstGeom>
        </p:spPr>
      </p:pic>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3"/>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4"/>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5"/>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6"/>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7"/>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8"/>
          <a:stretch>
            <a:fillRect/>
          </a:stretch>
        </p:blipFill>
        <p:spPr>
          <a:xfrm>
            <a:off x="14839314" y="21848557"/>
            <a:ext cx="6009324" cy="6009324"/>
          </a:xfrm>
          <a:prstGeom prst="rect">
            <a:avLst/>
          </a:prstGeom>
        </p:spPr>
      </p:pic>
      <p:pic>
        <p:nvPicPr>
          <p:cNvPr id="10" name="Picture 9" descr="A black background with blue text&#10;&#10;AI-generated content may be incorrect.">
            <a:extLst>
              <a:ext uri="{FF2B5EF4-FFF2-40B4-BE49-F238E27FC236}">
                <a16:creationId xmlns:a16="http://schemas.microsoft.com/office/drawing/2014/main" id="{858A649A-FD8B-E33F-4085-F237BD2E3AF2}"/>
              </a:ext>
            </a:extLst>
          </p:cNvPr>
          <p:cNvPicPr>
            <a:picLocks noChangeAspect="1"/>
          </p:cNvPicPr>
          <p:nvPr/>
        </p:nvPicPr>
        <p:blipFill>
          <a:blip r:embed="rId9">
            <a:extLst>
              <a:ext uri="{28A0092B-C50C-407E-A947-70E740481C1C}">
                <a14:useLocalDpi xmlns:a14="http://schemas.microsoft.com/office/drawing/2010/main" val="0"/>
              </a:ext>
            </a:extLst>
          </a:blip>
          <a:srcRect t="22464" b="27613"/>
          <a:stretch>
            <a:fillRect/>
          </a:stretch>
        </p:blipFill>
        <p:spPr>
          <a:xfrm>
            <a:off x="33608700" y="2389558"/>
            <a:ext cx="8745586" cy="2455884"/>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RRE-UCSD" id="{C409081A-5561-4540-9717-01C35D5FFD29}" vid="{5CBA9D4C-4C72-B74A-87B0-C527E7D28A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1815</TotalTime>
  <Words>1444</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42</cp:revision>
  <dcterms:created xsi:type="dcterms:W3CDTF">2021-08-13T20:41:14Z</dcterms:created>
  <dcterms:modified xsi:type="dcterms:W3CDTF">2025-11-23T08:50:32Z</dcterms:modified>
  <cp:category/>
</cp:coreProperties>
</file>